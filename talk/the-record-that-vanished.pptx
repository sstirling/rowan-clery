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101f2d2-9be7-c2be-d27d-0952a40fc81a}">
          <p14:sldIdLst>
            <p14:sldId id="256"/>
            <p14:sldId id="257"/>
            <p14:sldId id="258"/>
            <p14:sldId id="259"/>
            <p14:sldId id="260"/>
          </p14:sldIdLst>
        </p14:section>
        <p14:section name="What we built" id="{fe61f302-18d6-883f-22b9-3fc516785879}">
          <p14:sldIdLst>
            <p14:sldId id="261"/>
            <p14:sldId id="262"/>
            <p14:sldId id="263"/>
          </p14:sldIdLst>
        </p14:section>
        <p14:section name="The tools" id="{e9b1bbfa-f8f4-9327-80fd-65544a47dda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he decisions" id="{8b66eedc-49b3-21a6-55bb-192252361ea4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hat to steal" id="{c68a9972-d06a-ac92-971d-3e4df5da407f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 from incident to report</c:v>
                </c:pt>
              </c:strCache>
            </c:strRef>
          </c:tx>
          <c:spPr>
            <a:solidFill>
              <a:srgbClr val="2A4D6E"/>
            </a:solidFill>
            <a:effectLst/>
          </c:spPr>
          <c:invertIfNegative val="0"/>
          <c:dLbls>
            <c:numFmt formatCode="0.0&quot; days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A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4D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45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Campus police</c:v>
                  </c:pt>
                  <c:pt idx="1">
                    <c:v>Security authorities</c:v>
                  </c:pt>
                  <c:pt idx="2">
                    <c:v>Glassboro PD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0.3</c:v>
                </c:pt>
                <c:pt idx="2">
                  <c:v>13.7</c:v>
                </c:pt>
              </c:numCache>
            </c:numRef>
          </c:val>
        </c:ser>
        <c:dLbls>
          <c:numFmt formatCode="0.0&quot; days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41A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</c:scaling>
        <c:delete val="0"/>
        <c:axPos val="b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date reported</c:v>
                </c:pt>
              </c:strCache>
            </c:strRef>
          </c:tx>
          <c:spPr>
            <a:solidFill>
              <a:srgbClr val="5A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A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Aug.</c:v>
                  </c:pt>
                  <c:pt idx="3">
                    <c:v>Sept.</c:v>
                  </c:pt>
                  <c:pt idx="4">
                    <c:v>Oct.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23</c:v>
                </c:pt>
                <c:pt idx="2">
                  <c:v>42</c:v>
                </c:pt>
                <c:pt idx="3">
                  <c:v>109</c:v>
                </c:pt>
                <c:pt idx="4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date it happened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A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Aug.</c:v>
                  </c:pt>
                  <c:pt idx="3">
                    <c:v>Sept.</c:v>
                  </c:pt>
                  <c:pt idx="4">
                    <c:v>Oct.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23</c:v>
                </c:pt>
                <c:pt idx="2">
                  <c:v>49</c:v>
                </c:pt>
                <c:pt idx="3">
                  <c:v>144</c:v>
                </c:pt>
                <c:pt idx="4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1A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3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E3A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story, not the tooling. The point of the talk: the hard part of this project was never the code. It was deciding what counts as a number you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allege bad intent — we don't know why sharing changed. The journalistic point is simply that a record which was public is no longer, and without an independent copy there would be nothing to compare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— it is context, not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export URL is worth showing — most people don't know a Sheet has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Everything after it is in service of being able to say: here is what the record said on this date, and here is what it says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so what do you actually build to fix that?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portable idea in the talk. It applies to any scrape: keep the bytes, derive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site here if the wifi holds; otherwise this slide stands in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room. Nobody here needs to become an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looks frightened, say: you will use four commands, and Claude Code will tell you which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Linger here. This slide is the one that makes people think they could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cost. Newsroom budgets are the first objection you'll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is the one worth dwelling on — the first run of this talk's example reported one unknown wording and there were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quote is close to a real prompt from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 private repo works too, but then you are the single point of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branches, merges or pull requests to do this work. One branch and honest commit messages is plenty.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card is a genuinely nasty trap and worth saying out loud — it would have switched this project off during a quiet stretch.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talk. Budget the most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data is immutable is the oldest rule in data journalism. It still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three-strike ladder came from observation: a row went missing at 9am and was back by mid-afternoon.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error message aloud. It is the argument of the whole talk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take one idea home, take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 about this. It is the main reason these projects die, and pretending otherwise does the audience no favours.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over incidents where both timestamps are precise to the minute: 156 campus police, 83 Glassboro, 36 security authorities.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why the choice of date column is editorial, not technical. Both series are correct; they answer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in a newsroom are not engineering hygiene. They are the thing that stops you publishing a chart with no data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closing beat for the tools section: the machine removed the typing, not the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room to name one from their own beat. Jail rosters are the usual lightbulb — they change hourly and nobody keeps yesterday's.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how small step one is. The archive starts the day you save one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help anyone who wants to try it on their own beat. Figures on these slides were measured on October 18,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10911535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06240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1900" dirty="0">
                <a:solidFill>
                  <a:schemeClr val="bg2"/>
                </a:solidFill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91153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16052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874520"/>
            <a:ext cx="1091153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github.com/sstirling/rowan-clery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github.com/sstirling/rowan-clery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640080" y="1874520"/>
            <a:ext cx="70866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001000" y="1874520"/>
            <a:ext cx="352044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github.com/sstirling/rowan-clery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PUBLIC RECORDS"/>
          <p:cNvSpPr/>
          <p:nvPr/>
        </p:nvSpPr>
        <p:spPr>
          <a:xfrm>
            <a:off x="640080" y="1600200"/>
            <a:ext cx="3465576" cy="292608"/>
          </a:xfrm>
          <a:prstGeom prst="roundRect">
            <a:avLst>
              <a:gd name="adj" fmla="val 15625"/>
            </a:avLst>
          </a:prstGeom>
          <a:solidFill>
            <a:srgbClr val="C8453C"/>
          </a:solidFill>
          <a:ln/>
        </p:spPr>
      </p:sp>
      <p:sp>
        <p:nvSpPr>
          <p:cNvPr id="3" name="chip-PUBLIC RECORDS"/>
          <p:cNvSpPr txBox="1"/>
          <p:nvPr/>
        </p:nvSpPr>
        <p:spPr>
          <a:xfrm>
            <a:off x="640080" y="160020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RECORDS  ·  CLAUDE CODE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14884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record that vanished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206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2"/>
                </a:solidFill>
              </a:rPr>
              <a:t>How to build an archive of a public record that keeps changing — with a terminal, Claude Code, and a free robot</a:t>
            </a:r>
            <a:endParaRPr lang="en-US" sz="1900" dirty="0"/>
          </a:p>
        </p:txBody>
      </p:sp>
      <p:sp>
        <p:nvSpPr>
          <p:cNvPr id="6" name="byline"/>
          <p:cNvSpPr txBox="1"/>
          <p:nvPr/>
        </p:nvSpPr>
        <p:spPr>
          <a:xfrm>
            <a:off x="64008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A89E"/>
                </a:solidFill>
              </a:rPr>
              <a:t>Stephen Stirling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1  THE HOOK"/>
          <p:cNvSpPr/>
          <p:nvPr/>
        </p:nvSpPr>
        <p:spPr>
          <a:xfrm>
            <a:off x="640080" y="45720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C8453C"/>
          </a:solidFill>
          <a:ln/>
        </p:spPr>
      </p:sp>
      <p:sp>
        <p:nvSpPr>
          <p:cNvPr id="3" name="chip-01  THE HOOK"/>
          <p:cNvSpPr txBox="1"/>
          <p:nvPr/>
        </p:nvSpPr>
        <p:spPr>
          <a:xfrm>
            <a:off x="640080" y="457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THE HOOK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bg1"/>
                </a:solidFill>
              </a:rPr>
              <a:t>On October 1, this public record stopped being public</a:t>
            </a:r>
            <a:endParaRPr lang="en-US" sz="3300" dirty="0"/>
          </a:p>
        </p:txBody>
      </p:sp>
      <p:sp>
        <p:nvSpPr>
          <p:cNvPr id="5" name="term-401"/>
          <p:cNvSpPr/>
          <p:nvPr/>
        </p:nvSpPr>
        <p:spPr>
          <a:xfrm>
            <a:off x="640080" y="2011680"/>
            <a:ext cx="6858000" cy="1664208"/>
          </a:xfrm>
          <a:prstGeom prst="roundRect">
            <a:avLst>
              <a:gd name="adj" fmla="val 2198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rm-401-text"/>
          <p:cNvSpPr txBox="1"/>
          <p:nvPr/>
        </p:nvSpPr>
        <p:spPr>
          <a:xfrm>
            <a:off x="877824" y="2212848"/>
            <a:ext cx="6400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run.py all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June 2026 Daily Crime Log REMOVED: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.../1TLdzJn6iUkT.../export?format=csv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 after 4 attempts: HTTP Error 401: Unauthorized</a:t>
            </a:r>
            <a:endParaRPr lang="en-US" sz="1300" dirty="0"/>
          </a:p>
        </p:txBody>
      </p:sp>
      <p:sp>
        <p:nvSpPr>
          <p:cNvPr id="7" name="stat-incidents in"/>
          <p:cNvSpPr txBox="1"/>
          <p:nvPr/>
        </p:nvSpPr>
        <p:spPr>
          <a:xfrm>
            <a:off x="8001000" y="21031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C8453C"/>
                </a:solidFill>
              </a:rPr>
              <a:t>14</a:t>
            </a:r>
            <a:endParaRPr lang="en-US" sz="6200" dirty="0"/>
          </a:p>
        </p:txBody>
      </p:sp>
      <p:sp>
        <p:nvSpPr>
          <p:cNvPr id="8" name="statlabel-incidents in"/>
          <p:cNvSpPr txBox="1"/>
          <p:nvPr/>
        </p:nvSpPr>
        <p:spPr>
          <a:xfrm>
            <a:off x="8001000" y="3191256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incidents in that month's log. The sheet is still there — Rowan just stopped sharing it. Those rows now exist in one public place, and it isn't Rowan's.</a:t>
            </a:r>
            <a:endParaRPr lang="en-US" sz="1400" dirty="0"/>
          </a:p>
        </p:txBody>
      </p:sp>
      <p:sp>
        <p:nvSpPr>
          <p:cNvPr id="9" name="note-401"/>
          <p:cNvSpPr txBox="1"/>
          <p:nvPr/>
        </p:nvSpPr>
        <p:spPr>
          <a:xfrm>
            <a:off x="640080" y="5029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F3F5"/>
                </a:solidFill>
              </a:rPr>
              <a:t>The pipeline had been saving a copy twice a day since June. That is the only reason this slide has numbers on it.</a:t>
            </a:r>
            <a:endParaRPr lang="en-US" sz="1500" dirty="0"/>
          </a:p>
        </p:txBody>
      </p:sp>
      <p:sp>
        <p:nvSpPr>
          <p:cNvPr id="11" name="Text 0"/>
          <p:cNvSpPr/>
          <p:nvPr>
            <p:ph idx="101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2  THE RECORD"/>
          <p:cNvSpPr/>
          <p:nvPr/>
        </p:nvSpPr>
        <p:spPr>
          <a:xfrm>
            <a:off x="640080" y="4572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2  THE RECORD"/>
          <p:cNvSpPr txBox="1"/>
          <p:nvPr/>
        </p:nvSpPr>
        <p:spPr>
          <a:xfrm>
            <a:off x="640080" y="457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THE RECORD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Every US campus has to publish a daily crime log</a:t>
            </a:r>
            <a:endParaRPr lang="en-US" sz="3300" dirty="0"/>
          </a:p>
        </p:txBody>
      </p:sp>
      <p:sp>
        <p:nvSpPr>
          <p:cNvPr id="5" name="bullets"/>
          <p:cNvSpPr txBox="1"/>
          <p:nvPr/>
        </p:nvSpPr>
        <p:spPr>
          <a:xfrm>
            <a:off x="841248" y="1874520"/>
            <a:ext cx="629107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The Clery Act requires any college that takes federal student aid to keep one — and to make it open to the public.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Each entry: the nature of the incident, when it was reported, when it occurred, the general location, and the disposition.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New entries within two business days. It is one of the few crime records you can read without filing anything.</a:t>
            </a:r>
            <a:endParaRPr lang="en-US" sz="1600" dirty="0"/>
          </a:p>
        </p:txBody>
      </p:sp>
      <p:sp>
        <p:nvSpPr>
          <p:cNvPr id="6" name="card-why"/>
          <p:cNvSpPr/>
          <p:nvPr/>
        </p:nvSpPr>
        <p:spPr>
          <a:xfrm>
            <a:off x="7406640" y="1874520"/>
            <a:ext cx="4142232" cy="1874520"/>
          </a:xfrm>
          <a:prstGeom prst="roundRect">
            <a:avLst>
              <a:gd name="adj" fmla="val 195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card-why-head"/>
          <p:cNvSpPr txBox="1"/>
          <p:nvPr/>
        </p:nvSpPr>
        <p:spPr>
          <a:xfrm>
            <a:off x="7680960" y="2112264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Why reporters care</a:t>
            </a:r>
            <a:endParaRPr lang="en-US" sz="1600" dirty="0"/>
          </a:p>
        </p:txBody>
      </p:sp>
      <p:sp>
        <p:nvSpPr>
          <p:cNvPr id="8" name="card-why-text"/>
          <p:cNvSpPr txBox="1"/>
          <p:nvPr/>
        </p:nvSpPr>
        <p:spPr>
          <a:xfrm>
            <a:off x="7680960" y="2587752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It is the closest thing to a running police blotter for a campus — assaults, thefts, drug and alcohol enforcement, and how each was resolved.</a:t>
            </a:r>
            <a:endParaRPr lang="en-US" sz="1400" dirty="0"/>
          </a:p>
        </p:txBody>
      </p:sp>
      <p:sp>
        <p:nvSpPr>
          <p:cNvPr id="9" name="card-catch"/>
          <p:cNvSpPr/>
          <p:nvPr/>
        </p:nvSpPr>
        <p:spPr>
          <a:xfrm>
            <a:off x="7406640" y="3931920"/>
            <a:ext cx="4142232" cy="1874520"/>
          </a:xfrm>
          <a:prstGeom prst="roundRect">
            <a:avLst>
              <a:gd name="adj" fmla="val 195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card-catch-head"/>
          <p:cNvSpPr txBox="1"/>
          <p:nvPr/>
        </p:nvSpPr>
        <p:spPr>
          <a:xfrm>
            <a:off x="7680960" y="4169664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C"/>
                </a:solidFill>
              </a:rPr>
              <a:t>And the catch</a:t>
            </a:r>
            <a:endParaRPr lang="en-US" sz="1600" dirty="0"/>
          </a:p>
        </p:txBody>
      </p:sp>
      <p:sp>
        <p:nvSpPr>
          <p:cNvPr id="11" name="card-catch-text"/>
          <p:cNvSpPr txBox="1"/>
          <p:nvPr/>
        </p:nvSpPr>
        <p:spPr>
          <a:xfrm>
            <a:off x="7680960" y="4645152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The law says publish it. It does not say keep what you published, or note when you change your mind.</a:t>
            </a:r>
            <a:endParaRPr lang="en-US" sz="140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3  HOW IT IS "/>
          <p:cNvSpPr/>
          <p:nvPr/>
        </p:nvSpPr>
        <p:spPr>
          <a:xfrm>
            <a:off x="640080" y="457200"/>
            <a:ext cx="2729484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3  HOW IT IS "/>
          <p:cNvSpPr txBox="1"/>
          <p:nvPr/>
        </p:nvSpPr>
        <p:spPr>
          <a:xfrm>
            <a:off x="640080" y="457200"/>
            <a:ext cx="27294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HOW IT IS PUBLISHED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Rowan publishes it as a Google Sheet</a:t>
            </a:r>
            <a:endParaRPr lang="en-US" sz="3300" dirty="0"/>
          </a:p>
        </p:txBody>
      </p:sp>
      <p:sp>
        <p:nvSpPr>
          <p:cNvPr id="5" name="how-0"/>
          <p:cNvSpPr/>
          <p:nvPr/>
        </p:nvSpPr>
        <p:spPr>
          <a:xfrm>
            <a:off x="640080" y="1874520"/>
            <a:ext cx="2587752" cy="210312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how-0-num-bg"/>
          <p:cNvSpPr/>
          <p:nvPr/>
        </p:nvSpPr>
        <p:spPr>
          <a:xfrm>
            <a:off x="877824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7" name="how-0-num"/>
          <p:cNvSpPr txBox="1"/>
          <p:nvPr/>
        </p:nvSpPr>
        <p:spPr>
          <a:xfrm>
            <a:off x="87782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how-0-head"/>
          <p:cNvSpPr txBox="1"/>
          <p:nvPr/>
        </p:nvSpPr>
        <p:spPr>
          <a:xfrm>
            <a:off x="1408176" y="207568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One sheet per month</a:t>
            </a:r>
            <a:endParaRPr lang="en-US" sz="1500" dirty="0"/>
          </a:p>
        </p:txBody>
      </p:sp>
      <p:sp>
        <p:nvSpPr>
          <p:cNvPr id="9" name="how-0-text"/>
          <p:cNvSpPr txBox="1"/>
          <p:nvPr/>
        </p:nvSpPr>
        <p:spPr>
          <a:xfrm>
            <a:off x="1408176" y="258775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A new file each month, linked from a Drive folder.</a:t>
            </a:r>
            <a:endParaRPr lang="en-US" sz="1300" dirty="0"/>
          </a:p>
        </p:txBody>
      </p:sp>
      <p:sp>
        <p:nvSpPr>
          <p:cNvPr id="10" name="how-1"/>
          <p:cNvSpPr/>
          <p:nvPr/>
        </p:nvSpPr>
        <p:spPr>
          <a:xfrm>
            <a:off x="3410712" y="1874520"/>
            <a:ext cx="2587752" cy="210312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how-1-num-bg"/>
          <p:cNvSpPr/>
          <p:nvPr/>
        </p:nvSpPr>
        <p:spPr>
          <a:xfrm>
            <a:off x="3648456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2" name="how-1-num"/>
          <p:cNvSpPr txBox="1"/>
          <p:nvPr/>
        </p:nvSpPr>
        <p:spPr>
          <a:xfrm>
            <a:off x="36484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how-1-head"/>
          <p:cNvSpPr txBox="1"/>
          <p:nvPr/>
        </p:nvSpPr>
        <p:spPr>
          <a:xfrm>
            <a:off x="4178808" y="207568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Typed by hand</a:t>
            </a:r>
            <a:endParaRPr lang="en-US" sz="1500" dirty="0"/>
          </a:p>
        </p:txBody>
      </p:sp>
      <p:sp>
        <p:nvSpPr>
          <p:cNvPr id="14" name="how-1-text"/>
          <p:cNvSpPr txBox="1"/>
          <p:nvPr/>
        </p:nvSpPr>
        <p:spPr>
          <a:xfrm>
            <a:off x="4178808" y="258775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Same offense, different spelling, month to month.</a:t>
            </a:r>
            <a:endParaRPr lang="en-US" sz="1300" dirty="0"/>
          </a:p>
        </p:txBody>
      </p:sp>
      <p:sp>
        <p:nvSpPr>
          <p:cNvPr id="15" name="how-2"/>
          <p:cNvSpPr/>
          <p:nvPr/>
        </p:nvSpPr>
        <p:spPr>
          <a:xfrm>
            <a:off x="6181344" y="1874520"/>
            <a:ext cx="2587752" cy="210312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how-2-num-bg"/>
          <p:cNvSpPr/>
          <p:nvPr/>
        </p:nvSpPr>
        <p:spPr>
          <a:xfrm>
            <a:off x="6419088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7" name="how-2-num"/>
          <p:cNvSpPr txBox="1"/>
          <p:nvPr/>
        </p:nvSpPr>
        <p:spPr>
          <a:xfrm>
            <a:off x="641908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how-2-head"/>
          <p:cNvSpPr txBox="1"/>
          <p:nvPr/>
        </p:nvSpPr>
        <p:spPr>
          <a:xfrm>
            <a:off x="6949440" y="207568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Edited in place</a:t>
            </a:r>
            <a:endParaRPr lang="en-US" sz="1500" dirty="0"/>
          </a:p>
        </p:txBody>
      </p:sp>
      <p:sp>
        <p:nvSpPr>
          <p:cNvPr id="19" name="how-2-text"/>
          <p:cNvSpPr txBox="1"/>
          <p:nvPr/>
        </p:nvSpPr>
        <p:spPr>
          <a:xfrm>
            <a:off x="6949440" y="258775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Dispositions and times get revised after publication.</a:t>
            </a:r>
            <a:endParaRPr lang="en-US" sz="1300" dirty="0"/>
          </a:p>
        </p:txBody>
      </p:sp>
      <p:sp>
        <p:nvSpPr>
          <p:cNvPr id="20" name="how-3"/>
          <p:cNvSpPr/>
          <p:nvPr/>
        </p:nvSpPr>
        <p:spPr>
          <a:xfrm>
            <a:off x="8951976" y="1874520"/>
            <a:ext cx="2587752" cy="2103120"/>
          </a:xfrm>
          <a:prstGeom prst="roundRect">
            <a:avLst>
              <a:gd name="adj" fmla="val 173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how-3-num-bg"/>
          <p:cNvSpPr/>
          <p:nvPr/>
        </p:nvSpPr>
        <p:spPr>
          <a:xfrm>
            <a:off x="9189720" y="2112264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22" name="how-3-num"/>
          <p:cNvSpPr txBox="1"/>
          <p:nvPr/>
        </p:nvSpPr>
        <p:spPr>
          <a:xfrm>
            <a:off x="918972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how-3-head"/>
          <p:cNvSpPr txBox="1"/>
          <p:nvPr/>
        </p:nvSpPr>
        <p:spPr>
          <a:xfrm>
            <a:off x="9720072" y="207568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No history</a:t>
            </a:r>
            <a:endParaRPr lang="en-US" sz="1500" dirty="0"/>
          </a:p>
        </p:txBody>
      </p:sp>
      <p:sp>
        <p:nvSpPr>
          <p:cNvPr id="24" name="how-3-text"/>
          <p:cNvSpPr txBox="1"/>
          <p:nvPr/>
        </p:nvSpPr>
        <p:spPr>
          <a:xfrm>
            <a:off x="9720072" y="2587752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Nothing on the page says a row ever changed.</a:t>
            </a:r>
            <a:endParaRPr lang="en-US" sz="1300" dirty="0"/>
          </a:p>
        </p:txBody>
      </p:sp>
      <p:sp>
        <p:nvSpPr>
          <p:cNvPr id="25" name="term-url"/>
          <p:cNvSpPr/>
          <p:nvPr/>
        </p:nvSpPr>
        <p:spPr>
          <a:xfrm>
            <a:off x="640080" y="4343400"/>
            <a:ext cx="10911535" cy="1042416"/>
          </a:xfrm>
          <a:prstGeom prst="roundRect">
            <a:avLst>
              <a:gd name="adj" fmla="val 3509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rm-url-text"/>
          <p:cNvSpPr txBox="1"/>
          <p:nvPr/>
        </p:nvSpPr>
        <p:spPr>
          <a:xfrm>
            <a:off x="877824" y="4544568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a "publication" actually is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docs.google.com/spreadsheets/d/&lt;id&gt;/export?format=csv</a:t>
            </a:r>
            <a:endParaRPr lang="en-US" sz="1300" dirty="0"/>
          </a:p>
        </p:txBody>
      </p:sp>
      <p:sp>
        <p:nvSpPr>
          <p:cNvPr id="27" name="note-url"/>
          <p:cNvSpPr txBox="1"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3A44"/>
                </a:solidFill>
              </a:rPr>
              <a:t>That URL is the whole dependency. It is also the thing that returned 401.</a:t>
            </a:r>
            <a:endParaRPr lang="en-US" sz="1500" dirty="0"/>
          </a:p>
        </p:txBody>
      </p:sp>
      <p:sp>
        <p:nvSpPr>
          <p:cNvPr id="29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4  THE PROBLE"/>
          <p:cNvSpPr/>
          <p:nvPr/>
        </p:nvSpPr>
        <p:spPr>
          <a:xfrm>
            <a:off x="640080" y="457200"/>
            <a:ext cx="1888236" cy="292608"/>
          </a:xfrm>
          <a:prstGeom prst="roundRect">
            <a:avLst>
              <a:gd name="adj" fmla="val 15625"/>
            </a:avLst>
          </a:prstGeom>
          <a:solidFill>
            <a:srgbClr val="C8453C"/>
          </a:solidFill>
          <a:ln/>
        </p:spPr>
      </p:sp>
      <p:sp>
        <p:nvSpPr>
          <p:cNvPr id="3" name="chip-04  THE PROBLE"/>
          <p:cNvSpPr txBox="1"/>
          <p:nvPr/>
        </p:nvSpPr>
        <p:spPr>
          <a:xfrm>
            <a:off x="640080" y="457200"/>
            <a:ext cx="188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THE PROBLEM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bg1"/>
                </a:solidFill>
              </a:rPr>
              <a:t>A public record you cannot cite</a:t>
            </a:r>
            <a:endParaRPr lang="en-US" sz="3300" dirty="0"/>
          </a:p>
        </p:txBody>
      </p:sp>
      <p:sp>
        <p:nvSpPr>
          <p:cNvPr id="5" name="stat-rows the uni"/>
          <p:cNvSpPr txBox="1"/>
          <p:nvPr/>
        </p:nvSpPr>
        <p:spPr>
          <a:xfrm>
            <a:off x="640080" y="2103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E0A94A"/>
                </a:solidFill>
              </a:rPr>
              <a:t>129</a:t>
            </a:r>
            <a:endParaRPr lang="en-US" sz="6200" dirty="0"/>
          </a:p>
        </p:txBody>
      </p:sp>
      <p:sp>
        <p:nvSpPr>
          <p:cNvPr id="6" name="statlabel-rows the uni"/>
          <p:cNvSpPr txBox="1"/>
          <p:nvPr/>
        </p:nvSpPr>
        <p:spPr>
          <a:xfrm>
            <a:off x="640080" y="31912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rows the university revised after publishing them — new dispositions, changed times, reclassified offenses</a:t>
            </a:r>
            <a:endParaRPr lang="en-US" sz="1400" dirty="0"/>
          </a:p>
        </p:txBody>
      </p:sp>
      <p:sp>
        <p:nvSpPr>
          <p:cNvPr id="7" name="stat-rows whose s"/>
          <p:cNvSpPr txBox="1"/>
          <p:nvPr/>
        </p:nvSpPr>
        <p:spPr>
          <a:xfrm>
            <a:off x="4343400" y="2103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C8453C"/>
                </a:solidFill>
              </a:rPr>
              <a:t>14</a:t>
            </a:r>
            <a:endParaRPr lang="en-US" sz="6200" dirty="0"/>
          </a:p>
        </p:txBody>
      </p:sp>
      <p:sp>
        <p:nvSpPr>
          <p:cNvPr id="8" name="statlabel-rows whose s"/>
          <p:cNvSpPr txBox="1"/>
          <p:nvPr/>
        </p:nvSpPr>
        <p:spPr>
          <a:xfrm>
            <a:off x="4343400" y="31912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rows whose source file stopped being shared, now preserved only in this archive</a:t>
            </a:r>
            <a:endParaRPr lang="en-US" sz="1400" dirty="0"/>
          </a:p>
        </p:txBody>
      </p:sp>
      <p:sp>
        <p:nvSpPr>
          <p:cNvPr id="9" name="stat-of those cha"/>
          <p:cNvSpPr txBox="1"/>
          <p:nvPr/>
        </p:nvSpPr>
        <p:spPr>
          <a:xfrm>
            <a:off x="8138160" y="2103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9AA9B5"/>
                </a:solidFill>
              </a:rPr>
              <a:t>0</a:t>
            </a:r>
            <a:endParaRPr lang="en-US" sz="6200" dirty="0"/>
          </a:p>
        </p:txBody>
      </p:sp>
      <p:sp>
        <p:nvSpPr>
          <p:cNvPr id="10" name="statlabel-of those cha"/>
          <p:cNvSpPr txBox="1"/>
          <p:nvPr/>
        </p:nvSpPr>
        <p:spPr>
          <a:xfrm>
            <a:off x="8138160" y="31912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of those changes appear anywhere on Rowan's own pages</a:t>
            </a:r>
            <a:endParaRPr lang="en-US" sz="1400" dirty="0"/>
          </a:p>
        </p:txBody>
      </p:sp>
      <p:sp>
        <p:nvSpPr>
          <p:cNvPr id="11" name="thesis"/>
          <p:cNvSpPr txBox="1"/>
          <p:nvPr/>
        </p:nvSpPr>
        <p:spPr>
          <a:xfrm>
            <a:off x="640080" y="4617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If you quote a figure today and the sheet reads differently next month, you have no way to show you were right.</a:t>
            </a:r>
            <a:endParaRPr lang="en-US" sz="1900" dirty="0"/>
          </a:p>
        </p:txBody>
      </p:sp>
      <p:sp>
        <p:nvSpPr>
          <p:cNvPr id="13" name="Text 0"/>
          <p:cNvSpPr/>
          <p:nvPr>
            <p:ph idx="101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PART ONE"/>
          <p:cNvSpPr/>
          <p:nvPr/>
        </p:nvSpPr>
        <p:spPr>
          <a:xfrm>
            <a:off x="640080" y="2240280"/>
            <a:ext cx="1152144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PART ONE"/>
          <p:cNvSpPr txBox="1"/>
          <p:nvPr/>
        </p:nvSpPr>
        <p:spPr>
          <a:xfrm>
            <a:off x="640080" y="22402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651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 archive that remembers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1605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2,434 incidents · Dec. 2017 to Oct. 2026 · checked twice a day · every version kept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5  ARCHITECTU"/>
          <p:cNvSpPr/>
          <p:nvPr/>
        </p:nvSpPr>
        <p:spPr>
          <a:xfrm>
            <a:off x="640080" y="457200"/>
            <a:ext cx="1993392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5  ARCHITECTU"/>
          <p:cNvSpPr txBox="1"/>
          <p:nvPr/>
        </p:nvSpPr>
        <p:spPr>
          <a:xfrm>
            <a:off x="640080" y="4572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ARCHITECTURE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Four layers, and only one of them is allowed to change</a:t>
            </a:r>
            <a:endParaRPr lang="en-US" sz="3300" dirty="0"/>
          </a:p>
        </p:txBody>
      </p:sp>
      <p:sp>
        <p:nvSpPr>
          <p:cNvPr id="5" name="layer-0"/>
          <p:cNvSpPr/>
          <p:nvPr/>
        </p:nvSpPr>
        <p:spPr>
          <a:xfrm>
            <a:off x="640080" y="1874520"/>
            <a:ext cx="2587752" cy="233172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layer-0-head"/>
          <p:cNvSpPr txBox="1"/>
          <p:nvPr/>
        </p:nvSpPr>
        <p:spPr>
          <a:xfrm>
            <a:off x="914400" y="2112264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1F"/>
                </a:solidFill>
              </a:rPr>
              <a:t>Raw</a:t>
            </a:r>
            <a:endParaRPr lang="en-US" sz="1800" dirty="0"/>
          </a:p>
        </p:txBody>
      </p:sp>
      <p:sp>
        <p:nvSpPr>
          <p:cNvPr id="7" name="layer-0-text"/>
          <p:cNvSpPr txBox="1"/>
          <p:nvPr/>
        </p:nvSpPr>
        <p:spPr>
          <a:xfrm>
            <a:off x="914400" y="258775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The bytes, exactly as downloaded, in a dated file.</a:t>
            </a:r>
            <a:endParaRPr lang="en-US" sz="1300" dirty="0"/>
          </a:p>
        </p:txBody>
      </p:sp>
      <p:sp>
        <p:nvSpPr>
          <p:cNvPr id="8" name="layer-rule-0-bg"/>
          <p:cNvSpPr/>
          <p:nvPr/>
        </p:nvSpPr>
        <p:spPr>
          <a:xfrm>
            <a:off x="914400" y="3703320"/>
            <a:ext cx="1207008" cy="256032"/>
          </a:xfrm>
          <a:prstGeom prst="roundRect">
            <a:avLst>
              <a:gd name="adj" fmla="val 17857"/>
            </a:avLst>
          </a:prstGeom>
          <a:solidFill>
            <a:srgbClr val="1F6F6B"/>
          </a:solidFill>
          <a:ln/>
        </p:spPr>
      </p:sp>
      <p:sp>
        <p:nvSpPr>
          <p:cNvPr id="9" name="layer-rule-0"/>
          <p:cNvSpPr txBox="1"/>
          <p:nvPr/>
        </p:nvSpPr>
        <p:spPr>
          <a:xfrm>
            <a:off x="914400" y="370332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EDITED</a:t>
            </a:r>
            <a:endParaRPr lang="en-US" sz="900" dirty="0"/>
          </a:p>
        </p:txBody>
      </p:sp>
      <p:sp>
        <p:nvSpPr>
          <p:cNvPr id="10" name="arrow-0"/>
          <p:cNvSpPr txBox="1"/>
          <p:nvPr/>
        </p:nvSpPr>
        <p:spPr>
          <a:xfrm>
            <a:off x="3163824" y="26974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layer-1"/>
          <p:cNvSpPr/>
          <p:nvPr/>
        </p:nvSpPr>
        <p:spPr>
          <a:xfrm>
            <a:off x="3410712" y="1874520"/>
            <a:ext cx="2587752" cy="233172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layer-1-head"/>
          <p:cNvSpPr txBox="1"/>
          <p:nvPr/>
        </p:nvSpPr>
        <p:spPr>
          <a:xfrm>
            <a:off x="3685032" y="2112264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1F"/>
                </a:solidFill>
              </a:rPr>
              <a:t>Archive</a:t>
            </a:r>
            <a:endParaRPr lang="en-US" sz="1800" dirty="0"/>
          </a:p>
        </p:txBody>
      </p:sp>
      <p:sp>
        <p:nvSpPr>
          <p:cNvPr id="13" name="layer-1-text"/>
          <p:cNvSpPr txBox="1"/>
          <p:nvPr/>
        </p:nvSpPr>
        <p:spPr>
          <a:xfrm>
            <a:off x="3685032" y="258775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One row per incident, with every revision recorded.</a:t>
            </a:r>
            <a:endParaRPr lang="en-US" sz="1300" dirty="0"/>
          </a:p>
        </p:txBody>
      </p:sp>
      <p:sp>
        <p:nvSpPr>
          <p:cNvPr id="14" name="layer-rule-1-bg"/>
          <p:cNvSpPr/>
          <p:nvPr/>
        </p:nvSpPr>
        <p:spPr>
          <a:xfrm>
            <a:off x="3685032" y="3703320"/>
            <a:ext cx="1129284" cy="256032"/>
          </a:xfrm>
          <a:prstGeom prst="roundRect">
            <a:avLst>
              <a:gd name="adj" fmla="val 17857"/>
            </a:avLst>
          </a:prstGeom>
          <a:solidFill>
            <a:srgbClr val="2A4D6E"/>
          </a:solidFill>
          <a:ln/>
        </p:spPr>
      </p:sp>
      <p:sp>
        <p:nvSpPr>
          <p:cNvPr id="15" name="layer-rule-1"/>
          <p:cNvSpPr txBox="1"/>
          <p:nvPr/>
        </p:nvSpPr>
        <p:spPr>
          <a:xfrm>
            <a:off x="3685032" y="3703320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ONLY</a:t>
            </a:r>
            <a:endParaRPr lang="en-US" sz="900" dirty="0"/>
          </a:p>
        </p:txBody>
      </p:sp>
      <p:sp>
        <p:nvSpPr>
          <p:cNvPr id="16" name="arrow-1"/>
          <p:cNvSpPr txBox="1"/>
          <p:nvPr/>
        </p:nvSpPr>
        <p:spPr>
          <a:xfrm>
            <a:off x="5934456" y="26974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layer-2"/>
          <p:cNvSpPr/>
          <p:nvPr/>
        </p:nvSpPr>
        <p:spPr>
          <a:xfrm>
            <a:off x="6181344" y="1874520"/>
            <a:ext cx="2587752" cy="233172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layer-2-head"/>
          <p:cNvSpPr txBox="1"/>
          <p:nvPr/>
        </p:nvSpPr>
        <p:spPr>
          <a:xfrm>
            <a:off x="6455664" y="2112264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1F"/>
                </a:solidFill>
              </a:rPr>
              <a:t>Derived</a:t>
            </a:r>
            <a:endParaRPr lang="en-US" sz="1800" dirty="0"/>
          </a:p>
        </p:txBody>
      </p:sp>
      <p:sp>
        <p:nvSpPr>
          <p:cNvPr id="19" name="layer-2-text"/>
          <p:cNvSpPr txBox="1"/>
          <p:nvPr/>
        </p:nvSpPr>
        <p:spPr>
          <a:xfrm>
            <a:off x="6455664" y="258775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Categories, counts, lags — rebuilt from scratch each run.</a:t>
            </a:r>
            <a:endParaRPr lang="en-US" sz="1300" dirty="0"/>
          </a:p>
        </p:txBody>
      </p:sp>
      <p:sp>
        <p:nvSpPr>
          <p:cNvPr id="20" name="layer-rule-2-bg"/>
          <p:cNvSpPr/>
          <p:nvPr/>
        </p:nvSpPr>
        <p:spPr>
          <a:xfrm>
            <a:off x="6455664" y="370332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2E3A44"/>
          </a:solidFill>
          <a:ln/>
        </p:spPr>
      </p:sp>
      <p:sp>
        <p:nvSpPr>
          <p:cNvPr id="21" name="layer-rule-2"/>
          <p:cNvSpPr txBox="1"/>
          <p:nvPr/>
        </p:nvSpPr>
        <p:spPr>
          <a:xfrm>
            <a:off x="6455664" y="37033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DISPOSABLE</a:t>
            </a:r>
            <a:endParaRPr lang="en-US" sz="900" dirty="0"/>
          </a:p>
        </p:txBody>
      </p:sp>
      <p:sp>
        <p:nvSpPr>
          <p:cNvPr id="22" name="arrow-2"/>
          <p:cNvSpPr txBox="1"/>
          <p:nvPr/>
        </p:nvSpPr>
        <p:spPr>
          <a:xfrm>
            <a:off x="8705088" y="26974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layer-3"/>
          <p:cNvSpPr/>
          <p:nvPr/>
        </p:nvSpPr>
        <p:spPr>
          <a:xfrm>
            <a:off x="8951976" y="1874520"/>
            <a:ext cx="2587752" cy="233172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layer-3-head"/>
          <p:cNvSpPr txBox="1"/>
          <p:nvPr/>
        </p:nvSpPr>
        <p:spPr>
          <a:xfrm>
            <a:off x="9226296" y="2112264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1F"/>
                </a:solidFill>
              </a:rPr>
              <a:t>Site</a:t>
            </a:r>
            <a:endParaRPr lang="en-US" sz="1800" dirty="0"/>
          </a:p>
        </p:txBody>
      </p:sp>
      <p:sp>
        <p:nvSpPr>
          <p:cNvPr id="25" name="layer-3-text"/>
          <p:cNvSpPr txBox="1"/>
          <p:nvPr/>
        </p:nvSpPr>
        <p:spPr>
          <a:xfrm>
            <a:off x="9226296" y="258775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The pages people read.</a:t>
            </a:r>
            <a:endParaRPr lang="en-US" sz="1300" dirty="0"/>
          </a:p>
        </p:txBody>
      </p:sp>
      <p:sp>
        <p:nvSpPr>
          <p:cNvPr id="26" name="layer-rule-3-bg"/>
          <p:cNvSpPr/>
          <p:nvPr/>
        </p:nvSpPr>
        <p:spPr>
          <a:xfrm>
            <a:off x="9226296" y="370332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2E3A44"/>
          </a:solidFill>
          <a:ln/>
        </p:spPr>
      </p:sp>
      <p:sp>
        <p:nvSpPr>
          <p:cNvPr id="27" name="layer-rule-3"/>
          <p:cNvSpPr txBox="1"/>
          <p:nvPr/>
        </p:nvSpPr>
        <p:spPr>
          <a:xfrm>
            <a:off x="9226296" y="37033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DISPOSABLE</a:t>
            </a:r>
            <a:endParaRPr lang="en-US" sz="900" dirty="0"/>
          </a:p>
        </p:txBody>
      </p:sp>
      <p:sp>
        <p:nvSpPr>
          <p:cNvPr id="28" name="note-layers"/>
          <p:cNvSpPr txBox="1"/>
          <p:nvPr/>
        </p:nvSpPr>
        <p:spPr>
          <a:xfrm>
            <a:off x="640080" y="47548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A44"/>
                </a:solidFill>
              </a:rPr>
              <a:t>The rule that makes it an archive rather than a scraper: if the derived layers burn down, you rebuild them from raw. If raw burns down, the record is gone.</a:t>
            </a:r>
            <a:endParaRPr lang="en-US" sz="1600" dirty="0"/>
          </a:p>
        </p:txBody>
      </p:sp>
      <p:sp>
        <p:nvSpPr>
          <p:cNvPr id="30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6  THE OUTPUT"/>
          <p:cNvSpPr/>
          <p:nvPr/>
        </p:nvSpPr>
        <p:spPr>
          <a:xfrm>
            <a:off x="640080" y="4572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6  THE OUTPUT"/>
          <p:cNvSpPr txBox="1"/>
          <p:nvPr/>
        </p:nvSpPr>
        <p:spPr>
          <a:xfrm>
            <a:off x="640080" y="457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THE OUTPUT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What a reader gets</a:t>
            </a:r>
            <a:endParaRPr lang="en-US" sz="3300" dirty="0"/>
          </a:p>
        </p:txBody>
      </p:sp>
      <p:sp>
        <p:nvSpPr>
          <p:cNvPr id="5" name="out-1"/>
          <p:cNvSpPr/>
          <p:nvPr/>
        </p:nvSpPr>
        <p:spPr>
          <a:xfrm>
            <a:off x="640080" y="1874520"/>
            <a:ext cx="5303520" cy="1920240"/>
          </a:xfrm>
          <a:prstGeom prst="roundRect">
            <a:avLst>
              <a:gd name="adj" fmla="val 1905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out-1-head"/>
          <p:cNvSpPr txBox="1"/>
          <p:nvPr/>
        </p:nvSpPr>
        <p:spPr>
          <a:xfrm>
            <a:off x="9144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 site that explains itself</a:t>
            </a:r>
            <a:endParaRPr lang="en-US" sz="1600" dirty="0"/>
          </a:p>
        </p:txBody>
      </p:sp>
      <p:sp>
        <p:nvSpPr>
          <p:cNvPr id="7" name="out-1-text"/>
          <p:cNvSpPr txBox="1"/>
          <p:nvPr/>
        </p:nvSpPr>
        <p:spPr>
          <a:xfrm>
            <a:off x="914400" y="25877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Charts by month, category and location — plus a page listing every change the archive has caught, with the old value beside the new one.</a:t>
            </a:r>
            <a:endParaRPr lang="en-US" sz="1400" dirty="0"/>
          </a:p>
        </p:txBody>
      </p:sp>
      <p:sp>
        <p:nvSpPr>
          <p:cNvPr id="8" name="out-2"/>
          <p:cNvSpPr/>
          <p:nvPr/>
        </p:nvSpPr>
        <p:spPr>
          <a:xfrm>
            <a:off x="640080" y="3977640"/>
            <a:ext cx="5303520" cy="1920240"/>
          </a:xfrm>
          <a:prstGeom prst="roundRect">
            <a:avLst>
              <a:gd name="adj" fmla="val 1905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out-2-head"/>
          <p:cNvSpPr txBox="1"/>
          <p:nvPr/>
        </p:nvSpPr>
        <p:spPr>
          <a:xfrm>
            <a:off x="914400" y="42153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Data you can take away</a:t>
            </a:r>
            <a:endParaRPr lang="en-US" sz="1600" dirty="0"/>
          </a:p>
        </p:txBody>
      </p:sp>
      <p:sp>
        <p:nvSpPr>
          <p:cNvPr id="10" name="out-2-text"/>
          <p:cNvSpPr txBox="1"/>
          <p:nvPr/>
        </p:nvSpPr>
        <p:spPr>
          <a:xfrm>
            <a:off x="914400" y="469087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Every chart exports the exact rows behind it as CSV, so a reader can check the number rather than trust it.</a:t>
            </a:r>
            <a:endParaRPr lang="en-US" sz="1400" dirty="0"/>
          </a:p>
        </p:txBody>
      </p:sp>
      <p:sp>
        <p:nvSpPr>
          <p:cNvPr id="11" name="term-commit"/>
          <p:cNvSpPr/>
          <p:nvPr/>
        </p:nvSpPr>
        <p:spPr>
          <a:xfrm>
            <a:off x="6355080" y="1874520"/>
            <a:ext cx="5193792" cy="4023360"/>
          </a:xfrm>
          <a:prstGeom prst="roundRect">
            <a:avLst>
              <a:gd name="adj" fmla="val 909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rm-commit-text"/>
          <p:cNvSpPr txBox="1"/>
          <p:nvPr/>
        </p:nvSpPr>
        <p:spPr>
          <a:xfrm>
            <a:off x="6592824" y="2075688"/>
            <a:ext cx="47365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commit per run, change or no change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+31 added, 0 amended, 0 missing,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 withdrawn, 0 source-removed — 2026-10-09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the receipts underneath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data/raw/&lt;sheet-id&gt;/2026-10-09.csv</a:t>
            </a:r>
            <a:endParaRPr lang="en-US" sz="1250" dirty="0"/>
          </a:p>
        </p:txBody>
      </p:sp>
      <p:sp>
        <p:nvSpPr>
          <p:cNvPr id="14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PART TWO"/>
          <p:cNvSpPr/>
          <p:nvPr/>
        </p:nvSpPr>
        <p:spPr>
          <a:xfrm>
            <a:off x="640080" y="2240280"/>
            <a:ext cx="1152144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PART TWO"/>
          <p:cNvSpPr txBox="1"/>
          <p:nvPr/>
        </p:nvSpPr>
        <p:spPr>
          <a:xfrm>
            <a:off x="640080" y="22402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651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Three tools, no computer science degree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1605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 terminal, Claude Code, and GitHub. Each one earns its place the moment you actually need it — so that is the order we will meet them in.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7  THE TERMIN"/>
          <p:cNvSpPr/>
          <p:nvPr/>
        </p:nvSpPr>
        <p:spPr>
          <a:xfrm>
            <a:off x="640080" y="457200"/>
            <a:ext cx="1993392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7  THE TERMIN"/>
          <p:cNvSpPr txBox="1"/>
          <p:nvPr/>
        </p:nvSpPr>
        <p:spPr>
          <a:xfrm>
            <a:off x="640080" y="4572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THE TERMINAL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The terminal is a text conversation with your computer</a:t>
            </a:r>
            <a:endParaRPr lang="en-US" sz="3300" dirty="0"/>
          </a:p>
        </p:txBody>
      </p:sp>
      <p:sp>
        <p:nvSpPr>
          <p:cNvPr id="5" name="bullets"/>
          <p:cNvSpPr txBox="1"/>
          <p:nvPr/>
        </p:nvSpPr>
        <p:spPr>
          <a:xfrm>
            <a:off x="841248" y="1874520"/>
            <a:ext cx="629107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You type an instruction, press enter, and it answers. That is the whole interface.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It is already on your machine: Terminal on a Mac, PowerShell on Windows.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Why bother, when you could click? Because a command is a thing you can write down, hand to a colleague, and run again next year. A click is not.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That is the same reason we prefer a script to a spreadsheet: it can be re-run, and so it can be checked.</a:t>
            </a:r>
            <a:endParaRPr lang="en-US" sz="1600" dirty="0"/>
          </a:p>
        </p:txBody>
      </p:sp>
      <p:sp>
        <p:nvSpPr>
          <p:cNvPr id="6" name="term-intro"/>
          <p:cNvSpPr/>
          <p:nvPr/>
        </p:nvSpPr>
        <p:spPr>
          <a:xfrm>
            <a:off x="7406640" y="1874520"/>
            <a:ext cx="4142232" cy="2377440"/>
          </a:xfrm>
          <a:prstGeom prst="roundRect">
            <a:avLst>
              <a:gd name="adj" fmla="val 1538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rm-intro-text"/>
          <p:cNvSpPr txBox="1"/>
          <p:nvPr/>
        </p:nvSpPr>
        <p:spPr>
          <a:xfrm>
            <a:off x="7644384" y="2075688"/>
            <a:ext cx="3685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Documents/rowan-clery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  data/  docs/  rowan_clery/  tests/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run.py build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page data: 267 archived,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253 published, 14 no longer published</a:t>
            </a:r>
            <a:endParaRPr lang="en-US" sz="1150" dirty="0"/>
          </a:p>
        </p:txBody>
      </p:sp>
      <p:sp>
        <p:nvSpPr>
          <p:cNvPr id="8" name="note-repro"/>
          <p:cNvSpPr txBox="1"/>
          <p:nvPr/>
        </p:nvSpPr>
        <p:spPr>
          <a:xfrm>
            <a:off x="7406640" y="443484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3A44"/>
                </a:solidFill>
              </a:rPr>
              <a:t>Reproducibility is a journalistic standard, not an engineering one.</a:t>
            </a:r>
            <a:endParaRPr lang="en-US" sz="1500" dirty="0"/>
          </a:p>
        </p:txBody>
      </p:sp>
      <p:sp>
        <p:nvSpPr>
          <p:cNvPr id="10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8  DAY ONE"/>
          <p:cNvSpPr/>
          <p:nvPr/>
        </p:nvSpPr>
        <p:spPr>
          <a:xfrm>
            <a:off x="640080" y="457200"/>
            <a:ext cx="1467612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8  DAY ONE"/>
          <p:cNvSpPr txBox="1"/>
          <p:nvPr/>
        </p:nvSpPr>
        <p:spPr>
          <a:xfrm>
            <a:off x="640080" y="457200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DAY 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The commands you actually need on day one</a:t>
            </a:r>
            <a:endParaRPr lang="en-US" sz="3300" dirty="0"/>
          </a:p>
        </p:txBody>
      </p:sp>
      <p:sp>
        <p:nvSpPr>
          <p:cNvPr id="5" name="term-day1"/>
          <p:cNvSpPr/>
          <p:nvPr/>
        </p:nvSpPr>
        <p:spPr>
          <a:xfrm>
            <a:off x="640080" y="1874520"/>
            <a:ext cx="6492240" cy="3977640"/>
          </a:xfrm>
          <a:prstGeom prst="roundRect">
            <a:avLst>
              <a:gd name="adj" fmla="val 920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rm-day1-text"/>
          <p:cNvSpPr txBox="1"/>
          <p:nvPr/>
        </p:nvSpPr>
        <p:spPr>
          <a:xfrm>
            <a:off x="877824" y="2075688"/>
            <a:ext cx="603504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rowan-clery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into the project folder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what is in here?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all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fetch, archive, rebuild the site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what changed recently?</a:t>
            </a:r>
            <a:endParaRPr lang="en-US" sz="1300" dirty="0"/>
          </a:p>
        </p:txBody>
      </p:sp>
      <p:sp>
        <p:nvSpPr>
          <p:cNvPr id="7" name="d1-a"/>
          <p:cNvSpPr/>
          <p:nvPr/>
        </p:nvSpPr>
        <p:spPr>
          <a:xfrm>
            <a:off x="7680960" y="1874520"/>
            <a:ext cx="3867912" cy="1783080"/>
          </a:xfrm>
          <a:prstGeom prst="roundRect">
            <a:avLst>
              <a:gd name="adj" fmla="val 205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d1-a-head"/>
          <p:cNvSpPr txBox="1"/>
          <p:nvPr/>
        </p:nvSpPr>
        <p:spPr>
          <a:xfrm>
            <a:off x="7955280" y="211226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Four commands</a:t>
            </a:r>
            <a:endParaRPr lang="en-US" sz="1600" dirty="0"/>
          </a:p>
        </p:txBody>
      </p:sp>
      <p:sp>
        <p:nvSpPr>
          <p:cNvPr id="9" name="d1-a-text"/>
          <p:cNvSpPr txBox="1"/>
          <p:nvPr/>
        </p:nvSpPr>
        <p:spPr>
          <a:xfrm>
            <a:off x="7955280" y="258775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That is the barrier to entry. Everything else in this project, Claude Code wrote while I watched.</a:t>
            </a:r>
            <a:endParaRPr lang="en-US" sz="1400" dirty="0"/>
          </a:p>
        </p:txBody>
      </p:sp>
      <p:sp>
        <p:nvSpPr>
          <p:cNvPr id="10" name="d1-b"/>
          <p:cNvSpPr/>
          <p:nvPr/>
        </p:nvSpPr>
        <p:spPr>
          <a:xfrm>
            <a:off x="7680960" y="3840480"/>
            <a:ext cx="3867912" cy="2011680"/>
          </a:xfrm>
          <a:prstGeom prst="roundRect">
            <a:avLst>
              <a:gd name="adj" fmla="val 1818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d1-b-head"/>
          <p:cNvSpPr txBox="1"/>
          <p:nvPr/>
        </p:nvSpPr>
        <p:spPr>
          <a:xfrm>
            <a:off x="7955280" y="407822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4A"/>
                </a:solidFill>
              </a:rPr>
              <a:t>The one habit</a:t>
            </a:r>
            <a:endParaRPr lang="en-US" sz="1600" dirty="0"/>
          </a:p>
        </p:txBody>
      </p:sp>
      <p:sp>
        <p:nvSpPr>
          <p:cNvPr id="12" name="d1-b-text"/>
          <p:cNvSpPr txBox="1"/>
          <p:nvPr/>
        </p:nvSpPr>
        <p:spPr>
          <a:xfrm>
            <a:off x="7955280" y="4553712"/>
            <a:ext cx="3319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Read what it proposes before you say yes. You are the editor. The tool is a very fast, very literal reporter.</a:t>
            </a:r>
            <a:endParaRPr lang="en-US" sz="1400" dirty="0"/>
          </a:p>
        </p:txBody>
      </p:sp>
      <p:sp>
        <p:nvSpPr>
          <p:cNvPr id="14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09  CLAUDE COD"/>
          <p:cNvSpPr/>
          <p:nvPr/>
        </p:nvSpPr>
        <p:spPr>
          <a:xfrm>
            <a:off x="640080" y="457200"/>
            <a:ext cx="1888236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09  CLAUDE COD"/>
          <p:cNvSpPr txBox="1"/>
          <p:nvPr/>
        </p:nvSpPr>
        <p:spPr>
          <a:xfrm>
            <a:off x="640080" y="457200"/>
            <a:ext cx="188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CLAUDE CODE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Claude Code lives in that terminal</a:t>
            </a:r>
            <a:endParaRPr lang="en-US" sz="3300" dirty="0"/>
          </a:p>
        </p:txBody>
      </p:sp>
      <p:sp>
        <p:nvSpPr>
          <p:cNvPr id="5" name="bullets"/>
          <p:cNvSpPr txBox="1"/>
          <p:nvPr/>
        </p:nvSpPr>
        <p:spPr>
          <a:xfrm>
            <a:off x="841248" y="1874520"/>
            <a:ext cx="629107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It reads and writes the files in your project, runs commands, reads the errors that come back, and fixes them.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It asks before it changes anything or runs something consequential.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It can see the whole project at once — which is why it finds every instance of a problem rather than the first one.</a:t>
            </a:r>
            <a:endParaRPr lang="en-US" sz="160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3A44"/>
                </a:solidFill>
              </a:rPr>
              <a:t>It costs money per use. Budget for it like a database subscription, not like a free plugin.</a:t>
            </a:r>
            <a:endParaRPr lang="en-US" sz="1600" dirty="0"/>
          </a:p>
        </p:txBody>
      </p:sp>
      <p:sp>
        <p:nvSpPr>
          <p:cNvPr id="6" name="term-cc"/>
          <p:cNvSpPr/>
          <p:nvPr/>
        </p:nvSpPr>
        <p:spPr>
          <a:xfrm>
            <a:off x="7406640" y="1874520"/>
            <a:ext cx="4142232" cy="2514600"/>
          </a:xfrm>
          <a:prstGeom prst="roundRect">
            <a:avLst>
              <a:gd name="adj" fmla="val 1455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rm-cc-text"/>
          <p:cNvSpPr txBox="1"/>
          <p:nvPr/>
        </p:nvSpPr>
        <p:spPr>
          <a:xfrm>
            <a:off x="7644384" y="2075688"/>
            <a:ext cx="368503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the scheduled run failed overnight.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here is the error. can you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investigate?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[pasted log]</a:t>
            </a:r>
            <a:endParaRPr lang="en-US" sz="1200" dirty="0"/>
          </a:p>
        </p:txBody>
      </p:sp>
      <p:sp>
        <p:nvSpPr>
          <p:cNvPr id="8" name="note-cc"/>
          <p:cNvSpPr txBox="1"/>
          <p:nvPr/>
        </p:nvSpPr>
        <p:spPr>
          <a:xfrm>
            <a:off x="7406640" y="457200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3A44"/>
                </a:solidFill>
              </a:rPr>
              <a:t>That prompt is a real one. It is also the entire workflow.</a:t>
            </a:r>
            <a:endParaRPr lang="en-US" sz="1500" dirty="0"/>
          </a:p>
        </p:txBody>
      </p:sp>
      <p:sp>
        <p:nvSpPr>
          <p:cNvPr id="10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0  THE LOOP"/>
          <p:cNvSpPr/>
          <p:nvPr/>
        </p:nvSpPr>
        <p:spPr>
          <a:xfrm>
            <a:off x="640080" y="457200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0  THE LOOP"/>
          <p:cNvSpPr txBox="1"/>
          <p:nvPr/>
        </p:nvSpPr>
        <p:spPr>
          <a:xfrm>
            <a:off x="640080" y="457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THE LOOP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What the loop actually looks like</a:t>
            </a:r>
            <a:endParaRPr lang="en-US" sz="3300" dirty="0"/>
          </a:p>
        </p:txBody>
      </p:sp>
      <p:sp>
        <p:nvSpPr>
          <p:cNvPr id="5" name="term-maperr"/>
          <p:cNvSpPr/>
          <p:nvPr/>
        </p:nvSpPr>
        <p:spPr>
          <a:xfrm>
            <a:off x="640080" y="1874520"/>
            <a:ext cx="5294376" cy="1143000"/>
          </a:xfrm>
          <a:prstGeom prst="roundRect">
            <a:avLst>
              <a:gd name="adj" fmla="val 3200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rm-maperr-text"/>
          <p:cNvSpPr txBox="1"/>
          <p:nvPr/>
        </p:nvSpPr>
        <p:spPr>
          <a:xfrm>
            <a:off x="877824" y="2075688"/>
            <a:ext cx="4837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MappingError: Unmapped Nature token(s):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['Possession of open container CDS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(prohibited drug) in vehicle']</a:t>
            </a:r>
            <a:endParaRPr lang="en-US" sz="1250" dirty="0"/>
          </a:p>
        </p:txBody>
      </p:sp>
      <p:sp>
        <p:nvSpPr>
          <p:cNvPr id="7" name="loop-0"/>
          <p:cNvSpPr/>
          <p:nvPr/>
        </p:nvSpPr>
        <p:spPr>
          <a:xfrm>
            <a:off x="640080" y="3246120"/>
            <a:ext cx="5294376" cy="1325880"/>
          </a:xfrm>
          <a:prstGeom prst="roundRect">
            <a:avLst>
              <a:gd name="adj" fmla="val 275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loop-0-num-bg"/>
          <p:cNvSpPr/>
          <p:nvPr/>
        </p:nvSpPr>
        <p:spPr>
          <a:xfrm>
            <a:off x="877824" y="3483864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9" name="loop-0-num"/>
          <p:cNvSpPr txBox="1"/>
          <p:nvPr/>
        </p:nvSpPr>
        <p:spPr>
          <a:xfrm>
            <a:off x="877824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loop-0-head"/>
          <p:cNvSpPr txBox="1"/>
          <p:nvPr/>
        </p:nvSpPr>
        <p:spPr>
          <a:xfrm>
            <a:off x="1408176" y="34472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The robot stops</a:t>
            </a:r>
            <a:endParaRPr lang="en-US" sz="1500" dirty="0"/>
          </a:p>
        </p:txBody>
      </p:sp>
      <p:sp>
        <p:nvSpPr>
          <p:cNvPr id="11" name="loop-0-text"/>
          <p:cNvSpPr txBox="1"/>
          <p:nvPr/>
        </p:nvSpPr>
        <p:spPr>
          <a:xfrm>
            <a:off x="1408176" y="39593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A wording the project has never seen takes the run down. Nothing is published.</a:t>
            </a:r>
            <a:endParaRPr lang="en-US" sz="1300" dirty="0"/>
          </a:p>
        </p:txBody>
      </p:sp>
      <p:sp>
        <p:nvSpPr>
          <p:cNvPr id="12" name="loop-1"/>
          <p:cNvSpPr/>
          <p:nvPr/>
        </p:nvSpPr>
        <p:spPr>
          <a:xfrm>
            <a:off x="6254496" y="3246120"/>
            <a:ext cx="5294376" cy="1325880"/>
          </a:xfrm>
          <a:prstGeom prst="roundRect">
            <a:avLst>
              <a:gd name="adj" fmla="val 275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loop-1-num-bg"/>
          <p:cNvSpPr/>
          <p:nvPr/>
        </p:nvSpPr>
        <p:spPr>
          <a:xfrm>
            <a:off x="6492240" y="34838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4" name="loop-1-num"/>
          <p:cNvSpPr txBox="1"/>
          <p:nvPr/>
        </p:nvSpPr>
        <p:spPr>
          <a:xfrm>
            <a:off x="649224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loop-1-head"/>
          <p:cNvSpPr txBox="1"/>
          <p:nvPr/>
        </p:nvSpPr>
        <p:spPr>
          <a:xfrm>
            <a:off x="7022592" y="34472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I paste the error in</a:t>
            </a:r>
            <a:endParaRPr lang="en-US" sz="1500" dirty="0"/>
          </a:p>
        </p:txBody>
      </p:sp>
      <p:sp>
        <p:nvSpPr>
          <p:cNvPr id="16" name="loop-1-text"/>
          <p:cNvSpPr txBox="1"/>
          <p:nvPr/>
        </p:nvSpPr>
        <p:spPr>
          <a:xfrm>
            <a:off x="7022592" y="39593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No diagnosis of my own. Just the log.</a:t>
            </a:r>
            <a:endParaRPr lang="en-US" sz="1300" dirty="0"/>
          </a:p>
        </p:txBody>
      </p:sp>
      <p:sp>
        <p:nvSpPr>
          <p:cNvPr id="17" name="loop-2"/>
          <p:cNvSpPr/>
          <p:nvPr/>
        </p:nvSpPr>
        <p:spPr>
          <a:xfrm>
            <a:off x="640080" y="4709160"/>
            <a:ext cx="5294376" cy="1325880"/>
          </a:xfrm>
          <a:prstGeom prst="roundRect">
            <a:avLst>
              <a:gd name="adj" fmla="val 275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loop-2-num-bg"/>
          <p:cNvSpPr/>
          <p:nvPr/>
        </p:nvSpPr>
        <p:spPr>
          <a:xfrm>
            <a:off x="877824" y="494690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9" name="loop-2-num"/>
          <p:cNvSpPr txBox="1"/>
          <p:nvPr/>
        </p:nvSpPr>
        <p:spPr>
          <a:xfrm>
            <a:off x="877824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loop-2-head"/>
          <p:cNvSpPr txBox="1"/>
          <p:nvPr/>
        </p:nvSpPr>
        <p:spPr>
          <a:xfrm>
            <a:off x="1408176" y="49103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It checks everything</a:t>
            </a:r>
            <a:endParaRPr lang="en-US" sz="1500" dirty="0"/>
          </a:p>
        </p:txBody>
      </p:sp>
      <p:sp>
        <p:nvSpPr>
          <p:cNvPr id="21" name="loop-2-text"/>
          <p:cNvSpPr txBox="1"/>
          <p:nvPr/>
        </p:nvSpPr>
        <p:spPr>
          <a:xfrm>
            <a:off x="1408176" y="5422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Scans all four live sheets for every unknown wording — not only the one reported.</a:t>
            </a:r>
            <a:endParaRPr lang="en-US" sz="1300" dirty="0"/>
          </a:p>
        </p:txBody>
      </p:sp>
      <p:sp>
        <p:nvSpPr>
          <p:cNvPr id="22" name="loop-3"/>
          <p:cNvSpPr/>
          <p:nvPr/>
        </p:nvSpPr>
        <p:spPr>
          <a:xfrm>
            <a:off x="6254496" y="4709160"/>
            <a:ext cx="5294376" cy="1325880"/>
          </a:xfrm>
          <a:prstGeom prst="roundRect">
            <a:avLst>
              <a:gd name="adj" fmla="val 275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loop-3-num-bg"/>
          <p:cNvSpPr/>
          <p:nvPr/>
        </p:nvSpPr>
        <p:spPr>
          <a:xfrm>
            <a:off x="6492240" y="494690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4" name="loop-3-num"/>
          <p:cNvSpPr txBox="1"/>
          <p:nvPr/>
        </p:nvSpPr>
        <p:spPr>
          <a:xfrm>
            <a:off x="649224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loop-3-head"/>
          <p:cNvSpPr txBox="1"/>
          <p:nvPr/>
        </p:nvSpPr>
        <p:spPr>
          <a:xfrm>
            <a:off x="7022592" y="49103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It proves the fix</a:t>
            </a:r>
            <a:endParaRPr lang="en-US" sz="1500" dirty="0"/>
          </a:p>
        </p:txBody>
      </p:sp>
      <p:sp>
        <p:nvSpPr>
          <p:cNvPr id="26" name="loop-3-text"/>
          <p:cNvSpPr txBox="1"/>
          <p:nvPr/>
        </p:nvSpPr>
        <p:spPr>
          <a:xfrm>
            <a:off x="7022592" y="5422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Writes a failing test, adds the mapping, shows the test passing.</a:t>
            </a:r>
            <a:endParaRPr lang="en-US" sz="1300" dirty="0"/>
          </a:p>
        </p:txBody>
      </p:sp>
      <p:sp>
        <p:nvSpPr>
          <p:cNvPr id="27" name="loop-note"/>
          <p:cNvSpPr/>
          <p:nvPr/>
        </p:nvSpPr>
        <p:spPr>
          <a:xfrm>
            <a:off x="6254496" y="1874520"/>
            <a:ext cx="5294376" cy="1143000"/>
          </a:xfrm>
          <a:prstGeom prst="roundRect">
            <a:avLst>
              <a:gd name="adj" fmla="val 320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loop-note-head"/>
          <p:cNvSpPr txBox="1"/>
          <p:nvPr/>
        </p:nvSpPr>
        <p:spPr>
          <a:xfrm>
            <a:off x="6528816" y="2112264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F"/>
                </a:solidFill>
              </a:rPr>
              <a:t>Ten minutes, start to finish</a:t>
            </a:r>
            <a:endParaRPr lang="en-US" sz="1500" dirty="0"/>
          </a:p>
        </p:txBody>
      </p:sp>
      <p:sp>
        <p:nvSpPr>
          <p:cNvPr id="29" name="loop-note-text"/>
          <p:cNvSpPr txBox="1"/>
          <p:nvPr/>
        </p:nvSpPr>
        <p:spPr>
          <a:xfrm>
            <a:off x="6528816" y="258775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The judgment took longer than the code.</a:t>
            </a:r>
            <a:endParaRPr lang="en-US" sz="1300" dirty="0"/>
          </a:p>
        </p:txBody>
      </p:sp>
      <p:sp>
        <p:nvSpPr>
          <p:cNvPr id="31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1  THE SHIFT"/>
          <p:cNvSpPr/>
          <p:nvPr/>
        </p:nvSpPr>
        <p:spPr>
          <a:xfrm>
            <a:off x="640080" y="457200"/>
            <a:ext cx="1677924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1  THE SHIFT"/>
          <p:cNvSpPr txBox="1"/>
          <p:nvPr/>
        </p:nvSpPr>
        <p:spPr>
          <a:xfrm>
            <a:off x="640080" y="457200"/>
            <a:ext cx="1677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THE SHIFT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The mental shift that matters</a:t>
            </a:r>
            <a:endParaRPr lang="en-US" sz="3300" dirty="0"/>
          </a:p>
        </p:txBody>
      </p:sp>
      <p:sp>
        <p:nvSpPr>
          <p:cNvPr id="5" name="shift-a"/>
          <p:cNvSpPr/>
          <p:nvPr/>
        </p:nvSpPr>
        <p:spPr>
          <a:xfrm>
            <a:off x="640080" y="1874520"/>
            <a:ext cx="5303520" cy="3566160"/>
          </a:xfrm>
          <a:prstGeom prst="roundRect">
            <a:avLst>
              <a:gd name="adj" fmla="val 1026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ift-a-head"/>
          <p:cNvSpPr txBox="1"/>
          <p:nvPr/>
        </p:nvSpPr>
        <p:spPr>
          <a:xfrm>
            <a:off x="9144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</a:rPr>
              <a:t>Not this</a:t>
            </a:r>
            <a:endParaRPr lang="en-US" sz="1800" dirty="0"/>
          </a:p>
        </p:txBody>
      </p:sp>
      <p:sp>
        <p:nvSpPr>
          <p:cNvPr id="7" name="shift-a-text"/>
          <p:cNvSpPr txBox="1"/>
          <p:nvPr/>
        </p:nvSpPr>
        <p:spPr>
          <a:xfrm>
            <a:off x="914400" y="2587752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“Write me a scraper for this crime log.”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You get something that works today, makes a hundred silent decisions, and you cannot defend any of them.</a:t>
            </a:r>
            <a:endParaRPr lang="en-US" sz="1400" dirty="0"/>
          </a:p>
        </p:txBody>
      </p:sp>
      <p:sp>
        <p:nvSpPr>
          <p:cNvPr id="8" name="shift-b"/>
          <p:cNvSpPr/>
          <p:nvPr/>
        </p:nvSpPr>
        <p:spPr>
          <a:xfrm>
            <a:off x="6629400" y="1874520"/>
            <a:ext cx="4919472" cy="3566160"/>
          </a:xfrm>
          <a:prstGeom prst="roundRect">
            <a:avLst>
              <a:gd name="adj" fmla="val 1026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ift-b-head"/>
          <p:cNvSpPr txBox="1"/>
          <p:nvPr/>
        </p:nvSpPr>
        <p:spPr>
          <a:xfrm>
            <a:off x="6903720" y="211226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A89E"/>
                </a:solidFill>
              </a:rPr>
              <a:t>This</a:t>
            </a:r>
            <a:endParaRPr lang="en-US" sz="1800" dirty="0"/>
          </a:p>
        </p:txBody>
      </p:sp>
      <p:sp>
        <p:nvSpPr>
          <p:cNvPr id="10" name="shift-b-text"/>
          <p:cNvSpPr txBox="1"/>
          <p:nvPr/>
        </p:nvSpPr>
        <p:spPr>
          <a:xfrm>
            <a:off x="6903720" y="2587752"/>
            <a:ext cx="43708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“The occurred-date column sometimes just says Unknown. Never guess a month from one. Count those rows separately and put the number on the page.”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You supply the editorial judgment. It supplies the typing.</a:t>
            </a:r>
            <a:endParaRPr lang="en-US" sz="1400" dirty="0"/>
          </a:p>
        </p:txBody>
      </p:sp>
      <p:sp>
        <p:nvSpPr>
          <p:cNvPr id="11" name="note-shift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3A44"/>
                </a:solidFill>
              </a:rPr>
              <a:t>You are not short of code. You are short of someone to argue with about what the number means.</a:t>
            </a:r>
            <a:endParaRPr lang="en-US" sz="160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2  GITHUB"/>
          <p:cNvSpPr/>
          <p:nvPr/>
        </p:nvSpPr>
        <p:spPr>
          <a:xfrm>
            <a:off x="640080" y="457200"/>
            <a:ext cx="1362456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2  GITHUB"/>
          <p:cNvSpPr txBox="1"/>
          <p:nvPr/>
        </p:nvSpPr>
        <p:spPr>
          <a:xfrm>
            <a:off x="640080" y="4572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GITHUB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GitHub does two jobs here</a:t>
            </a:r>
            <a:endParaRPr lang="en-US" sz="3300" dirty="0"/>
          </a:p>
        </p:txBody>
      </p:sp>
      <p:sp>
        <p:nvSpPr>
          <p:cNvPr id="5" name="gh-1"/>
          <p:cNvSpPr/>
          <p:nvPr/>
        </p:nvSpPr>
        <p:spPr>
          <a:xfrm>
            <a:off x="640080" y="1874520"/>
            <a:ext cx="5303520" cy="2240280"/>
          </a:xfrm>
          <a:prstGeom prst="roundRect">
            <a:avLst>
              <a:gd name="adj" fmla="val 1633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gh-1-num-bg"/>
          <p:cNvSpPr/>
          <p:nvPr/>
        </p:nvSpPr>
        <p:spPr>
          <a:xfrm>
            <a:off x="877824" y="2112264"/>
            <a:ext cx="384048" cy="384048"/>
          </a:xfrm>
          <a:prstGeom prst="ellipse">
            <a:avLst/>
          </a:prstGeom>
          <a:solidFill>
            <a:srgbClr val="2A4D6E"/>
          </a:solidFill>
          <a:ln/>
        </p:spPr>
      </p:sp>
      <p:sp>
        <p:nvSpPr>
          <p:cNvPr id="7" name="gh-1-num"/>
          <p:cNvSpPr txBox="1"/>
          <p:nvPr/>
        </p:nvSpPr>
        <p:spPr>
          <a:xfrm>
            <a:off x="87782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gh-1-head"/>
          <p:cNvSpPr txBox="1"/>
          <p:nvPr/>
        </p:nvSpPr>
        <p:spPr>
          <a:xfrm>
            <a:off x="1408176" y="207568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 public, timestamped audit trail</a:t>
            </a:r>
            <a:endParaRPr lang="en-US" sz="1600" dirty="0"/>
          </a:p>
        </p:txBody>
      </p:sp>
      <p:sp>
        <p:nvSpPr>
          <p:cNvPr id="9" name="gh-1-text"/>
          <p:cNvSpPr txBox="1"/>
          <p:nvPr/>
        </p:nvSpPr>
        <p:spPr>
          <a:xfrm>
            <a:off x="1408176" y="2587752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55 commits so far. Each is a dated receipt saying what the archive looked like at that moment. Anyone can check your work against it — including the institution you are writing about.</a:t>
            </a:r>
            <a:endParaRPr lang="en-US" sz="1400" dirty="0"/>
          </a:p>
        </p:txBody>
      </p:sp>
      <p:sp>
        <p:nvSpPr>
          <p:cNvPr id="10" name="gh-2"/>
          <p:cNvSpPr/>
          <p:nvPr/>
        </p:nvSpPr>
        <p:spPr>
          <a:xfrm>
            <a:off x="6629400" y="1874520"/>
            <a:ext cx="4919472" cy="2240280"/>
          </a:xfrm>
          <a:prstGeom prst="roundRect">
            <a:avLst>
              <a:gd name="adj" fmla="val 1633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gh-2-num-bg"/>
          <p:cNvSpPr/>
          <p:nvPr/>
        </p:nvSpPr>
        <p:spPr>
          <a:xfrm>
            <a:off x="6867144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2" name="gh-2-num"/>
          <p:cNvSpPr txBox="1"/>
          <p:nvPr/>
        </p:nvSpPr>
        <p:spPr>
          <a:xfrm>
            <a:off x="686714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gh-2-head"/>
          <p:cNvSpPr txBox="1"/>
          <p:nvPr/>
        </p:nvSpPr>
        <p:spPr>
          <a:xfrm>
            <a:off x="7397496" y="207568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 free robot</a:t>
            </a:r>
            <a:endParaRPr lang="en-US" sz="1600" dirty="0"/>
          </a:p>
        </p:txBody>
      </p:sp>
      <p:sp>
        <p:nvSpPr>
          <p:cNvPr id="14" name="gh-2-text"/>
          <p:cNvSpPr txBox="1"/>
          <p:nvPr/>
        </p:nvSpPr>
        <p:spPr>
          <a:xfrm>
            <a:off x="7397496" y="2587752"/>
            <a:ext cx="38770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GitHub Actions runs the whole pipeline twice a day on someone else's computer. Your laptop can be shut. This costs nothing for a public repository.</a:t>
            </a:r>
            <a:endParaRPr lang="en-US" sz="1400" dirty="0"/>
          </a:p>
        </p:txBody>
      </p:sp>
      <p:sp>
        <p:nvSpPr>
          <p:cNvPr id="15" name="gh-3"/>
          <p:cNvSpPr/>
          <p:nvPr/>
        </p:nvSpPr>
        <p:spPr>
          <a:xfrm>
            <a:off x="640080" y="4297680"/>
            <a:ext cx="10908792" cy="1463040"/>
          </a:xfrm>
          <a:prstGeom prst="roundRect">
            <a:avLst>
              <a:gd name="adj" fmla="val 2500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gh-3-head"/>
          <p:cNvSpPr txBox="1"/>
          <p:nvPr/>
        </p:nvSpPr>
        <p:spPr>
          <a:xfrm>
            <a:off x="914400" y="45354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4A"/>
                </a:solidFill>
              </a:rPr>
              <a:t>The part people miss</a:t>
            </a:r>
            <a:endParaRPr lang="en-US" sz="1600" dirty="0"/>
          </a:p>
        </p:txBody>
      </p:sp>
      <p:sp>
        <p:nvSpPr>
          <p:cNvPr id="17" name="gh-3-text"/>
          <p:cNvSpPr txBox="1"/>
          <p:nvPr/>
        </p:nvSpPr>
        <p:spPr>
          <a:xfrm>
            <a:off x="914400" y="501091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Publishing the archive publicly is itself an editorial act. It means the record survives you losing interest, changing jobs, or losing a laptop.</a:t>
            </a:r>
            <a:endParaRPr lang="en-US" sz="1400" dirty="0"/>
          </a:p>
        </p:txBody>
      </p:sp>
      <p:sp>
        <p:nvSpPr>
          <p:cNvPr id="19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3  GIT"/>
          <p:cNvSpPr/>
          <p:nvPr/>
        </p:nvSpPr>
        <p:spPr>
          <a:xfrm>
            <a:off x="640080" y="457200"/>
            <a:ext cx="1046988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3  GIT"/>
          <p:cNvSpPr txBox="1"/>
          <p:nvPr/>
        </p:nvSpPr>
        <p:spPr>
          <a:xfrm>
            <a:off x="640080" y="457200"/>
            <a:ext cx="1046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GIT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Git, in one idea</a:t>
            </a:r>
            <a:endParaRPr lang="en-US" sz="3300" dirty="0"/>
          </a:p>
        </p:txBody>
      </p:sp>
      <p:sp>
        <p:nvSpPr>
          <p:cNvPr id="5" name="git-idea"/>
          <p:cNvSpPr txBox="1"/>
          <p:nvPr/>
        </p:nvSpPr>
        <p:spPr>
          <a:xfrm>
            <a:off x="640080" y="1874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1F"/>
                </a:solidFill>
              </a:rPr>
              <a:t>A commit is a labeled snapshot you can always go back to</a:t>
            </a:r>
            <a:endParaRPr lang="en-US" sz="2400" dirty="0"/>
          </a:p>
        </p:txBody>
      </p:sp>
      <p:sp>
        <p:nvSpPr>
          <p:cNvPr id="6" name="term-git"/>
          <p:cNvSpPr/>
          <p:nvPr/>
        </p:nvSpPr>
        <p:spPr>
          <a:xfrm>
            <a:off x="640080" y="2743200"/>
            <a:ext cx="10908792" cy="1874520"/>
          </a:xfrm>
          <a:prstGeom prst="roundRect">
            <a:avLst>
              <a:gd name="adj" fmla="val 1951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rm-git-text"/>
          <p:cNvSpPr txBox="1"/>
          <p:nvPr/>
        </p:nvSpPr>
        <p:spPr>
          <a:xfrm>
            <a:off x="877824" y="2944368"/>
            <a:ext cx="104515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6b3bb0f New category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4e37154 data: +5 added, 4 amended, 1 missing — 2026-10-15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a4460ca update mapping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1c8dabc data: +0 added, 0 amended, 0 missing — 2026-10-12</a:t>
            </a:r>
            <a:endParaRPr lang="en-US" sz="1250" dirty="0"/>
          </a:p>
        </p:txBody>
      </p:sp>
      <p:sp>
        <p:nvSpPr>
          <p:cNvPr id="8" name="note-git"/>
          <p:cNvSpPr txBox="1"/>
          <p:nvPr/>
        </p:nvSpPr>
        <p:spPr>
          <a:xfrm>
            <a:off x="640080" y="48463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A44"/>
                </a:solidFill>
              </a:rPr>
              <a:t>The robot writes one of these every run, change or no change — so the log itself becomes the audit trail. A quiet day is evidence too.</a:t>
            </a:r>
            <a:endParaRPr lang="en-US" sz="1600" dirty="0"/>
          </a:p>
        </p:txBody>
      </p:sp>
      <p:sp>
        <p:nvSpPr>
          <p:cNvPr id="10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4  AUTOMATION"/>
          <p:cNvSpPr/>
          <p:nvPr/>
        </p:nvSpPr>
        <p:spPr>
          <a:xfrm>
            <a:off x="640080" y="4572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4  AUTOMATION"/>
          <p:cNvSpPr txBox="1"/>
          <p:nvPr/>
        </p:nvSpPr>
        <p:spPr>
          <a:xfrm>
            <a:off x="640080" y="457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AUTOMATION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Cron with receipts</a:t>
            </a:r>
            <a:endParaRPr lang="en-US" sz="3300" dirty="0"/>
          </a:p>
        </p:txBody>
      </p:sp>
      <p:sp>
        <p:nvSpPr>
          <p:cNvPr id="5" name="term-cron"/>
          <p:cNvSpPr/>
          <p:nvPr/>
        </p:nvSpPr>
        <p:spPr>
          <a:xfrm>
            <a:off x="640080" y="1874520"/>
            <a:ext cx="5577840" cy="1783080"/>
          </a:xfrm>
          <a:prstGeom prst="roundRect">
            <a:avLst>
              <a:gd name="adj" fmla="val 2051"/>
            </a:avLst>
          </a:prstGeom>
          <a:solidFill>
            <a:srgbClr val="141A1F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rm-cron-text"/>
          <p:cNvSpPr txBox="1"/>
          <p:nvPr/>
        </p:nvSpPr>
        <p:spPr>
          <a:xfrm>
            <a:off x="877824" y="2075688"/>
            <a:ext cx="51206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.github/workflows/daily.yml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"17 9 * * *"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"17 21 * * *"</a:t>
            </a:r>
            <a:endParaRPr lang="en-US" sz="1300" dirty="0"/>
          </a:p>
        </p:txBody>
      </p:sp>
      <p:sp>
        <p:nvSpPr>
          <p:cNvPr id="7" name="cron-a"/>
          <p:cNvSpPr/>
          <p:nvPr/>
        </p:nvSpPr>
        <p:spPr>
          <a:xfrm>
            <a:off x="6720840" y="1874520"/>
            <a:ext cx="4828032" cy="1783080"/>
          </a:xfrm>
          <a:prstGeom prst="roundRect">
            <a:avLst>
              <a:gd name="adj" fmla="val 205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cron-a-head"/>
          <p:cNvSpPr txBox="1"/>
          <p:nvPr/>
        </p:nvSpPr>
        <p:spPr>
          <a:xfrm>
            <a:off x="6995160" y="211226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Why twice</a:t>
            </a:r>
            <a:endParaRPr lang="en-US" sz="1600" dirty="0"/>
          </a:p>
        </p:txBody>
      </p:sp>
      <p:sp>
        <p:nvSpPr>
          <p:cNvPr id="9" name="cron-a-text"/>
          <p:cNvSpPr txBox="1"/>
          <p:nvPr/>
        </p:nvSpPr>
        <p:spPr>
          <a:xfrm>
            <a:off x="6995160" y="2587752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Scheduled runs on free infrastructure get delayed and sometimes skipped entirely. The second run is cheap insurance.</a:t>
            </a:r>
            <a:endParaRPr lang="en-US" sz="1300" dirty="0"/>
          </a:p>
        </p:txBody>
      </p:sp>
      <p:sp>
        <p:nvSpPr>
          <p:cNvPr id="10" name="cron-b"/>
          <p:cNvSpPr/>
          <p:nvPr/>
        </p:nvSpPr>
        <p:spPr>
          <a:xfrm>
            <a:off x="640080" y="3977640"/>
            <a:ext cx="5577840" cy="1691640"/>
          </a:xfrm>
          <a:prstGeom prst="roundRect">
            <a:avLst>
              <a:gd name="adj" fmla="val 2162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cron-b-head"/>
          <p:cNvSpPr txBox="1"/>
          <p:nvPr/>
        </p:nvSpPr>
        <p:spPr>
          <a:xfrm>
            <a:off x="914400" y="4215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Why an odd minute</a:t>
            </a:r>
            <a:endParaRPr lang="en-US" sz="1600" dirty="0"/>
          </a:p>
        </p:txBody>
      </p:sp>
      <p:sp>
        <p:nvSpPr>
          <p:cNvPr id="12" name="cron-b-text"/>
          <p:cNvSpPr txBox="1"/>
          <p:nvPr/>
        </p:nvSpPr>
        <p:spPr>
          <a:xfrm>
            <a:off x="914400" y="4690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Everyone schedules on the hour. Queueing at :17 gets you served sooner.</a:t>
            </a:r>
            <a:endParaRPr lang="en-US" sz="1300" dirty="0"/>
          </a:p>
        </p:txBody>
      </p:sp>
      <p:sp>
        <p:nvSpPr>
          <p:cNvPr id="13" name="cron-c"/>
          <p:cNvSpPr/>
          <p:nvPr/>
        </p:nvSpPr>
        <p:spPr>
          <a:xfrm>
            <a:off x="6720840" y="3977640"/>
            <a:ext cx="4828032" cy="1691640"/>
          </a:xfrm>
          <a:prstGeom prst="roundRect">
            <a:avLst>
              <a:gd name="adj" fmla="val 2162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cron-c-head"/>
          <p:cNvSpPr txBox="1"/>
          <p:nvPr/>
        </p:nvSpPr>
        <p:spPr>
          <a:xfrm>
            <a:off x="6995160" y="421538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94A"/>
                </a:solidFill>
              </a:rPr>
              <a:t>Why commit even when nothing changed</a:t>
            </a:r>
            <a:endParaRPr lang="en-US" sz="1500" dirty="0"/>
          </a:p>
        </p:txBody>
      </p:sp>
      <p:sp>
        <p:nvSpPr>
          <p:cNvPr id="15" name="cron-c-text"/>
          <p:cNvSpPr txBox="1"/>
          <p:nvPr/>
        </p:nvSpPr>
        <p:spPr>
          <a:xfrm>
            <a:off x="6995160" y="4690872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3F5"/>
                </a:solidFill>
              </a:rPr>
              <a:t>GitHub switches off scheduled jobs after 60 days of no commits. A silent scraper that has quietly stopped is worse than no scraper.</a:t>
            </a:r>
            <a:endParaRPr lang="en-US" sz="1300" dirty="0"/>
          </a:p>
        </p:txBody>
      </p:sp>
      <p:sp>
        <p:nvSpPr>
          <p:cNvPr id="17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PART THREE"/>
          <p:cNvSpPr/>
          <p:nvPr/>
        </p:nvSpPr>
        <p:spPr>
          <a:xfrm>
            <a:off x="640080" y="2240280"/>
            <a:ext cx="1362456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PART THREE"/>
          <p:cNvSpPr txBox="1"/>
          <p:nvPr/>
        </p:nvSpPr>
        <p:spPr>
          <a:xfrm>
            <a:off x="640080" y="22402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651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code was the easy part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1605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Five rules. Every one of them exists because the convenient shortcut would have produced a number I could not defend in print.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1"/>
          <p:cNvSpPr/>
          <p:nvPr/>
        </p:nvSpPr>
        <p:spPr>
          <a:xfrm>
            <a:off x="640080" y="457200"/>
            <a:ext cx="941832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RULE 1"/>
          <p:cNvSpPr txBox="1"/>
          <p:nvPr/>
        </p:nvSpPr>
        <p:spPr>
          <a:xfrm>
            <a:off x="640080" y="45720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Raw capture is immutable</a:t>
            </a:r>
            <a:endParaRPr lang="en-US" sz="3300" dirty="0"/>
          </a:p>
        </p:txBody>
      </p:sp>
      <p:sp>
        <p:nvSpPr>
          <p:cNvPr id="5" name="r1-0"/>
          <p:cNvSpPr/>
          <p:nvPr/>
        </p:nvSpPr>
        <p:spPr>
          <a:xfrm>
            <a:off x="640080" y="1874520"/>
            <a:ext cx="3502152" cy="1920240"/>
          </a:xfrm>
          <a:prstGeom prst="roundRect">
            <a:avLst>
              <a:gd name="adj" fmla="val 1905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r1-0-num-bg"/>
          <p:cNvSpPr/>
          <p:nvPr/>
        </p:nvSpPr>
        <p:spPr>
          <a:xfrm>
            <a:off x="877824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7" name="r1-0-num"/>
          <p:cNvSpPr txBox="1"/>
          <p:nvPr/>
        </p:nvSpPr>
        <p:spPr>
          <a:xfrm>
            <a:off x="87782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r1-0-head"/>
          <p:cNvSpPr txBox="1"/>
          <p:nvPr/>
        </p:nvSpPr>
        <p:spPr>
          <a:xfrm>
            <a:off x="1408176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Download</a:t>
            </a:r>
            <a:endParaRPr lang="en-US" sz="1600" dirty="0"/>
          </a:p>
        </p:txBody>
      </p:sp>
      <p:sp>
        <p:nvSpPr>
          <p:cNvPr id="9" name="r1-0-text"/>
          <p:cNvSpPr txBox="1"/>
          <p:nvPr/>
        </p:nvSpPr>
        <p:spPr>
          <a:xfrm>
            <a:off x="1408176" y="2587752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Fetch the CSV exactly as the server sends it.</a:t>
            </a:r>
            <a:endParaRPr lang="en-US" sz="1300" dirty="0"/>
          </a:p>
        </p:txBody>
      </p:sp>
      <p:sp>
        <p:nvSpPr>
          <p:cNvPr id="10" name="r1-1"/>
          <p:cNvSpPr/>
          <p:nvPr/>
        </p:nvSpPr>
        <p:spPr>
          <a:xfrm>
            <a:off x="4325112" y="1874520"/>
            <a:ext cx="3502152" cy="1920240"/>
          </a:xfrm>
          <a:prstGeom prst="roundRect">
            <a:avLst>
              <a:gd name="adj" fmla="val 1905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r1-1-num-bg"/>
          <p:cNvSpPr/>
          <p:nvPr/>
        </p:nvSpPr>
        <p:spPr>
          <a:xfrm>
            <a:off x="4562856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2" name="r1-1-num"/>
          <p:cNvSpPr txBox="1"/>
          <p:nvPr/>
        </p:nvSpPr>
        <p:spPr>
          <a:xfrm>
            <a:off x="45628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r1-1-head"/>
          <p:cNvSpPr txBox="1"/>
          <p:nvPr/>
        </p:nvSpPr>
        <p:spPr>
          <a:xfrm>
            <a:off x="5093208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Write once</a:t>
            </a:r>
            <a:endParaRPr lang="en-US" sz="1600" dirty="0"/>
          </a:p>
        </p:txBody>
      </p:sp>
      <p:sp>
        <p:nvSpPr>
          <p:cNvPr id="14" name="r1-1-text"/>
          <p:cNvSpPr txBox="1"/>
          <p:nvPr/>
        </p:nvSpPr>
        <p:spPr>
          <a:xfrm>
            <a:off x="5093208" y="2587752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Save the bytes to a dated file and never touch them again.</a:t>
            </a:r>
            <a:endParaRPr lang="en-US" sz="1300" dirty="0"/>
          </a:p>
        </p:txBody>
      </p:sp>
      <p:sp>
        <p:nvSpPr>
          <p:cNvPr id="15" name="r1-2"/>
          <p:cNvSpPr/>
          <p:nvPr/>
        </p:nvSpPr>
        <p:spPr>
          <a:xfrm>
            <a:off x="8010144" y="1874520"/>
            <a:ext cx="3502152" cy="1920240"/>
          </a:xfrm>
          <a:prstGeom prst="roundRect">
            <a:avLst>
              <a:gd name="adj" fmla="val 1905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r1-2-num-bg"/>
          <p:cNvSpPr/>
          <p:nvPr/>
        </p:nvSpPr>
        <p:spPr>
          <a:xfrm>
            <a:off x="8247888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7" name="r1-2-num"/>
          <p:cNvSpPr txBox="1"/>
          <p:nvPr/>
        </p:nvSpPr>
        <p:spPr>
          <a:xfrm>
            <a:off x="824788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r1-2-head"/>
          <p:cNvSpPr txBox="1"/>
          <p:nvPr/>
        </p:nvSpPr>
        <p:spPr>
          <a:xfrm>
            <a:off x="8778240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Verify</a:t>
            </a:r>
            <a:endParaRPr lang="en-US" sz="1600" dirty="0"/>
          </a:p>
        </p:txBody>
      </p:sp>
      <p:sp>
        <p:nvSpPr>
          <p:cNvPr id="19" name="r1-2-text"/>
          <p:cNvSpPr txBox="1"/>
          <p:nvPr/>
        </p:nvSpPr>
        <p:spPr>
          <a:xfrm>
            <a:off x="8778240" y="2587752"/>
            <a:ext cx="2459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A step in every run checks that raw was only added to, never modified.</a:t>
            </a:r>
            <a:endParaRPr lang="en-US" sz="1300" dirty="0"/>
          </a:p>
        </p:txBody>
      </p:sp>
      <p:sp>
        <p:nvSpPr>
          <p:cNvPr id="20" name="stat-dated snapsh"/>
          <p:cNvSpPr txBox="1"/>
          <p:nvPr/>
        </p:nvSpPr>
        <p:spPr>
          <a:xfrm>
            <a:off x="64008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F6F6B"/>
                </a:solidFill>
              </a:rPr>
              <a:t>24</a:t>
            </a:r>
            <a:endParaRPr lang="en-US" sz="5200" dirty="0"/>
          </a:p>
        </p:txBody>
      </p:sp>
      <p:sp>
        <p:nvSpPr>
          <p:cNvPr id="21" name="statlabel-dated snapsh"/>
          <p:cNvSpPr txBox="1"/>
          <p:nvPr/>
        </p:nvSpPr>
        <p:spPr>
          <a:xfrm>
            <a:off x="640080" y="50200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dated snapshots on disk</a:t>
            </a:r>
            <a:endParaRPr lang="en-US" sz="1400" dirty="0"/>
          </a:p>
        </p:txBody>
      </p:sp>
      <p:sp>
        <p:nvSpPr>
          <p:cNvPr id="22" name="note-r1"/>
          <p:cNvSpPr txBox="1"/>
          <p:nvPr/>
        </p:nvSpPr>
        <p:spPr>
          <a:xfrm>
            <a:off x="4023360" y="4251960"/>
            <a:ext cx="7525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E3A44"/>
                </a:solidFill>
              </a:rPr>
              <a:t>Every transformation produces a new file. If a category turns out to be wrong, you re-derive from raw — you do not repair the archive and hope nobody asks.</a:t>
            </a:r>
            <a:endParaRPr lang="en-US" sz="1600" dirty="0"/>
          </a:p>
        </p:txBody>
      </p:sp>
      <p:sp>
        <p:nvSpPr>
          <p:cNvPr id="24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2"/>
          <p:cNvSpPr/>
          <p:nvPr/>
        </p:nvSpPr>
        <p:spPr>
          <a:xfrm>
            <a:off x="640080" y="457200"/>
            <a:ext cx="941832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RULE 2"/>
          <p:cNvSpPr txBox="1"/>
          <p:nvPr/>
        </p:nvSpPr>
        <p:spPr>
          <a:xfrm>
            <a:off x="640080" y="45720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Nothing is ever deleted</a:t>
            </a:r>
            <a:endParaRPr lang="en-US" sz="3300" dirty="0"/>
          </a:p>
        </p:txBody>
      </p:sp>
      <p:sp>
        <p:nvSpPr>
          <p:cNvPr id="5" name="stat-incidents ad"/>
          <p:cNvSpPr txBox="1"/>
          <p:nvPr/>
        </p:nvSpPr>
        <p:spPr>
          <a:xfrm>
            <a:off x="64008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4D6E"/>
                </a:solidFill>
              </a:rPr>
              <a:t>2,449</a:t>
            </a:r>
            <a:endParaRPr lang="en-US" sz="5400" dirty="0"/>
          </a:p>
        </p:txBody>
      </p:sp>
      <p:sp>
        <p:nvSpPr>
          <p:cNvPr id="6" name="statlabel-incidents ad"/>
          <p:cNvSpPr txBox="1"/>
          <p:nvPr/>
        </p:nvSpPr>
        <p:spPr>
          <a:xfrm>
            <a:off x="640080" y="27797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incidents added</a:t>
            </a:r>
            <a:endParaRPr lang="en-US" sz="1400" dirty="0"/>
          </a:p>
        </p:txBody>
      </p:sp>
      <p:sp>
        <p:nvSpPr>
          <p:cNvPr id="7" name="stat-revised afte"/>
          <p:cNvSpPr txBox="1"/>
          <p:nvPr/>
        </p:nvSpPr>
        <p:spPr>
          <a:xfrm>
            <a:off x="448056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8761B"/>
                </a:solidFill>
              </a:rPr>
              <a:t>129</a:t>
            </a:r>
            <a:endParaRPr lang="en-US" sz="5400" dirty="0"/>
          </a:p>
        </p:txBody>
      </p:sp>
      <p:sp>
        <p:nvSpPr>
          <p:cNvPr id="8" name="statlabel-revised afte"/>
          <p:cNvSpPr txBox="1"/>
          <p:nvPr/>
        </p:nvSpPr>
        <p:spPr>
          <a:xfrm>
            <a:off x="4480560" y="27797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revised after publication</a:t>
            </a:r>
            <a:endParaRPr lang="en-US" sz="1400" dirty="0"/>
          </a:p>
        </p:txBody>
      </p:sp>
      <p:sp>
        <p:nvSpPr>
          <p:cNvPr id="9" name="stat-whose source"/>
          <p:cNvSpPr txBox="1"/>
          <p:nvPr/>
        </p:nvSpPr>
        <p:spPr>
          <a:xfrm>
            <a:off x="832104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8453C"/>
                </a:solidFill>
              </a:rPr>
              <a:t>14</a:t>
            </a:r>
            <a:endParaRPr lang="en-US" sz="5400" dirty="0"/>
          </a:p>
        </p:txBody>
      </p:sp>
      <p:sp>
        <p:nvSpPr>
          <p:cNvPr id="10" name="statlabel-whose source"/>
          <p:cNvSpPr txBox="1"/>
          <p:nvPr/>
        </p:nvSpPr>
        <p:spPr>
          <a:xfrm>
            <a:off x="8321040" y="27797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whose source stopped being shared</a:t>
            </a:r>
            <a:endParaRPr lang="en-US" sz="1400" dirty="0"/>
          </a:p>
        </p:txBody>
      </p:sp>
      <p:sp>
        <p:nvSpPr>
          <p:cNvPr id="11" name="r2-a"/>
          <p:cNvSpPr/>
          <p:nvPr/>
        </p:nvSpPr>
        <p:spPr>
          <a:xfrm>
            <a:off x="640080" y="3703320"/>
            <a:ext cx="5303520" cy="1965960"/>
          </a:xfrm>
          <a:prstGeom prst="roundRect">
            <a:avLst>
              <a:gd name="adj" fmla="val 186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r2-a-head"/>
          <p:cNvSpPr txBox="1"/>
          <p:nvPr/>
        </p:nvSpPr>
        <p:spPr>
          <a:xfrm>
            <a:off x="914400" y="39410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 row that vanishes is marked, not removed</a:t>
            </a:r>
            <a:endParaRPr lang="en-US" sz="1600" dirty="0"/>
          </a:p>
        </p:txBody>
      </p:sp>
      <p:sp>
        <p:nvSpPr>
          <p:cNvPr id="13" name="r2-a-text"/>
          <p:cNvSpPr txBox="1"/>
          <p:nvPr/>
        </p:nvSpPr>
        <p:spPr>
          <a:xfrm>
            <a:off x="914400" y="441655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It keeps its place, with a flag saying the source stopped listing it and the date that happened.</a:t>
            </a:r>
            <a:endParaRPr lang="en-US" sz="1400" dirty="0"/>
          </a:p>
        </p:txBody>
      </p:sp>
      <p:sp>
        <p:nvSpPr>
          <p:cNvPr id="14" name="r2-b"/>
          <p:cNvSpPr/>
          <p:nvPr/>
        </p:nvSpPr>
        <p:spPr>
          <a:xfrm>
            <a:off x="6629400" y="3703320"/>
            <a:ext cx="4919472" cy="1965960"/>
          </a:xfrm>
          <a:prstGeom prst="roundRect">
            <a:avLst>
              <a:gd name="adj" fmla="val 1860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r2-b-head"/>
          <p:cNvSpPr txBox="1"/>
          <p:nvPr/>
        </p:nvSpPr>
        <p:spPr>
          <a:xfrm>
            <a:off x="6903720" y="394106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4A"/>
                </a:solidFill>
              </a:rPr>
              <a:t>And only after three strikes</a:t>
            </a:r>
            <a:endParaRPr lang="en-US" sz="1600" dirty="0"/>
          </a:p>
        </p:txBody>
      </p:sp>
      <p:sp>
        <p:nvSpPr>
          <p:cNvPr id="16" name="r2-b-text"/>
          <p:cNvSpPr txBox="1"/>
          <p:nvPr/>
        </p:nvSpPr>
        <p:spPr>
          <a:xfrm>
            <a:off x="6903720" y="4416552"/>
            <a:ext cx="4370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Live sheets get edited mid-day. A row missing once is usually a typo in progress — so it takes three consecutive runs to call it gone.</a:t>
            </a:r>
            <a:endParaRPr lang="en-US" sz="1400" dirty="0"/>
          </a:p>
        </p:txBody>
      </p:sp>
      <p:sp>
        <p:nvSpPr>
          <p:cNvPr id="18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3"/>
          <p:cNvSpPr/>
          <p:nvPr/>
        </p:nvSpPr>
        <p:spPr>
          <a:xfrm>
            <a:off x="640080" y="457200"/>
            <a:ext cx="941832" cy="292608"/>
          </a:xfrm>
          <a:prstGeom prst="roundRect">
            <a:avLst>
              <a:gd name="adj" fmla="val 15625"/>
            </a:avLst>
          </a:prstGeom>
          <a:solidFill>
            <a:srgbClr val="C8453C"/>
          </a:solidFill>
          <a:ln/>
        </p:spPr>
      </p:sp>
      <p:sp>
        <p:nvSpPr>
          <p:cNvPr id="3" name="chip-RULE 3"/>
          <p:cNvSpPr txBox="1"/>
          <p:nvPr/>
        </p:nvSpPr>
        <p:spPr>
          <a:xfrm>
            <a:off x="640080" y="45720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bg1"/>
                </a:solidFill>
              </a:rPr>
              <a:t>Fail loudly</a:t>
            </a:r>
            <a:endParaRPr lang="en-US" sz="3300" dirty="0"/>
          </a:p>
        </p:txBody>
      </p:sp>
      <p:sp>
        <p:nvSpPr>
          <p:cNvPr id="5" name="term-fail"/>
          <p:cNvSpPr/>
          <p:nvPr/>
        </p:nvSpPr>
        <p:spPr>
          <a:xfrm>
            <a:off x="640080" y="2011680"/>
            <a:ext cx="10908792" cy="2148840"/>
          </a:xfrm>
          <a:prstGeom prst="roundRect">
            <a:avLst>
              <a:gd name="adj" fmla="val 1702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rm-fail-text"/>
          <p:cNvSpPr txBox="1"/>
          <p:nvPr/>
        </p:nvSpPr>
        <p:spPr>
          <a:xfrm>
            <a:off x="877824" y="2212848"/>
            <a:ext cx="104515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MappingError: Unmapped Nature token(s):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84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['Offensive Language']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them to config/category_map.csv with a role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categories. Refusing to guess, because a wrong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silently undercounts a category.</a:t>
            </a:r>
            <a:endParaRPr lang="en-US" sz="1400" dirty="0"/>
          </a:p>
        </p:txBody>
      </p:sp>
      <p:sp>
        <p:nvSpPr>
          <p:cNvPr id="7" name="fail-caption"/>
          <p:cNvSpPr txBox="1"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 offense wording the project has never seen takes the entire build down. On purpose.</a:t>
            </a:r>
            <a:endParaRPr lang="en-US" sz="2000" dirty="0"/>
          </a:p>
        </p:txBody>
      </p:sp>
      <p:sp>
        <p:nvSpPr>
          <p:cNvPr id="8" name="fail-note"/>
          <p:cNvSpPr txBox="1"/>
          <p:nvPr/>
        </p:nvSpPr>
        <p:spPr>
          <a:xfrm>
            <a:off x="640080" y="5074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F3F5"/>
                </a:solidFill>
              </a:rPr>
              <a:t>That message is written to the person who will read it at 7am — including the reason, so the fix is not a guess either.</a:t>
            </a:r>
            <a:endParaRPr lang="en-US" sz="1500" dirty="0"/>
          </a:p>
        </p:txBody>
      </p:sp>
      <p:sp>
        <p:nvSpPr>
          <p:cNvPr id="10" name="Text 0"/>
          <p:cNvSpPr/>
          <p:nvPr>
            <p:ph idx="101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3  ·  WHY"/>
          <p:cNvSpPr/>
          <p:nvPr/>
        </p:nvSpPr>
        <p:spPr>
          <a:xfrm>
            <a:off x="640080" y="45720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RULE 3  ·  WHY"/>
          <p:cNvSpPr txBox="1"/>
          <p:nvPr/>
        </p:nvSpPr>
        <p:spPr>
          <a:xfrm>
            <a:off x="640080" y="457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3  ·  WHY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Why crashing is the right behaviour</a:t>
            </a:r>
            <a:endParaRPr lang="en-US" sz="3300" dirty="0"/>
          </a:p>
        </p:txBody>
      </p:sp>
      <p:sp>
        <p:nvSpPr>
          <p:cNvPr id="5" name="why-a"/>
          <p:cNvSpPr/>
          <p:nvPr/>
        </p:nvSpPr>
        <p:spPr>
          <a:xfrm>
            <a:off x="640080" y="1874520"/>
            <a:ext cx="5303520" cy="3108960"/>
          </a:xfrm>
          <a:prstGeom prst="roundRect">
            <a:avLst>
              <a:gd name="adj" fmla="val 1176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why-a-head"/>
          <p:cNvSpPr txBox="1"/>
          <p:nvPr/>
        </p:nvSpPr>
        <p:spPr>
          <a:xfrm>
            <a:off x="9144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</a:rPr>
              <a:t>The convenient option</a:t>
            </a:r>
            <a:endParaRPr lang="en-US" sz="1800" dirty="0"/>
          </a:p>
        </p:txBody>
      </p:sp>
      <p:sp>
        <p:nvSpPr>
          <p:cNvPr id="7" name="why-a-text"/>
          <p:cNvSpPr txBox="1"/>
          <p:nvPr/>
        </p:nvSpPr>
        <p:spPr>
          <a:xfrm>
            <a:off x="914400" y="2587752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Put anything unrecognised in “Other”.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The build stays green. Nobody gets woken up. And you publish a crime category that is quietly short by however many incidents used a new wording that month.</a:t>
            </a:r>
            <a:endParaRPr lang="en-US" sz="1400" dirty="0"/>
          </a:p>
        </p:txBody>
      </p:sp>
      <p:sp>
        <p:nvSpPr>
          <p:cNvPr id="8" name="why-b"/>
          <p:cNvSpPr/>
          <p:nvPr/>
        </p:nvSpPr>
        <p:spPr>
          <a:xfrm>
            <a:off x="6629400" y="1874520"/>
            <a:ext cx="4919472" cy="3108960"/>
          </a:xfrm>
          <a:prstGeom prst="roundRect">
            <a:avLst>
              <a:gd name="adj" fmla="val 1176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why-b-head"/>
          <p:cNvSpPr txBox="1"/>
          <p:nvPr/>
        </p:nvSpPr>
        <p:spPr>
          <a:xfrm>
            <a:off x="6903720" y="211226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A89E"/>
                </a:solidFill>
              </a:rPr>
              <a:t>The option we took</a:t>
            </a:r>
            <a:endParaRPr lang="en-US" sz="1800" dirty="0"/>
          </a:p>
        </p:txBody>
      </p:sp>
      <p:sp>
        <p:nvSpPr>
          <p:cNvPr id="10" name="why-b-text"/>
          <p:cNvSpPr txBox="1"/>
          <p:nvPr/>
        </p:nvSpPr>
        <p:spPr>
          <a:xfrm>
            <a:off x="6903720" y="2587752"/>
            <a:ext cx="4370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Stop everything.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Nothing publishes until a human has looked at the wording and decided which category it belongs in. The archive is never silently wrong.</a:t>
            </a:r>
            <a:endParaRPr lang="en-US" sz="1400" dirty="0"/>
          </a:p>
        </p:txBody>
      </p:sp>
      <p:sp>
        <p:nvSpPr>
          <p:cNvPr id="11" name="why-note"/>
          <p:cNvSpPr txBox="1"/>
          <p:nvPr/>
        </p:nvSpPr>
        <p:spPr>
          <a:xfrm>
            <a:off x="640080" y="51663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1F"/>
                </a:solidFill>
              </a:rPr>
              <a:t>An undercount published as a finding is the failure that would embarrass a reporter most. So it is the one the system is built to make impossible.</a:t>
            </a:r>
            <a:endParaRPr lang="en-US" sz="170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3  ·  THE"/>
          <p:cNvSpPr/>
          <p:nvPr/>
        </p:nvSpPr>
        <p:spPr>
          <a:xfrm>
            <a:off x="640080" y="457200"/>
            <a:ext cx="230886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RULE 3  ·  THE"/>
          <p:cNvSpPr txBox="1"/>
          <p:nvPr/>
        </p:nvSpPr>
        <p:spPr>
          <a:xfrm>
            <a:off x="640080" y="457200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3  ·  THE BILL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What that choice costs, honestly</a:t>
            </a:r>
            <a:endParaRPr lang="en-US" sz="3300" dirty="0"/>
          </a:p>
        </p:txBody>
      </p:sp>
      <p:sp>
        <p:nvSpPr>
          <p:cNvPr id="5" name="stat-breakages in"/>
          <p:cNvSpPr txBox="1"/>
          <p:nvPr/>
        </p:nvSpPr>
        <p:spPr>
          <a:xfrm>
            <a:off x="64008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8453C"/>
                </a:solidFill>
              </a:rPr>
              <a:t>4</a:t>
            </a:r>
            <a:endParaRPr lang="en-US" sz="5600" dirty="0"/>
          </a:p>
        </p:txBody>
      </p:sp>
      <p:sp>
        <p:nvSpPr>
          <p:cNvPr id="6" name="statlabel-breakages in"/>
          <p:cNvSpPr txBox="1"/>
          <p:nvPr/>
        </p:nvSpPr>
        <p:spPr>
          <a:xfrm>
            <a:off x="640080" y="27797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breakages in eight days, Oct. 9 to 16</a:t>
            </a:r>
            <a:endParaRPr lang="en-US" sz="1400" dirty="0"/>
          </a:p>
        </p:txBody>
      </p:sp>
      <p:sp>
        <p:nvSpPr>
          <p:cNvPr id="7" name="stat-distinct wor"/>
          <p:cNvSpPr txBox="1"/>
          <p:nvPr/>
        </p:nvSpPr>
        <p:spPr>
          <a:xfrm>
            <a:off x="448056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A4D6E"/>
                </a:solidFill>
              </a:rPr>
              <a:t>259</a:t>
            </a:r>
            <a:endParaRPr lang="en-US" sz="5600" dirty="0"/>
          </a:p>
        </p:txBody>
      </p:sp>
      <p:sp>
        <p:nvSpPr>
          <p:cNvPr id="8" name="statlabel-distinct wor"/>
          <p:cNvSpPr txBox="1"/>
          <p:nvPr/>
        </p:nvSpPr>
        <p:spPr>
          <a:xfrm>
            <a:off x="4480560" y="27797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distinct wordings mapped by hand, into 42 categories</a:t>
            </a:r>
            <a:endParaRPr lang="en-US" sz="1400" dirty="0"/>
          </a:p>
        </p:txBody>
      </p:sp>
      <p:sp>
        <p:nvSpPr>
          <p:cNvPr id="9" name="stat-spellings of"/>
          <p:cNvSpPr txBox="1"/>
          <p:nvPr/>
        </p:nvSpPr>
        <p:spPr>
          <a:xfrm>
            <a:off x="832104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A8761B"/>
                </a:solidFill>
              </a:rPr>
              <a:t>13</a:t>
            </a:r>
            <a:endParaRPr lang="en-US" sz="5600" dirty="0"/>
          </a:p>
        </p:txBody>
      </p:sp>
      <p:sp>
        <p:nvSpPr>
          <p:cNvPr id="10" name="statlabel-spellings of"/>
          <p:cNvSpPr txBox="1"/>
          <p:nvPr/>
        </p:nvSpPr>
        <p:spPr>
          <a:xfrm>
            <a:off x="8321040" y="27797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spellings of “trespass notice” alone</a:t>
            </a:r>
            <a:endParaRPr lang="en-US" sz="1400" dirty="0"/>
          </a:p>
        </p:txBody>
      </p:sp>
      <p:sp>
        <p:nvSpPr>
          <p:cNvPr id="11" name="bill"/>
          <p:cNvSpPr/>
          <p:nvPr/>
        </p:nvSpPr>
        <p:spPr>
          <a:xfrm>
            <a:off x="640080" y="4069080"/>
            <a:ext cx="10908792" cy="1600200"/>
          </a:xfrm>
          <a:prstGeom prst="roundRect">
            <a:avLst>
              <a:gd name="adj" fmla="val 2286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bill-head"/>
          <p:cNvSpPr txBox="1"/>
          <p:nvPr/>
        </p:nvSpPr>
        <p:spPr>
          <a:xfrm>
            <a:off x="914400" y="43068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This is the maintenance bill for not guessing</a:t>
            </a:r>
            <a:endParaRPr lang="en-US" sz="1600" dirty="0"/>
          </a:p>
        </p:txBody>
      </p:sp>
      <p:sp>
        <p:nvSpPr>
          <p:cNvPr id="13" name="bill-text"/>
          <p:cNvSpPr txBox="1"/>
          <p:nvPr/>
        </p:nvSpPr>
        <p:spPr>
          <a:xfrm>
            <a:off x="914400" y="4782312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Someone has to read the alarm and make a call, every few days. If nobody in your newsroom will own that, build something simpler — an unmaintained archive that fails silently is worse than none.</a:t>
            </a:r>
            <a:endParaRPr lang="en-US" sz="1400" dirty="0"/>
          </a:p>
        </p:txBody>
      </p:sp>
      <p:sp>
        <p:nvSpPr>
          <p:cNvPr id="15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4"/>
          <p:cNvSpPr/>
          <p:nvPr/>
        </p:nvSpPr>
        <p:spPr>
          <a:xfrm>
            <a:off x="640080" y="457200"/>
            <a:ext cx="941832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RULE 4"/>
          <p:cNvSpPr txBox="1"/>
          <p:nvPr/>
        </p:nvSpPr>
        <p:spPr>
          <a:xfrm>
            <a:off x="640080" y="45720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The source lies in interesting ways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>
            <p:ph idx="101" type="chart" hasCustomPrompt="1"/>
          </p:nvPr>
        </p:nvGraphicFramePr>
        <p:xfrm>
          <a:off x="640080" y="1874520"/>
          <a:ext cx="7086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8001000" y="187452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log, two very different clocks.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Campus police file 89% of their reports within a day. Glassboro's borough police file 1% within a day — their median is 13.7 days.
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Nothing on the page tells you this. You only find it by measuring.</a:t>
            </a:r>
            <a:endParaRPr lang="en-US" sz="1500" dirty="0"/>
          </a:p>
        </p:txBody>
      </p:sp>
      <p:sp>
        <p:nvSpPr>
          <p:cNvPr id="8" name="Text 1"/>
          <p:cNvSpPr/>
          <p:nvPr>
            <p:ph idx="104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4  ·  SO "/>
          <p:cNvSpPr/>
          <p:nvPr/>
        </p:nvSpPr>
        <p:spPr>
          <a:xfrm>
            <a:off x="640080" y="457200"/>
            <a:ext cx="2203704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RULE 4  ·  SO "/>
          <p:cNvSpPr txBox="1"/>
          <p:nvPr/>
        </p:nvSpPr>
        <p:spPr>
          <a:xfrm>
            <a:off x="640080" y="45720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4  ·  SO WHAT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“When” depends on which date you count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>
            <p:ph idx="101" type="chart" hasCustomPrompt="1"/>
          </p:nvPr>
        </p:nvGraphicFramePr>
        <p:xfrm>
          <a:off x="640080" y="1874520"/>
          <a:ext cx="7086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8001000" y="187452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September: 109 reported, 144 happened.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October reads 28 and will keep climbing for weeks as Glassboro files.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site counts by when things happened, because that is the honest answer to “when was there crime” — and says on the page that recent months are incomplete.</a:t>
            </a:r>
            <a:endParaRPr lang="en-US" sz="1500" dirty="0"/>
          </a:p>
        </p:txBody>
      </p:sp>
      <p:sp>
        <p:nvSpPr>
          <p:cNvPr id="8" name="Text 1"/>
          <p:cNvSpPr/>
          <p:nvPr>
            <p:ph idx="104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RULE 5"/>
          <p:cNvSpPr/>
          <p:nvPr/>
        </p:nvSpPr>
        <p:spPr>
          <a:xfrm>
            <a:off x="640080" y="457200"/>
            <a:ext cx="941832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RULE 5"/>
          <p:cNvSpPr txBox="1"/>
          <p:nvPr/>
        </p:nvSpPr>
        <p:spPr>
          <a:xfrm>
            <a:off x="640080" y="45720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Tests are editorial infrastructure</a:t>
            </a:r>
            <a:endParaRPr lang="en-US" sz="3300" dirty="0"/>
          </a:p>
        </p:txBody>
      </p:sp>
      <p:sp>
        <p:nvSpPr>
          <p:cNvPr id="5" name="stat-automated ch"/>
          <p:cNvSpPr txBox="1"/>
          <p:nvPr/>
        </p:nvSpPr>
        <p:spPr>
          <a:xfrm>
            <a:off x="640080" y="1874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6F6B"/>
                </a:solidFill>
              </a:rPr>
              <a:t>174</a:t>
            </a:r>
            <a:endParaRPr lang="en-US" sz="5400" dirty="0"/>
          </a:p>
        </p:txBody>
      </p:sp>
      <p:sp>
        <p:nvSpPr>
          <p:cNvPr id="6" name="statlabel-automated ch"/>
          <p:cNvSpPr txBox="1"/>
          <p:nvPr/>
        </p:nvSpPr>
        <p:spPr>
          <a:xfrm>
            <a:off x="640080" y="2779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automated checks</a:t>
            </a:r>
            <a:endParaRPr lang="en-US" sz="1400" dirty="0"/>
          </a:p>
        </p:txBody>
      </p:sp>
      <p:sp>
        <p:nvSpPr>
          <p:cNvPr id="7" name="stat-lines of tes"/>
          <p:cNvSpPr txBox="1"/>
          <p:nvPr/>
        </p:nvSpPr>
        <p:spPr>
          <a:xfrm>
            <a:off x="393192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A4D6E"/>
                </a:solidFill>
              </a:rPr>
              <a:t>2,454</a:t>
            </a:r>
            <a:endParaRPr lang="en-US" sz="5400" dirty="0"/>
          </a:p>
        </p:txBody>
      </p:sp>
      <p:sp>
        <p:nvSpPr>
          <p:cNvPr id="8" name="statlabel-lines of tes"/>
          <p:cNvSpPr txBox="1"/>
          <p:nvPr/>
        </p:nvSpPr>
        <p:spPr>
          <a:xfrm>
            <a:off x="3931920" y="2779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lines of tests</a:t>
            </a:r>
            <a:endParaRPr lang="en-US" sz="1400" dirty="0"/>
          </a:p>
        </p:txBody>
      </p:sp>
      <p:sp>
        <p:nvSpPr>
          <p:cNvPr id="9" name="stat-lines of act"/>
          <p:cNvSpPr txBox="1"/>
          <p:nvPr/>
        </p:nvSpPr>
        <p:spPr>
          <a:xfrm>
            <a:off x="8229600" y="1874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A6B78"/>
                </a:solidFill>
              </a:rPr>
              <a:t>3,125</a:t>
            </a:r>
            <a:endParaRPr lang="en-US" sz="5400" dirty="0"/>
          </a:p>
        </p:txBody>
      </p:sp>
      <p:sp>
        <p:nvSpPr>
          <p:cNvPr id="10" name="statlabel-lines of act"/>
          <p:cNvSpPr txBox="1"/>
          <p:nvPr/>
        </p:nvSpPr>
        <p:spPr>
          <a:xfrm>
            <a:off x="8229600" y="2779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lines of actual pipeline</a:t>
            </a:r>
            <a:endParaRPr lang="en-US" sz="1400" dirty="0"/>
          </a:p>
        </p:txBody>
      </p:sp>
      <p:sp>
        <p:nvSpPr>
          <p:cNvPr id="11" name="t-0"/>
          <p:cNvSpPr/>
          <p:nvPr/>
        </p:nvSpPr>
        <p:spPr>
          <a:xfrm>
            <a:off x="640080" y="3657600"/>
            <a:ext cx="3502152" cy="201168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-0-head"/>
          <p:cNvSpPr txBox="1"/>
          <p:nvPr/>
        </p:nvSpPr>
        <p:spPr>
          <a:xfrm>
            <a:off x="914400" y="389534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1F"/>
                </a:solidFill>
              </a:rPr>
              <a:t>One runs the page in a fake browser</a:t>
            </a:r>
            <a:endParaRPr lang="en-US" sz="1400" dirty="0"/>
          </a:p>
        </p:txBody>
      </p:sp>
      <p:sp>
        <p:nvSpPr>
          <p:cNvPr id="13" name="t-0-text"/>
          <p:cNvSpPr txBox="1"/>
          <p:nvPr/>
        </p:nvSpPr>
        <p:spPr>
          <a:xfrm>
            <a:off x="914400" y="4370832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44"/>
                </a:solidFill>
              </a:rPr>
              <a:t>A JavaScript typo ships a page that returns 200 with every chart silently empty. That happened twice.</a:t>
            </a:r>
            <a:endParaRPr lang="en-US" sz="1250" dirty="0"/>
          </a:p>
        </p:txBody>
      </p:sp>
      <p:sp>
        <p:nvSpPr>
          <p:cNvPr id="14" name="t-1"/>
          <p:cNvSpPr/>
          <p:nvPr/>
        </p:nvSpPr>
        <p:spPr>
          <a:xfrm>
            <a:off x="4325112" y="3657600"/>
            <a:ext cx="3502152" cy="201168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-1-head"/>
          <p:cNvSpPr txBox="1"/>
          <p:nvPr/>
        </p:nvSpPr>
        <p:spPr>
          <a:xfrm>
            <a:off x="4599432" y="389534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1F"/>
                </a:solidFill>
              </a:rPr>
              <a:t>One checks the caveat's arithmetic</a:t>
            </a:r>
            <a:endParaRPr lang="en-US" sz="1400" dirty="0"/>
          </a:p>
        </p:txBody>
      </p:sp>
      <p:sp>
        <p:nvSpPr>
          <p:cNvPr id="16" name="t-1-text"/>
          <p:cNvSpPr txBox="1"/>
          <p:nvPr/>
        </p:nvSpPr>
        <p:spPr>
          <a:xfrm>
            <a:off x="4599432" y="4370832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44"/>
                </a:solidFill>
              </a:rPr>
              <a:t>Every incident must be either on the chart or counted in the note saying what is missing.</a:t>
            </a:r>
            <a:endParaRPr lang="en-US" sz="1250" dirty="0"/>
          </a:p>
        </p:txBody>
      </p:sp>
      <p:sp>
        <p:nvSpPr>
          <p:cNvPr id="17" name="t-2"/>
          <p:cNvSpPr/>
          <p:nvPr/>
        </p:nvSpPr>
        <p:spPr>
          <a:xfrm>
            <a:off x="8010144" y="3657600"/>
            <a:ext cx="3502152" cy="201168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-2-head"/>
          <p:cNvSpPr txBox="1"/>
          <p:nvPr/>
        </p:nvSpPr>
        <p:spPr>
          <a:xfrm>
            <a:off x="8284464" y="389534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1F"/>
                </a:solidFill>
              </a:rPr>
              <a:t>One refuses to let a number drift</a:t>
            </a:r>
            <a:endParaRPr lang="en-US" sz="1400" dirty="0"/>
          </a:p>
        </p:txBody>
      </p:sp>
      <p:sp>
        <p:nvSpPr>
          <p:cNvPr id="19" name="t-2-text"/>
          <p:cNvSpPr txBox="1"/>
          <p:nvPr/>
        </p:nvSpPr>
        <p:spPr>
          <a:xfrm>
            <a:off x="8284464" y="4370832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44"/>
                </a:solidFill>
              </a:rPr>
              <a:t>Change the data a test is pinned to, and you must state the new figure deliberately.</a:t>
            </a:r>
            <a:endParaRPr lang="en-US" sz="1250" dirty="0"/>
          </a:p>
        </p:txBody>
      </p:sp>
      <p:sp>
        <p:nvSpPr>
          <p:cNvPr id="21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5  THE DIVISI"/>
          <p:cNvSpPr/>
          <p:nvPr/>
        </p:nvSpPr>
        <p:spPr>
          <a:xfrm>
            <a:off x="640080" y="457200"/>
            <a:ext cx="3044952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5  THE DIVISI"/>
          <p:cNvSpPr txBox="1"/>
          <p:nvPr/>
        </p:nvSpPr>
        <p:spPr>
          <a:xfrm>
            <a:off x="640080" y="45720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THE DIVISION OF LABOUR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What the tool did, and what it could not</a:t>
            </a:r>
            <a:endParaRPr lang="en-US" sz="3300" dirty="0"/>
          </a:p>
        </p:txBody>
      </p:sp>
      <p:sp>
        <p:nvSpPr>
          <p:cNvPr id="5" name="lab-a"/>
          <p:cNvSpPr/>
          <p:nvPr/>
        </p:nvSpPr>
        <p:spPr>
          <a:xfrm>
            <a:off x="640080" y="1874520"/>
            <a:ext cx="5303520" cy="2926080"/>
          </a:xfrm>
          <a:prstGeom prst="roundRect">
            <a:avLst>
              <a:gd name="adj" fmla="val 125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lab-a-head"/>
          <p:cNvSpPr txBox="1"/>
          <p:nvPr/>
        </p:nvSpPr>
        <p:spPr>
          <a:xfrm>
            <a:off x="9144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6B"/>
                </a:solidFill>
              </a:rPr>
              <a:t>Claude Code was good at</a:t>
            </a:r>
            <a:endParaRPr lang="en-US" sz="1700" dirty="0"/>
          </a:p>
        </p:txBody>
      </p:sp>
      <p:sp>
        <p:nvSpPr>
          <p:cNvPr id="7" name="lab-a-text"/>
          <p:cNvSpPr txBox="1"/>
          <p:nvPr/>
        </p:nvSpPr>
        <p:spPr>
          <a:xfrm>
            <a:off x="914400" y="258775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E3A44"/>
                </a:solidFill>
              </a:rPr>
              <a:t>The boilerplate. The tests. The documentation. Reading a stack trace. Finding every instance of a problem instead of the first one. Explaining its own reasoning well enough to argue with.</a:t>
            </a:r>
            <a:endParaRPr lang="en-US" sz="1400" dirty="0"/>
          </a:p>
        </p:txBody>
      </p:sp>
      <p:sp>
        <p:nvSpPr>
          <p:cNvPr id="8" name="lab-b"/>
          <p:cNvSpPr/>
          <p:nvPr/>
        </p:nvSpPr>
        <p:spPr>
          <a:xfrm>
            <a:off x="6629400" y="1874520"/>
            <a:ext cx="4919472" cy="2926080"/>
          </a:xfrm>
          <a:prstGeom prst="roundRect">
            <a:avLst>
              <a:gd name="adj" fmla="val 1250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lab-b-head"/>
          <p:cNvSpPr txBox="1"/>
          <p:nvPr/>
        </p:nvSpPr>
        <p:spPr>
          <a:xfrm>
            <a:off x="6903720" y="211226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A"/>
                </a:solidFill>
              </a:rPr>
              <a:t>It could not decide</a:t>
            </a:r>
            <a:endParaRPr lang="en-US" sz="1700" dirty="0"/>
          </a:p>
        </p:txBody>
      </p:sp>
      <p:sp>
        <p:nvSpPr>
          <p:cNvPr id="10" name="lab-b-text"/>
          <p:cNvSpPr txBox="1"/>
          <p:nvPr/>
        </p:nvSpPr>
        <p:spPr>
          <a:xfrm>
            <a:off x="6903720" y="2587752"/>
            <a:ext cx="4370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A new wording arrived: “Possession of open container CDS (prohibited drug) in vehicle.”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It reads like the alcohol open-container rule. CDS means controlled dangerous substance — a drug offense.</a:t>
            </a:r>
            <a:endParaRPr lang="en-US" sz="1400" dirty="0"/>
          </a:p>
        </p:txBody>
      </p:sp>
      <p:sp>
        <p:nvSpPr>
          <p:cNvPr id="11" name="lab-note"/>
          <p:cNvSpPr txBox="1"/>
          <p:nvPr/>
        </p:nvSpPr>
        <p:spPr>
          <a:xfrm>
            <a:off x="640080" y="5029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1F"/>
                </a:solidFill>
              </a:rPr>
              <a:t>File it as alcohol and you inflate one crime category while undercounting another. No tool knows which you meant. That is your job, and it is the actual work.</a:t>
            </a:r>
            <a:endParaRPr lang="en-US" sz="1700" dirty="0"/>
          </a:p>
        </p:txBody>
      </p:sp>
      <p:sp>
        <p:nvSpPr>
          <p:cNvPr id="13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6  YOUR BEAT"/>
          <p:cNvSpPr/>
          <p:nvPr/>
        </p:nvSpPr>
        <p:spPr>
          <a:xfrm>
            <a:off x="640080" y="457200"/>
            <a:ext cx="1677924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6  YOUR BEAT"/>
          <p:cNvSpPr txBox="1"/>
          <p:nvPr/>
        </p:nvSpPr>
        <p:spPr>
          <a:xfrm>
            <a:off x="640080" y="457200"/>
            <a:ext cx="1677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YOUR BEAT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Pick a record worth preserving</a:t>
            </a:r>
            <a:endParaRPr lang="en-US" sz="3300" dirty="0"/>
          </a:p>
        </p:txBody>
      </p:sp>
      <p:sp>
        <p:nvSpPr>
          <p:cNvPr id="5" name="crit-0"/>
          <p:cNvSpPr/>
          <p:nvPr/>
        </p:nvSpPr>
        <p:spPr>
          <a:xfrm>
            <a:off x="640080" y="1874520"/>
            <a:ext cx="3502152" cy="18288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crit-0-num-bg"/>
          <p:cNvSpPr/>
          <p:nvPr/>
        </p:nvSpPr>
        <p:spPr>
          <a:xfrm>
            <a:off x="877824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7" name="crit-0-num"/>
          <p:cNvSpPr txBox="1"/>
          <p:nvPr/>
        </p:nvSpPr>
        <p:spPr>
          <a:xfrm>
            <a:off x="87782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rit-0-head"/>
          <p:cNvSpPr txBox="1"/>
          <p:nvPr/>
        </p:nvSpPr>
        <p:spPr>
          <a:xfrm>
            <a:off x="1408176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Already public</a:t>
            </a:r>
            <a:endParaRPr lang="en-US" sz="1600" dirty="0"/>
          </a:p>
        </p:txBody>
      </p:sp>
      <p:sp>
        <p:nvSpPr>
          <p:cNvPr id="9" name="crit-0-text"/>
          <p:cNvSpPr txBox="1"/>
          <p:nvPr/>
        </p:nvSpPr>
        <p:spPr>
          <a:xfrm>
            <a:off x="1408176" y="2587752"/>
            <a:ext cx="2459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No FOIA, no login. If you have to fight for it, that is a different project.</a:t>
            </a:r>
            <a:endParaRPr lang="en-US" sz="1300" dirty="0"/>
          </a:p>
        </p:txBody>
      </p:sp>
      <p:sp>
        <p:nvSpPr>
          <p:cNvPr id="10" name="crit-1"/>
          <p:cNvSpPr/>
          <p:nvPr/>
        </p:nvSpPr>
        <p:spPr>
          <a:xfrm>
            <a:off x="4325112" y="1874520"/>
            <a:ext cx="3502152" cy="18288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crit-1-num-bg"/>
          <p:cNvSpPr/>
          <p:nvPr/>
        </p:nvSpPr>
        <p:spPr>
          <a:xfrm>
            <a:off x="4562856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2" name="crit-1-num"/>
          <p:cNvSpPr txBox="1"/>
          <p:nvPr/>
        </p:nvSpPr>
        <p:spPr>
          <a:xfrm>
            <a:off x="45628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crit-1-head"/>
          <p:cNvSpPr txBox="1"/>
          <p:nvPr/>
        </p:nvSpPr>
        <p:spPr>
          <a:xfrm>
            <a:off x="5093208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Overwritten in place</a:t>
            </a:r>
            <a:endParaRPr lang="en-US" sz="1600" dirty="0"/>
          </a:p>
        </p:txBody>
      </p:sp>
      <p:sp>
        <p:nvSpPr>
          <p:cNvPr id="14" name="crit-1-text"/>
          <p:cNvSpPr txBox="1"/>
          <p:nvPr/>
        </p:nvSpPr>
        <p:spPr>
          <a:xfrm>
            <a:off x="5093208" y="2587752"/>
            <a:ext cx="2459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The current version replaces the last one, and nothing keeps the old.</a:t>
            </a:r>
            <a:endParaRPr lang="en-US" sz="1300" dirty="0"/>
          </a:p>
        </p:txBody>
      </p:sp>
      <p:sp>
        <p:nvSpPr>
          <p:cNvPr id="15" name="crit-2"/>
          <p:cNvSpPr/>
          <p:nvPr/>
        </p:nvSpPr>
        <p:spPr>
          <a:xfrm>
            <a:off x="8010144" y="1874520"/>
            <a:ext cx="3502152" cy="18288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crit-2-num-bg"/>
          <p:cNvSpPr/>
          <p:nvPr/>
        </p:nvSpPr>
        <p:spPr>
          <a:xfrm>
            <a:off x="8247888" y="2112264"/>
            <a:ext cx="384048" cy="38404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7" name="crit-2-num"/>
          <p:cNvSpPr txBox="1"/>
          <p:nvPr/>
        </p:nvSpPr>
        <p:spPr>
          <a:xfrm>
            <a:off x="824788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crit-2-head"/>
          <p:cNvSpPr txBox="1"/>
          <p:nvPr/>
        </p:nvSpPr>
        <p:spPr>
          <a:xfrm>
            <a:off x="8778240" y="207568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Consequential</a:t>
            </a:r>
            <a:endParaRPr lang="en-US" sz="1600" dirty="0"/>
          </a:p>
        </p:txBody>
      </p:sp>
      <p:sp>
        <p:nvSpPr>
          <p:cNvPr id="19" name="crit-2-text"/>
          <p:cNvSpPr txBox="1"/>
          <p:nvPr/>
        </p:nvSpPr>
        <p:spPr>
          <a:xfrm>
            <a:off x="8778240" y="2587752"/>
            <a:ext cx="2459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E3A44"/>
                </a:solidFill>
              </a:rPr>
              <a:t>Someone would care if the numbers changed quietly.</a:t>
            </a:r>
            <a:endParaRPr lang="en-US" sz="1300" dirty="0"/>
          </a:p>
        </p:txBody>
      </p:sp>
      <p:sp>
        <p:nvSpPr>
          <p:cNvPr id="20" name="examples"/>
          <p:cNvSpPr/>
          <p:nvPr/>
        </p:nvSpPr>
        <p:spPr>
          <a:xfrm>
            <a:off x="640080" y="3977640"/>
            <a:ext cx="10908792" cy="1691640"/>
          </a:xfrm>
          <a:prstGeom prst="roundRect">
            <a:avLst>
              <a:gd name="adj" fmla="val 2162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examples-head"/>
          <p:cNvSpPr txBox="1"/>
          <p:nvPr/>
        </p:nvSpPr>
        <p:spPr>
          <a:xfrm>
            <a:off x="914400" y="421538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Records that fit, in most states</a:t>
            </a:r>
            <a:endParaRPr lang="en-US" sz="1600" dirty="0"/>
          </a:p>
        </p:txBody>
      </p:sp>
      <p:sp>
        <p:nvSpPr>
          <p:cNvPr id="22" name="examples-text"/>
          <p:cNvSpPr txBox="1"/>
          <p:nvPr/>
        </p:nvSpPr>
        <p:spPr>
          <a:xfrm>
            <a:off x="914400" y="4690872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3F5"/>
                </a:solidFill>
              </a:rPr>
              <a:t>Restaurant inspection scores  ·  jail rosters and daily booking logs  ·  school board agendas and minutes  ·  building permits and code violations  ·  campus crime logs  ·  lobbyist registries  ·  water quality notices  ·  nursing home inspection results</a:t>
            </a:r>
            <a:endParaRPr lang="en-US" sz="1400" dirty="0"/>
          </a:p>
        </p:txBody>
      </p:sp>
      <p:sp>
        <p:nvSpPr>
          <p:cNvPr id="24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17  START"/>
          <p:cNvSpPr/>
          <p:nvPr/>
        </p:nvSpPr>
        <p:spPr>
          <a:xfrm>
            <a:off x="640080" y="457200"/>
            <a:ext cx="1257300" cy="292608"/>
          </a:xfrm>
          <a:prstGeom prst="roundRect">
            <a:avLst>
              <a:gd name="adj" fmla="val 15625"/>
            </a:avLst>
          </a:prstGeom>
          <a:solidFill>
            <a:srgbClr val="141A1F"/>
          </a:solidFill>
          <a:ln/>
        </p:spPr>
      </p:sp>
      <p:sp>
        <p:nvSpPr>
          <p:cNvPr id="3" name="chip-17  START"/>
          <p:cNvSpPr txBox="1"/>
          <p:nvPr/>
        </p:nvSpPr>
        <p:spPr>
          <a:xfrm>
            <a:off x="640080" y="457200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START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1"/>
                </a:solidFill>
              </a:rPr>
              <a:t>How to start this week</a:t>
            </a:r>
            <a:endParaRPr lang="en-US" sz="3300" dirty="0"/>
          </a:p>
        </p:txBody>
      </p:sp>
      <p:sp>
        <p:nvSpPr>
          <p:cNvPr id="5" name="stepnum-bg-1"/>
          <p:cNvSpPr/>
          <p:nvPr/>
        </p:nvSpPr>
        <p:spPr>
          <a:xfrm>
            <a:off x="640080" y="1901952"/>
            <a:ext cx="347472" cy="347472"/>
          </a:xfrm>
          <a:prstGeom prst="ellipse">
            <a:avLst/>
          </a:prstGeom>
          <a:solidFill>
            <a:srgbClr val="48A89E"/>
          </a:solidFill>
          <a:ln/>
        </p:spPr>
      </p:sp>
      <p:sp>
        <p:nvSpPr>
          <p:cNvPr id="6" name="stepnum-1"/>
          <p:cNvSpPr txBox="1"/>
          <p:nvPr/>
        </p:nvSpPr>
        <p:spPr>
          <a:xfrm>
            <a:off x="64008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tep-h-0"/>
          <p:cNvSpPr txBox="1"/>
          <p:nvPr/>
        </p:nvSpPr>
        <p:spPr>
          <a:xfrm>
            <a:off x="1207008" y="18745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Find the URL that holds the data today</a:t>
            </a:r>
            <a:endParaRPr lang="en-US" sz="1600" dirty="0"/>
          </a:p>
        </p:txBody>
      </p:sp>
      <p:sp>
        <p:nvSpPr>
          <p:cNvPr id="8" name="step-t-0"/>
          <p:cNvSpPr txBox="1"/>
          <p:nvPr/>
        </p:nvSpPr>
        <p:spPr>
          <a:xfrm>
            <a:off x="5760720" y="187452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44"/>
                </a:solidFill>
              </a:rPr>
              <a:t>The export link behind the page. Often a CSV or JSON you can see in your browser.</a:t>
            </a:r>
            <a:endParaRPr lang="en-US" sz="1350" dirty="0"/>
          </a:p>
        </p:txBody>
      </p:sp>
      <p:sp>
        <p:nvSpPr>
          <p:cNvPr id="9" name="stepnum-bg-2"/>
          <p:cNvSpPr/>
          <p:nvPr/>
        </p:nvSpPr>
        <p:spPr>
          <a:xfrm>
            <a:off x="640080" y="2743200"/>
            <a:ext cx="347472" cy="347472"/>
          </a:xfrm>
          <a:prstGeom prst="ellipse">
            <a:avLst/>
          </a:prstGeom>
          <a:solidFill>
            <a:srgbClr val="48A89E"/>
          </a:solidFill>
          <a:ln/>
        </p:spPr>
      </p:sp>
      <p:sp>
        <p:nvSpPr>
          <p:cNvPr id="10" name="stepnum-2"/>
          <p:cNvSpPr txBox="1"/>
          <p:nvPr/>
        </p:nvSpPr>
        <p:spPr>
          <a:xfrm>
            <a:off x="64008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tep-h-1"/>
          <p:cNvSpPr txBox="1"/>
          <p:nvPr/>
        </p:nvSpPr>
        <p:spPr>
          <a:xfrm>
            <a:off x="1207008" y="2715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Save it to a dated file</a:t>
            </a:r>
            <a:endParaRPr lang="en-US" sz="1600" dirty="0"/>
          </a:p>
        </p:txBody>
      </p:sp>
      <p:sp>
        <p:nvSpPr>
          <p:cNvPr id="12" name="step-t-1"/>
          <p:cNvSpPr txBox="1"/>
          <p:nvPr/>
        </p:nvSpPr>
        <p:spPr>
          <a:xfrm>
            <a:off x="5760720" y="2715768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44"/>
                </a:solidFill>
              </a:rPr>
              <a:t>That is an archive. You have already done the irreplaceable part.</a:t>
            </a:r>
            <a:endParaRPr lang="en-US" sz="1350" dirty="0"/>
          </a:p>
        </p:txBody>
      </p:sp>
      <p:sp>
        <p:nvSpPr>
          <p:cNvPr id="13" name="stepnum-bg-3"/>
          <p:cNvSpPr/>
          <p:nvPr/>
        </p:nvSpPr>
        <p:spPr>
          <a:xfrm>
            <a:off x="640080" y="3584448"/>
            <a:ext cx="347472" cy="347472"/>
          </a:xfrm>
          <a:prstGeom prst="ellipse">
            <a:avLst/>
          </a:prstGeom>
          <a:solidFill>
            <a:srgbClr val="48A89E"/>
          </a:solidFill>
          <a:ln/>
        </p:spPr>
      </p:sp>
      <p:sp>
        <p:nvSpPr>
          <p:cNvPr id="14" name="stepnum-3"/>
          <p:cNvSpPr txBox="1"/>
          <p:nvPr/>
        </p:nvSpPr>
        <p:spPr>
          <a:xfrm>
            <a:off x="6400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tep-h-2"/>
          <p:cNvSpPr txBox="1"/>
          <p:nvPr/>
        </p:nvSpPr>
        <p:spPr>
          <a:xfrm>
            <a:off x="1207008" y="3557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Put it on GitHub</a:t>
            </a:r>
            <a:endParaRPr lang="en-US" sz="1600" dirty="0"/>
          </a:p>
        </p:txBody>
      </p:sp>
      <p:sp>
        <p:nvSpPr>
          <p:cNvPr id="16" name="step-t-2"/>
          <p:cNvSpPr txBox="1"/>
          <p:nvPr/>
        </p:nvSpPr>
        <p:spPr>
          <a:xfrm>
            <a:off x="5760720" y="3557016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44"/>
                </a:solidFill>
              </a:rPr>
              <a:t>That is an audit trail, and it outlives your laptop.</a:t>
            </a:r>
            <a:endParaRPr lang="en-US" sz="1350" dirty="0"/>
          </a:p>
        </p:txBody>
      </p:sp>
      <p:sp>
        <p:nvSpPr>
          <p:cNvPr id="17" name="stepnum-bg-4"/>
          <p:cNvSpPr/>
          <p:nvPr/>
        </p:nvSpPr>
        <p:spPr>
          <a:xfrm>
            <a:off x="640080" y="4425696"/>
            <a:ext cx="347472" cy="347472"/>
          </a:xfrm>
          <a:prstGeom prst="ellipse">
            <a:avLst/>
          </a:prstGeom>
          <a:solidFill>
            <a:srgbClr val="48A89E"/>
          </a:solidFill>
          <a:ln/>
        </p:spPr>
      </p:sp>
      <p:sp>
        <p:nvSpPr>
          <p:cNvPr id="18" name="stepnum-4"/>
          <p:cNvSpPr txBox="1"/>
          <p:nvPr/>
        </p:nvSpPr>
        <p:spPr>
          <a:xfrm>
            <a:off x="64008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tep-h-3"/>
          <p:cNvSpPr txBox="1"/>
          <p:nvPr/>
        </p:nvSpPr>
        <p:spPr>
          <a:xfrm>
            <a:off x="1207008" y="43982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Add a schedule</a:t>
            </a:r>
            <a:endParaRPr lang="en-US" sz="1600" dirty="0"/>
          </a:p>
        </p:txBody>
      </p:sp>
      <p:sp>
        <p:nvSpPr>
          <p:cNvPr id="20" name="step-t-3"/>
          <p:cNvSpPr txBox="1"/>
          <p:nvPr/>
        </p:nvSpPr>
        <p:spPr>
          <a:xfrm>
            <a:off x="5760720" y="4398264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44"/>
                </a:solidFill>
              </a:rPr>
              <a:t>Now it is a scraper, and it runs without you.</a:t>
            </a:r>
            <a:endParaRPr lang="en-US" sz="1350" dirty="0"/>
          </a:p>
        </p:txBody>
      </p:sp>
      <p:sp>
        <p:nvSpPr>
          <p:cNvPr id="21" name="stepnum-bg-5"/>
          <p:cNvSpPr/>
          <p:nvPr/>
        </p:nvSpPr>
        <p:spPr>
          <a:xfrm>
            <a:off x="640080" y="5266944"/>
            <a:ext cx="347472" cy="347472"/>
          </a:xfrm>
          <a:prstGeom prst="ellipse">
            <a:avLst/>
          </a:prstGeom>
          <a:solidFill>
            <a:srgbClr val="48A89E"/>
          </a:solidFill>
          <a:ln/>
        </p:spPr>
      </p:sp>
      <p:sp>
        <p:nvSpPr>
          <p:cNvPr id="22" name="stepnum-5"/>
          <p:cNvSpPr txBox="1"/>
          <p:nvPr/>
        </p:nvSpPr>
        <p:spPr>
          <a:xfrm>
            <a:off x="640080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tep-h-4"/>
          <p:cNvSpPr txBox="1"/>
          <p:nvPr/>
        </p:nvSpPr>
        <p:spPr>
          <a:xfrm>
            <a:off x="1207008" y="52395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1F"/>
                </a:solidFill>
              </a:rPr>
              <a:t>Only then make it look nice</a:t>
            </a:r>
            <a:endParaRPr lang="en-US" sz="1600" dirty="0"/>
          </a:p>
        </p:txBody>
      </p:sp>
      <p:sp>
        <p:nvSpPr>
          <p:cNvPr id="24" name="step-t-4"/>
          <p:cNvSpPr txBox="1"/>
          <p:nvPr/>
        </p:nvSpPr>
        <p:spPr>
          <a:xfrm>
            <a:off x="5760720" y="5239512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44"/>
                </a:solidFill>
              </a:rPr>
              <a:t>Charts are the last 10% and the first thing people want to build.</a:t>
            </a:r>
            <a:endParaRPr lang="en-US" sz="1350" dirty="0"/>
          </a:p>
        </p:txBody>
      </p:sp>
      <p:sp>
        <p:nvSpPr>
          <p:cNvPr id="25" name="note-steps"/>
          <p:cNvSpPr txBox="1"/>
          <p:nvPr/>
        </p:nvSpPr>
        <p:spPr>
          <a:xfrm>
            <a:off x="640080" y="587044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F6F6B"/>
                </a:solidFill>
              </a:rPr>
              <a:t>Steps one to three are an afternoon. Everything after that is optional.</a:t>
            </a:r>
            <a:endParaRPr lang="en-US" sz="1600" dirty="0"/>
          </a:p>
        </p:txBody>
      </p:sp>
      <p:sp>
        <p:nvSpPr>
          <p:cNvPr id="27" name="Text 1"/>
          <p:cNvSpPr/>
          <p:nvPr>
            <p:ph idx="102" hasCustomPrompt="1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bg-TAKE IT APART"/>
          <p:cNvSpPr/>
          <p:nvPr/>
        </p:nvSpPr>
        <p:spPr>
          <a:xfrm>
            <a:off x="640080" y="1600200"/>
            <a:ext cx="1677924" cy="292608"/>
          </a:xfrm>
          <a:prstGeom prst="roundRect">
            <a:avLst>
              <a:gd name="adj" fmla="val 15625"/>
            </a:avLst>
          </a:prstGeom>
          <a:solidFill>
            <a:srgbClr val="1F6F6B"/>
          </a:solidFill>
          <a:ln/>
        </p:spPr>
      </p:sp>
      <p:sp>
        <p:nvSpPr>
          <p:cNvPr id="3" name="chip-TAKE IT APART"/>
          <p:cNvSpPr txBox="1"/>
          <p:nvPr/>
        </p:nvSpPr>
        <p:spPr>
          <a:xfrm>
            <a:off x="640080" y="1600200"/>
            <a:ext cx="1677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IT APART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14884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archive is the story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4206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2"/>
                </a:solidFill>
              </a:rPr>
              <a:t>The site is just how you read it. Everything here is public — the code, the raw snapshots, the methodology, and every change the archive has caught.</a:t>
            </a:r>
            <a:endParaRPr lang="en-US" sz="1900" dirty="0"/>
          </a:p>
        </p:txBody>
      </p:sp>
      <p:sp>
        <p:nvSpPr>
          <p:cNvPr id="6" name="term-close"/>
          <p:cNvSpPr/>
          <p:nvPr/>
        </p:nvSpPr>
        <p:spPr>
          <a:xfrm>
            <a:off x="640080" y="5230368"/>
            <a:ext cx="8595360" cy="1115568"/>
          </a:xfrm>
          <a:prstGeom prst="roundRect">
            <a:avLst>
              <a:gd name="adj" fmla="val 3279"/>
            </a:avLst>
          </a:prstGeom>
          <a:solidFill>
            <a:srgbClr val="1F2831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rm-close-text"/>
          <p:cNvSpPr txBox="1"/>
          <p:nvPr/>
        </p:nvSpPr>
        <p:spPr>
          <a:xfrm>
            <a:off x="877824" y="543153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github.com/sstirling/rowan-clery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METHODOLOGY.md   what counts, and what does not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data/raw/        every byte, exactly as downloaded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blic Record">
  <a:themeElements>
    <a:clrScheme name="Public Record">
      <a:dk1>
        <a:srgbClr val="141A1F"/>
      </a:dk1>
      <a:lt1>
        <a:srgbClr val="FFFFFF"/>
      </a:lt1>
      <a:dk2>
        <a:srgbClr val="2E3A44"/>
      </a:dk2>
      <a:lt2>
        <a:srgbClr val="F1F3F5"/>
      </a:lt2>
      <a:accent1>
        <a:srgbClr val="C8453C"/>
      </a:accent1>
      <a:accent2>
        <a:srgbClr val="1F6F6B"/>
      </a:accent2>
      <a:accent3>
        <a:srgbClr val="A8761B"/>
      </a:accent3>
      <a:accent4>
        <a:srgbClr val="5A6B78"/>
      </a:accent4>
      <a:accent5>
        <a:srgbClr val="2A4D6E"/>
      </a:accent5>
      <a:accent6>
        <a:srgbClr val="1F2831"/>
      </a:accent6>
      <a:hlink>
        <a:srgbClr val="1F6F6B"/>
      </a:hlink>
      <a:folHlink>
        <a:srgbClr val="5A6B78"/>
      </a:folHlink>
    </a:clrScheme>
    <a:fontScheme name="Public Reco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record that vanished</dc:title>
  <dc:subject>Building an append-only public-records archive with Claude Code</dc:subject>
  <dc:creator>Stephen Stirling</dc:creator>
  <cp:lastModifiedBy>Stephen Stirling</cp:lastModifiedBy>
  <cp:revision>1</cp:revision>
  <dcterms:created xsi:type="dcterms:W3CDTF">2026-10-18T23:55:26Z</dcterms:created>
  <dcterms:modified xsi:type="dcterms:W3CDTF">2026-10-18T23:55:26Z</dcterms:modified>
</cp:coreProperties>
</file>
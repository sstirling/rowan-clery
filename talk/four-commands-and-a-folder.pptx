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here" id="{67f6d1cf-c9b0-5132-a459-154568c9bdb6}">
          <p14:sldIdLst>
            <p14:sldId id="256"/>
            <p14:sldId id="257"/>
          </p14:sldIdLst>
        </p14:section>
        <p14:section name="The terminal" id="{8e7fd841-04a9-00b3-0d3f-ec1ab5f195ff}">
          <p14:sldIdLst>
            <p14:sldId id="258"/>
            <p14:sldId id="259"/>
            <p14:sldId id="260"/>
          </p14:sldIdLst>
        </p14:section>
        <p14:section name="Four commands" id="{f905a6d6-6e76-aac1-140d-80337d57d4b5}">
          <p14:sldIdLst>
            <p14:sldId id="261"/>
            <p14:sldId id="262"/>
            <p14:sldId id="263"/>
            <p14:sldId id="264"/>
          </p14:sldIdLst>
        </p14:section>
        <p14:section name="A folder" id="{e4ffb868-f754-0244-fb69-f0147d6c9e49}">
          <p14:sldIdLst>
            <p14:sldId id="265"/>
          </p14:sldIdLst>
        </p14:section>
        <p14:section name="GitHub" id="{627bbc8f-6d5d-b71c-37cf-eac4f046b123}">
          <p14:sldIdLst>
            <p14:sldId id="266"/>
            <p14:sldId id="267"/>
          </p14:sldIdLst>
        </p14:section>
        <p14:section name="Claude Code" id="{256d59bc-df76-0fc9-80db-bda95c5a465a}">
          <p14:sldIdLst>
            <p14:sldId id="268"/>
            <p14:sldId id="269"/>
            <p14:sldId id="270"/>
            <p14:sldId id="271"/>
          </p14:sldIdLst>
        </p14:section>
        <p14:section name="When it breaks" id="{c2cfeab4-36ad-1c83-860d-2864c4030ca4}">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in one sentence: by the end of this you will be able to open a terminal, get to the folder where your projects live, and start Claude Code there.
That is genuinely the whole skill. Everything that feels intimidating about the terminal is unfamiliarity, not difficulty — there are four commands in this deck and you only need two of them most days.
Say up front what we are NOT doing: not learning to code, not learning git properly, not configuring anything. Just getting to a working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destination before the journey, so every command that follows has an obvious purpose.
Point at the two ochre lines: that is all the typing. One line moves you to a folder, one line starts Claude Code. Everything after that is typed in English.
The 'cwd' line matters and we come back to it on slide 14: Claude Code works on the folder you started it in. Starting in the right place is the single most important habit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thing you can do in the first two minutes is demystify this. The terminal is not a different computer, not a hacker tool, not a place where mistakes are irreversible. It is a text interface to the same files they already have.
The analogy that lands: Finder is pointing, the terminal is naming. If you can say where something is, you can work in the terminal.
Be honest about the payoff. Nobody should learn the terminal for its own sake. They are learning it because Claude Code runs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and slowly, and wait for the room to catch up. On a Mac, Spotlight is the fastest route and the one they will remember.
On Windows, flag the PowerShell versus CMD distinction now, because it decides which install command works on slide 13. PowerShell shows 'PS' at the start of the line; CMD does not.
If anyone's window looks different — different colours, a '$' instead of a '%' — that is fine and expected. Terminals are configurable and none of it changes what we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real minute here. Almost every beginner mistake in the terminal is running a correct command in the wrong folder, and the prompt is already telling them which folder they are in.
Have them look at their own prompt and read the three parts off it out loud.
The tilde is worth naming explicitly. It appears constantly in instructions online, and nobody tells you it just means your home folder — /Users/yourname on a Mac.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commands in this deck. This is the first and the least risky: it reads your location and prints it. Nothing can go wrong.
Use it to introduce paths, because paths are the actual idea students need. Read one out loud, slash by slash, as nested folders.
Tell them the translation out loud: ~ and /Users/you are the same place. The prompt shows the short form; pwd shows the long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Finder comparison live if you can. Putting the two windows side by side is what makes the terminal stop feeling like a separate machine.
The 'silence is an answer' point saves a lot of confusion later. Terminal commands that succeed often print nothing at all, which beginners read as a failure.
Mention that files starting with a dot are hidden from both ls and Finder by default. They will meet one on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command they will use every single day, and the only one worth drilling. Have the room run all three forms.
Teach Tab completion here rather than as a tip at the end. It prevents typos, it is faster, and it quietly teaches them which folders exist. Beginners who learn Tab early stop fearing long paths.
The two-dots form confuses people the first time. Say it plainly: one dot is here, two dots is the folder above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to photograph. Tell them to take a picture of this one now, so they stop worrying about remembering.
Make the safety point explicitly: none of the four commands in this deck deletes anything. The command that does delete is rm, it is not in this deck, and they should be careful the day they meet it.
Ctrl+C is the escape hatch. If the terminal ever seems stuck or is printing forever, Ctrl+C gets them back to a prompt. Knowing that removes most of the fear of typing something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'folder' in the title of the talk, and it is a habit rather than a technical step.
The reason to insist on one folder: six months from now they will have eight projects, and the difference between a tidy Documents/GitHub and eight folders scattered across the Desktop and Downloads is whether they can find their own work.
Say that mkdir printing nothing means success, and tie it back to slide 7. If they want proof, run 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conflate git and GitHub constantly, so separate them in one sentence and move on. Git is local and does the work; GitHub is a website that holds a copy.
The version-history framing is the one that lands with people who have used Google Docs. Same idea, applied to a whole folder, with the history under your control.
You do not need to teach commit, push, branch or pull request today. They can ask Claude Code to do all of it in English, and they will learn the words by watching what it runs. Say that out loud — it gives them permission to start before they understand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real public repo so the command actually works in the room. Any public repo clones without a login.
Point out that clone creates the folder for them, so they should run it from inside Documents/GitHub and not make an empty folder first. Cloning into the wrong place is the most common stumble here, and the fix is pwd.
Private repos need authentication, which is a separate session. Keep today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plan requirement out loud and early. Students on the free plan will hit a wall at login, and finding that out after installing feels like a bait and switch. Check what your campus provides before the session.
The silence during download trips up almost everyone. Warn them before they run it, not after they have force-quit the window.
These commands come from the official install docs, which do change. Re-check code.claude.com/docs/en/terminal-guide the week you present this.
Worth naming: pasting a command that downloads and runs a script is a real trust decision. It is fine here because the address is claude.ai, Anthropic's own domain. Teach them to read the domain in any install line before they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students remember one thing from the Claude Code half of this deck, make it this. Everything else they can look up.
The welcome screen prints the working directory. Teach them to read that line before typing their first message, the same way they read the prompt on slide 5.
Starting in the home folder is not dangerous so much as unfocused — but scope is also a safety habit. Keeping the tool pointed at one project is how you keep it away from everything else you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question rather than a task. Asking it to explain the project proves it can read the files, and it costs nothing if the answer is wrong.
The mental shift that takes longest: you are describing an outcome, not issuing a command. Vague in, vague out. 'Fix the bug' is weak; 'the page shows a blank screen after I log in with a bad password — fix that' is strong.
You cannot click in the terminal. Arrow keys move, and the mouse does nothing. Warn them before someone starts clicking at a menu that will not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permission prompt is the slide that converts the nervous people in the room. Nothing changes on their disk without them pressing yes.
Teach the diff format properly: minus and red is the old line, plus and green is the new one. They will read hundreds of these.
Make the point that 'no' is the more interesting answer, because it opens a conversation about what they actually wanted. Students assume no means the tool gives up.
The credentials warning is worth 20 seconds. The classic first-week mistake is committing a key to a public repo, and it is tedious to 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Pre-empting these three saves the whole room. They are the errors that make beginners quit, and each one has a one-line fix.
The PATH error is the most common and sounds the most alarming. Reassure them: the install worked. The terminal just has not been told where the program went, and a new window after that line fixes it.
Teach the habit on the last line. An error message pasted into Claude Code usually gets explained and fixed on the spot, and reading error messages instead of fearing them is most of what separates a beginner from an intermediate.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collapsing the whole session into five lines, and tell them again to photograph it.
The honest summary: two of these steps are one-time setup, and daily use is cd then claude. That is the reason this was worth 30 minutes.
Leave them with one assignment rather than a reading list: clone any public repo tonight, start Claude Code in it, and ask what the project does. Nothing breaks, and the fear is gone after the first time.
Source for every command here: code.claude.com/docs — the terminal guide and the quickstart.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10911535" cy="18288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3840480"/>
            <a:ext cx="8778240" cy="1097280"/>
          </a:xfrm>
          <a:prstGeom prst="rect">
            <a:avLst/>
          </a:prstGeom>
          <a:noFill/>
          <a:ln/>
        </p:spPr>
        <p:txBody>
          <a:bodyPr wrap="square" rtlCol="0"/>
          <a:lstStyle>
            <a:lvl1pPr indent="0" marL="0">
              <a:lnSpc>
                <a:spcPct val="120000"/>
              </a:lnSpc>
              <a:buNone/>
              <a:defRPr lang="en-US" sz="1900" dirty="0">
                <a:solidFill>
                  <a:schemeClr val="bg2"/>
                </a:solidFill>
              </a:defRPr>
            </a:lvl1pPr>
          </a:lstStyle>
          <a:p>
            <a:pPr indent="0" marL="0">
              <a:lnSpc>
                <a:spcPct val="120000"/>
              </a:lnSpc>
              <a:buNone/>
            </a:pP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rtlCol="0"/>
          <a:lstStyle>
            <a:lvl1pPr algn="l" indent="0" marL="0">
              <a:buNone/>
              <a:defRPr lang="en-US" sz="3300" b="1" dirty="0">
                <a:solidFill>
                  <a:schemeClr val="tx1"/>
                </a:solidFill>
              </a:defRPr>
            </a:lvl1pPr>
          </a:lstStyle>
          <a:p>
            <a:pPr algn="l" indent="0" marL="0">
              <a:buNone/>
            </a:pPr>
            <a:endParaRPr lang="en-US" sz="3300" dirty="0"/>
          </a:p>
        </p:txBody>
      </p:sp>
      <p:sp>
        <p:nvSpPr>
          <p:cNvPr id="3" name="Text 0"/>
          <p:cNvSpPr/>
          <p:nvPr>
            <p:ph idx="101" type="body" hasCustomPrompt="1"/>
          </p:nvPr>
        </p:nvSpPr>
        <p:spPr>
          <a:xfrm>
            <a:off x="640080" y="1874520"/>
            <a:ext cx="10911535" cy="4206240"/>
          </a:xfrm>
          <a:prstGeom prst="rect">
            <a:avLst/>
          </a:prstGeom>
          <a:noFill/>
          <a:ln/>
        </p:spPr>
        <p:txBody>
          <a:bodyPr wrap="square" rtlCol="0"/>
          <a:lstStyle>
            <a:lvl1pPr indent="0" marL="0">
              <a:buNone/>
              <a:defRPr lang="en-US" sz="1600" dirty="0">
                <a:solidFill>
                  <a:schemeClr val="tx2"/>
                </a:solidFill>
              </a:defRPr>
            </a:lvl1pPr>
          </a:lstStyle>
          <a:p>
            <a:pPr indent="0" marL="0">
              <a:buNone/>
            </a:pPr>
            <a:endParaRPr lang="en-US" sz="1600" dirty="0"/>
          </a:p>
        </p:txBody>
      </p:sp>
      <p:sp>
        <p:nvSpPr>
          <p:cNvPr id="4" name="Text 0"/>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Four commands and a folder</a:t>
            </a:r>
            <a:endParaRPr lang="en-US" sz="1000" dirty="0"/>
          </a:p>
        </p:txBody>
      </p:sp>
      <p:sp>
        <p:nvSpPr>
          <p:cNvPr id="5" name="Text 1"/>
          <p:cNvSpPr/>
          <p:nvPr>
            <p:ph idx="103" hasCustomPrompt="1"/>
          </p:nvPr>
        </p:nvSpPr>
        <p:spPr>
          <a:xfrm>
            <a:off x="11292840" y="6382512"/>
            <a:ext cx="548640" cy="274320"/>
          </a:xfrm>
          <a:prstGeom prst="rect">
            <a:avLst/>
          </a:prstGeom>
          <a:noFill/>
          <a:ln/>
        </p:spPr>
        <p:txBody>
          <a:bodyPr wrap="square" rtlCol="0"/>
          <a:lstStyle>
            <a:lvl1pPr algn="r" indent="0" marL="0">
              <a:buNone/>
              <a:defRPr lang="en-US" sz="1000" dirty="0">
                <a:solidFill>
                  <a:schemeClr val="accent4"/>
                </a:solidFill>
              </a:defRPr>
            </a:lvl1pPr>
          </a:lstStyle>
          <a:p>
            <a:pPr algn="r" indent="0" marL="0">
              <a:buNone/>
            </a:pP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ONLY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rtlCol="0"/>
          <a:lstStyle>
            <a:lvl1pPr algn="l" indent="0" marL="0">
              <a:buNone/>
              <a:defRPr lang="en-US" sz="3300" b="1" dirty="0">
                <a:solidFill>
                  <a:schemeClr val="tx1"/>
                </a:solidFill>
              </a:defRPr>
            </a:lvl1pPr>
          </a:lstStyle>
          <a:p>
            <a:pPr algn="l" indent="0" marL="0">
              <a:buNone/>
            </a:pPr>
            <a:endParaRPr lang="en-US" sz="3300" dirty="0"/>
          </a:p>
        </p:txBody>
      </p:sp>
      <p:sp>
        <p:nvSpPr>
          <p:cNvPr id="3" name="Text 0"/>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Four commands and a folder</a:t>
            </a:r>
            <a:endParaRPr lang="en-US" sz="1000" dirty="0"/>
          </a:p>
        </p:txBody>
      </p:sp>
      <p:sp>
        <p:nvSpPr>
          <p:cNvPr id="4" name="Text 1"/>
          <p:cNvSpPr/>
          <p:nvPr>
            <p:ph idx="102" hasCustomPrompt="1"/>
          </p:nvPr>
        </p:nvSpPr>
        <p:spPr>
          <a:xfrm>
            <a:off x="11292840" y="6382512"/>
            <a:ext cx="548640" cy="274320"/>
          </a:xfrm>
          <a:prstGeom prst="rect">
            <a:avLst/>
          </a:prstGeom>
          <a:noFill/>
          <a:ln/>
        </p:spPr>
        <p:txBody>
          <a:bodyPr wrap="square" rtlCol="0"/>
          <a:lstStyle>
            <a:lvl1pPr algn="r" indent="0" marL="0">
              <a:buNone/>
              <a:defRPr lang="en-US" sz="1000" dirty="0">
                <a:solidFill>
                  <a:schemeClr val="accent4"/>
                </a:solidFill>
              </a:defRPr>
            </a:lvl1pPr>
          </a:lstStyle>
          <a:p>
            <a:pPr algn="r" indent="0" marL="0">
              <a:buNone/>
            </a:pPr>
            <a:endParaRPr lang="en-US" sz="1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ONLY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rtlCol="0"/>
          <a:lstStyle>
            <a:lvl1pPr algn="l" indent="0" marL="0">
              <a:buNone/>
              <a:defRPr lang="en-US" sz="3300" b="1" dirty="0">
                <a:solidFill>
                  <a:schemeClr val="bg1"/>
                </a:solidFill>
              </a:defRPr>
            </a:lvl1pPr>
          </a:lstStyle>
          <a:p>
            <a:pPr algn="l" indent="0" marL="0">
              <a:buNone/>
            </a:pPr>
            <a:endParaRPr lang="en-US" sz="3300" dirty="0"/>
          </a:p>
        </p:txBody>
      </p:sp>
      <p:sp>
        <p:nvSpPr>
          <p:cNvPr id="3" name="Text 0"/>
          <p:cNvSpPr/>
          <p:nvPr>
            <p:ph idx="101" hasCustomPrompt="1"/>
          </p:nvPr>
        </p:nvSpPr>
        <p:spPr>
          <a:xfrm>
            <a:off x="11292840" y="6382512"/>
            <a:ext cx="548640" cy="274320"/>
          </a:xfrm>
          <a:prstGeom prst="rect">
            <a:avLst/>
          </a:prstGeom>
          <a:noFill/>
          <a:ln/>
        </p:spPr>
        <p:txBody>
          <a:bodyPr wrap="square" rtlCol="0"/>
          <a:lstStyle>
            <a:lvl1pPr algn="r" indent="0" marL="0">
              <a:buNone/>
              <a:defRPr lang="en-US" sz="1000" dirty="0">
                <a:solidFill>
                  <a:schemeClr val="accent4"/>
                </a:solidFill>
              </a:defRPr>
            </a:lvl1pPr>
          </a:lstStyle>
          <a:p>
            <a:pPr algn="r" indent="0" marL="0">
              <a:buNone/>
            </a:pP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bg-~/Documents/Gi"/>
          <p:cNvSpPr/>
          <p:nvPr/>
        </p:nvSpPr>
        <p:spPr>
          <a:xfrm>
            <a:off x="640080" y="1234440"/>
            <a:ext cx="1975104" cy="274320"/>
          </a:xfrm>
          <a:prstGeom prst="roundRect">
            <a:avLst>
              <a:gd name="adj" fmla="val 16667"/>
            </a:avLst>
          </a:prstGeom>
          <a:solidFill>
            <a:srgbClr val="9E5E0D"/>
          </a:solidFill>
          <a:ln/>
        </p:spPr>
      </p:sp>
      <p:sp>
        <p:nvSpPr>
          <p:cNvPr id="3" name="chip-~/Documents/Gi"/>
          <p:cNvSpPr txBox="1"/>
          <p:nvPr/>
        </p:nvSpPr>
        <p:spPr>
          <a:xfrm>
            <a:off x="640080" y="1234440"/>
            <a:ext cx="1975104"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ourier New" pitchFamily="34" charset="0"/>
                <a:ea typeface="Courier New" pitchFamily="34" charset="-122"/>
                <a:cs typeface="Courier New" pitchFamily="34" charset="-120"/>
              </a:rPr>
              <a:t>~/Documents/GitHub</a:t>
            </a:r>
            <a:endParaRPr lang="en-US" sz="1000" dirty="0"/>
          </a:p>
        </p:txBody>
      </p:sp>
      <p:sp>
        <p:nvSpPr>
          <p:cNvPr id="4" name="Text 0"/>
          <p:cNvSpPr/>
          <p:nvPr>
            <p:ph idx="100" type="title" hasCustomPrompt="1"/>
          </p:nvPr>
        </p:nvSpPr>
        <p:spPr>
          <a:xfrm>
            <a:off x="640080" y="1828800"/>
            <a:ext cx="10911535" cy="1828800"/>
          </a:xfrm>
          <a:prstGeom prst="rect">
            <a:avLst/>
          </a:prstGeom>
          <a:noFill/>
          <a:ln/>
        </p:spPr>
        <p:txBody>
          <a:bodyPr wrap="square" lIns="0" tIns="0" rIns="0" bIns="0" rtlCol="0" anchor="b"/>
          <a:lstStyle/>
          <a:p>
            <a:pPr algn="l" indent="0" marL="0">
              <a:buNone/>
            </a:pPr>
            <a:r>
              <a:rPr lang="en-US" sz="5400" b="1" dirty="0">
                <a:solidFill>
                  <a:schemeClr val="bg1"/>
                </a:solidFill>
              </a:rPr>
              <a:t>Four commands and a folder</a:t>
            </a:r>
            <a:endParaRPr lang="en-US" sz="5400" dirty="0"/>
          </a:p>
        </p:txBody>
      </p:sp>
      <p:sp>
        <p:nvSpPr>
          <p:cNvPr id="5" name="Text 0"/>
          <p:cNvSpPr/>
          <p:nvPr>
            <p:ph idx="101" type="body" hasCustomPrompt="1"/>
          </p:nvPr>
        </p:nvSpPr>
        <p:spPr>
          <a:xfrm>
            <a:off x="640080" y="3840480"/>
            <a:ext cx="8778240" cy="1097280"/>
          </a:xfrm>
          <a:prstGeom prst="rect">
            <a:avLst/>
          </a:prstGeom>
          <a:noFill/>
          <a:ln/>
        </p:spPr>
        <p:txBody>
          <a:bodyPr wrap="square" lIns="0" tIns="0" rIns="0" bIns="0" rtlCol="0" anchor="t"/>
          <a:lstStyle/>
          <a:p>
            <a:pPr indent="0" marL="0">
              <a:lnSpc>
                <a:spcPct val="120000"/>
              </a:lnSpc>
              <a:buNone/>
            </a:pPr>
            <a:r>
              <a:rPr lang="en-US" sz="1900" dirty="0">
                <a:solidFill>
                  <a:schemeClr val="bg2"/>
                </a:solidFill>
              </a:rPr>
              <a:t>Getting set up with the terminal, GitHub and Claude Code. No prior experience assumed — we start by opening a window.</a:t>
            </a:r>
            <a:endParaRPr lang="en-US" sz="1900" dirty="0"/>
          </a:p>
        </p:txBody>
      </p:sp>
      <p:sp>
        <p:nvSpPr>
          <p:cNvPr id="6" name="title-term"/>
          <p:cNvSpPr/>
          <p:nvPr/>
        </p:nvSpPr>
        <p:spPr>
          <a:xfrm>
            <a:off x="640080" y="5257800"/>
            <a:ext cx="4023360" cy="566928"/>
          </a:xfrm>
          <a:prstGeom prst="roundRect">
            <a:avLst>
              <a:gd name="adj" fmla="val 5645"/>
            </a:avLst>
          </a:prstGeom>
          <a:solidFill>
            <a:srgbClr val="12191C"/>
          </a:solidFill>
          <a:ln/>
          <a:effectLst>
            <a:outerShdw sx="100000" sy="100000" kx="0" ky="0" algn="bl" rotWithShape="0" blurRad="127000" dist="25400" dir="5400000">
              <a:srgbClr val="000000">
                <a:alpha val="18000"/>
              </a:srgbClr>
            </a:outerShdw>
          </a:effectLst>
        </p:spPr>
      </p:sp>
      <p:sp>
        <p:nvSpPr>
          <p:cNvPr id="7" name="title-term-text"/>
          <p:cNvSpPr txBox="1"/>
          <p:nvPr/>
        </p:nvSpPr>
        <p:spPr>
          <a:xfrm>
            <a:off x="896112" y="5440680"/>
            <a:ext cx="3511296" cy="201168"/>
          </a:xfrm>
          <a:prstGeom prst="rect">
            <a:avLst/>
          </a:prstGeom>
          <a:noFill/>
          <a:ln/>
        </p:spPr>
        <p:txBody>
          <a:bodyPr wrap="square" lIns="0" tIns="0" rIns="0" bIns="0" rtlCol="0" anchor="t"/>
          <a:lstStyle/>
          <a:p>
            <a:pPr indent="0" marL="0">
              <a:lnSpc>
                <a:spcPct val="112000"/>
              </a:lnSpc>
              <a:buNone/>
            </a:pPr>
            <a:r>
              <a:rPr lang="en-US" sz="1400" dirty="0">
                <a:solidFill>
                  <a:srgbClr val="9FAEB7"/>
                </a:solidFill>
                <a:latin typeface="Courier New" pitchFamily="34" charset="0"/>
                <a:ea typeface="Courier New" pitchFamily="34" charset="-122"/>
                <a:cs typeface="Courier New" pitchFamily="34" charset="-120"/>
              </a:rPr>
              <a:t>laptop ~ % </a:t>
            </a:r>
            <a:endParaRPr lang="en-US" sz="1400" dirty="0"/>
          </a:p>
        </p:txBody>
      </p:sp>
      <p:sp>
        <p:nvSpPr>
          <p:cNvPr id="8" name="caption"/>
          <p:cNvSpPr txBox="1"/>
          <p:nvPr/>
        </p:nvSpPr>
        <p:spPr>
          <a:xfrm>
            <a:off x="4892040" y="5358384"/>
            <a:ext cx="6583680" cy="457200"/>
          </a:xfrm>
          <a:prstGeom prst="rect">
            <a:avLst/>
          </a:prstGeom>
          <a:noFill/>
          <a:ln/>
        </p:spPr>
        <p:txBody>
          <a:bodyPr wrap="square" lIns="0" tIns="0" rIns="0" bIns="0" rtlCol="0" anchor="t"/>
          <a:lstStyle/>
          <a:p>
            <a:pPr algn="l" indent="0" marL="0">
              <a:lnSpc>
                <a:spcPct val="118000"/>
              </a:lnSpc>
              <a:buNone/>
            </a:pPr>
            <a:r>
              <a:rPr lang="en-US" sz="1400" dirty="0">
                <a:solidFill>
                  <a:srgbClr val="9FAEB7"/>
                </a:solidFill>
              </a:rPr>
              <a:t>That blinking cursor is the whole barrier. It goes away in about a minute.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Here is where we're going</a:t>
            </a:r>
            <a:endParaRPr lang="en-US" sz="3300" dirty="0"/>
          </a:p>
        </p:txBody>
      </p:sp>
      <p:sp>
        <p:nvSpPr>
          <p:cNvPr id="3" name="goal-term"/>
          <p:cNvSpPr/>
          <p:nvPr/>
        </p:nvSpPr>
        <p:spPr>
          <a:xfrm>
            <a:off x="640080" y="1874520"/>
            <a:ext cx="6858000" cy="1712671"/>
          </a:xfrm>
          <a:prstGeom prst="roundRect">
            <a:avLst>
              <a:gd name="adj" fmla="val 1869"/>
            </a:avLst>
          </a:prstGeom>
          <a:solidFill>
            <a:srgbClr val="12191C"/>
          </a:solidFill>
          <a:ln/>
          <a:effectLst>
            <a:outerShdw sx="100000" sy="100000" kx="0" ky="0" algn="bl" rotWithShape="0" blurRad="127000" dist="25400" dir="5400000">
              <a:srgbClr val="000000">
                <a:alpha val="18000"/>
              </a:srgbClr>
            </a:outerShdw>
          </a:effectLst>
        </p:spPr>
      </p:sp>
      <p:sp>
        <p:nvSpPr>
          <p:cNvPr id="4" name="goal-term-text"/>
          <p:cNvSpPr txBox="1"/>
          <p:nvPr/>
        </p:nvSpPr>
        <p:spPr>
          <a:xfrm>
            <a:off x="896112" y="2057400"/>
            <a:ext cx="6345936" cy="1346911"/>
          </a:xfrm>
          <a:prstGeom prst="rect">
            <a:avLst/>
          </a:prstGeom>
          <a:noFill/>
          <a:ln/>
        </p:spPr>
        <p:txBody>
          <a:bodyPr wrap="square" lIns="0" tIns="0" rIns="0" bIns="0" rtlCol="0" anchor="t"/>
          <a:lstStyle/>
          <a:p>
            <a:pPr indent="0" marL="0">
              <a:lnSpc>
                <a:spcPct val="112000"/>
              </a:lnSpc>
              <a:buNone/>
            </a:pPr>
            <a:r>
              <a:rPr lang="en-US" sz="1500" b="1" dirty="0">
                <a:solidFill>
                  <a:srgbClr val="E5A24A"/>
                </a:solidFill>
                <a:latin typeface="Courier New" pitchFamily="34" charset="0"/>
                <a:ea typeface="Courier New" pitchFamily="34" charset="-122"/>
                <a:cs typeface="Courier New" pitchFamily="34" charset="-120"/>
              </a:rPr>
              <a:t>laptop ~ % cd Documents/GitHub/rowan-clery</a:t>
            </a:r>
            <a:endParaRPr lang="en-US" sz="1500" dirty="0"/>
          </a:p>
          <a:p>
            <a:pPr indent="0" marL="0">
              <a:lnSpc>
                <a:spcPct val="112000"/>
              </a:lnSpc>
              <a:buNone/>
            </a:pPr>
            <a:r>
              <a:rPr lang="en-US" sz="1500" b="1" dirty="0">
                <a:solidFill>
                  <a:srgbClr val="E5A24A"/>
                </a:solidFill>
                <a:latin typeface="Courier New" pitchFamily="34" charset="0"/>
                <a:ea typeface="Courier New" pitchFamily="34" charset="-122"/>
                <a:cs typeface="Courier New" pitchFamily="34" charset="-120"/>
              </a:rPr>
              <a:t>laptop rowan-clery % claude</a:t>
            </a:r>
            <a:endParaRPr lang="en-US" sz="1500" dirty="0"/>
          </a:p>
          <a:p>
            <a:pPr indent="0" marL="0">
              <a:lnSpc>
                <a:spcPct val="112000"/>
              </a:lnSpc>
              <a:buNone/>
            </a:pPr>
            <a:r>
              <a:rPr lang="en-US" sz="700" dirty="0">
                <a:solidFill>
                  <a:srgbClr val="12191C"/>
                </a:solidFill>
                <a:latin typeface="Courier New" pitchFamily="34" charset="0"/>
                <a:ea typeface="Courier New" pitchFamily="34" charset="-122"/>
                <a:cs typeface="Courier New" pitchFamily="34" charset="-120"/>
              </a:rPr>
              <a:t> </a:t>
            </a:r>
            <a:endParaRPr lang="en-US" sz="1500" dirty="0"/>
          </a:p>
          <a:p>
            <a:pPr indent="0" marL="0">
              <a:lnSpc>
                <a:spcPct val="112000"/>
              </a:lnSpc>
              <a:buNone/>
            </a:pPr>
            <a:r>
              <a:rPr lang="en-US" sz="1500" dirty="0">
                <a:solidFill>
                  <a:srgbClr val="9FAEB7"/>
                </a:solidFill>
                <a:latin typeface="Courier New" pitchFamily="34" charset="0"/>
                <a:ea typeface="Courier New" pitchFamily="34" charset="-122"/>
                <a:cs typeface="Courier New" pitchFamily="34" charset="-120"/>
              </a:rPr>
              <a:t>  ✦ Welcome to Claude Code</a:t>
            </a:r>
            <a:endParaRPr lang="en-US" sz="1500" dirty="0"/>
          </a:p>
          <a:p>
            <a:pPr indent="0" marL="0">
              <a:lnSpc>
                <a:spcPct val="112000"/>
              </a:lnSpc>
              <a:buNone/>
            </a:pPr>
            <a:r>
              <a:rPr lang="en-US" sz="1500" dirty="0">
                <a:solidFill>
                  <a:srgbClr val="9FAEB7"/>
                </a:solidFill>
                <a:latin typeface="Courier New" pitchFamily="34" charset="0"/>
                <a:ea typeface="Courier New" pitchFamily="34" charset="-122"/>
                <a:cs typeface="Courier New" pitchFamily="34" charset="-120"/>
              </a:rPr>
              <a:t>    cwd: /Users/you/Documents/GitHub/rowan-clery</a:t>
            </a:r>
            <a:endParaRPr lang="en-US" sz="1500" dirty="0"/>
          </a:p>
          <a:p>
            <a:pPr indent="0" marL="0">
              <a:lnSpc>
                <a:spcPct val="112000"/>
              </a:lnSpc>
              <a:buNone/>
            </a:pPr>
            <a:r>
              <a:rPr lang="en-US" sz="700" dirty="0">
                <a:solidFill>
                  <a:srgbClr val="12191C"/>
                </a:solidFill>
                <a:latin typeface="Courier New" pitchFamily="34" charset="0"/>
                <a:ea typeface="Courier New" pitchFamily="34" charset="-122"/>
                <a:cs typeface="Courier New" pitchFamily="34" charset="-120"/>
              </a:rPr>
              <a:t> </a:t>
            </a:r>
            <a:endParaRPr lang="en-US" sz="1500" dirty="0"/>
          </a:p>
          <a:p>
            <a:pPr indent="0" marL="0">
              <a:lnSpc>
                <a:spcPct val="112000"/>
              </a:lnSpc>
              <a:buNone/>
            </a:pPr>
            <a:r>
              <a:rPr lang="en-US" sz="1500" dirty="0">
                <a:solidFill>
                  <a:srgbClr val="EDF1F2"/>
                </a:solidFill>
                <a:latin typeface="Courier New" pitchFamily="34" charset="0"/>
                <a:ea typeface="Courier New" pitchFamily="34" charset="-122"/>
                <a:cs typeface="Courier New" pitchFamily="34" charset="-120"/>
              </a:rPr>
              <a:t>&gt; what does this project do?</a:t>
            </a:r>
            <a:endParaRPr lang="en-US" sz="1500" dirty="0"/>
          </a:p>
        </p:txBody>
      </p:sp>
      <p:sp>
        <p:nvSpPr>
          <p:cNvPr id="5" name="goal-c1"/>
          <p:cNvSpPr/>
          <p:nvPr/>
        </p:nvSpPr>
        <p:spPr>
          <a:xfrm>
            <a:off x="7818120" y="1874520"/>
            <a:ext cx="3730752" cy="1325880"/>
          </a:xfrm>
          <a:prstGeom prst="roundRect">
            <a:avLst>
              <a:gd name="adj" fmla="val 2414"/>
            </a:avLst>
          </a:prstGeom>
          <a:solidFill>
            <a:srgbClr val="EDF1F2"/>
          </a:solidFill>
          <a:ln/>
          <a:effectLst>
            <a:outerShdw sx="100000" sy="100000" kx="0" ky="0" algn="bl" rotWithShape="0" blurRad="101600" dist="12700" dir="5400000">
              <a:srgbClr val="000000">
                <a:alpha val="10000"/>
              </a:srgbClr>
            </a:outerShdw>
          </a:effectLst>
        </p:spPr>
      </p:sp>
      <p:sp>
        <p:nvSpPr>
          <p:cNvPr id="6" name="goal-c1-num-bg"/>
          <p:cNvSpPr/>
          <p:nvPr/>
        </p:nvSpPr>
        <p:spPr>
          <a:xfrm>
            <a:off x="8055864" y="2075688"/>
            <a:ext cx="384048" cy="384048"/>
          </a:xfrm>
          <a:prstGeom prst="ellipse">
            <a:avLst/>
          </a:prstGeom>
          <a:solidFill>
            <a:srgbClr val="9E5E0D"/>
          </a:solidFill>
          <a:ln/>
        </p:spPr>
      </p:sp>
      <p:sp>
        <p:nvSpPr>
          <p:cNvPr id="7" name="goal-c1-num"/>
          <p:cNvSpPr txBox="1"/>
          <p:nvPr/>
        </p:nvSpPr>
        <p:spPr>
          <a:xfrm>
            <a:off x="8055864" y="2075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goal-c1-head"/>
          <p:cNvSpPr txBox="1"/>
          <p:nvPr/>
        </p:nvSpPr>
        <p:spPr>
          <a:xfrm>
            <a:off x="8586216" y="2029968"/>
            <a:ext cx="2688336" cy="402336"/>
          </a:xfrm>
          <a:prstGeom prst="rect">
            <a:avLst/>
          </a:prstGeom>
          <a:noFill/>
          <a:ln/>
        </p:spPr>
        <p:txBody>
          <a:bodyPr wrap="square" lIns="0" tIns="0" rIns="0" bIns="0" rtlCol="0" anchor="ctr"/>
          <a:lstStyle/>
          <a:p>
            <a:pPr indent="0" marL="0">
              <a:buNone/>
            </a:pPr>
            <a:r>
              <a:rPr lang="en-US" sz="1500" b="1" dirty="0">
                <a:solidFill>
                  <a:srgbClr val="12191C"/>
                </a:solidFill>
              </a:rPr>
              <a:t>Go to the folder</a:t>
            </a:r>
            <a:endParaRPr lang="en-US" sz="1500" dirty="0"/>
          </a:p>
        </p:txBody>
      </p:sp>
      <p:sp>
        <p:nvSpPr>
          <p:cNvPr id="9" name="goal-c1-text"/>
          <p:cNvSpPr txBox="1"/>
          <p:nvPr/>
        </p:nvSpPr>
        <p:spPr>
          <a:xfrm>
            <a:off x="8586216" y="2496312"/>
            <a:ext cx="2688336" cy="557784"/>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One command. The folder holds the project you want to work on.</a:t>
            </a:r>
            <a:endParaRPr lang="en-US" sz="1300" dirty="0"/>
          </a:p>
        </p:txBody>
      </p:sp>
      <p:sp>
        <p:nvSpPr>
          <p:cNvPr id="10" name="goal-c2"/>
          <p:cNvSpPr/>
          <p:nvPr/>
        </p:nvSpPr>
        <p:spPr>
          <a:xfrm>
            <a:off x="7818120" y="3310128"/>
            <a:ext cx="3730752" cy="1325880"/>
          </a:xfrm>
          <a:prstGeom prst="roundRect">
            <a:avLst>
              <a:gd name="adj" fmla="val 2414"/>
            </a:avLst>
          </a:prstGeom>
          <a:solidFill>
            <a:srgbClr val="EDF1F2"/>
          </a:solidFill>
          <a:ln/>
          <a:effectLst>
            <a:outerShdw sx="100000" sy="100000" kx="0" ky="0" algn="bl" rotWithShape="0" blurRad="101600" dist="12700" dir="5400000">
              <a:srgbClr val="000000">
                <a:alpha val="10000"/>
              </a:srgbClr>
            </a:outerShdw>
          </a:effectLst>
        </p:spPr>
      </p:sp>
      <p:sp>
        <p:nvSpPr>
          <p:cNvPr id="11" name="goal-c2-num-bg"/>
          <p:cNvSpPr/>
          <p:nvPr/>
        </p:nvSpPr>
        <p:spPr>
          <a:xfrm>
            <a:off x="8055864" y="3511296"/>
            <a:ext cx="384048" cy="384048"/>
          </a:xfrm>
          <a:prstGeom prst="ellipse">
            <a:avLst/>
          </a:prstGeom>
          <a:solidFill>
            <a:srgbClr val="9E5E0D"/>
          </a:solidFill>
          <a:ln/>
        </p:spPr>
      </p:sp>
      <p:sp>
        <p:nvSpPr>
          <p:cNvPr id="12" name="goal-c2-num"/>
          <p:cNvSpPr txBox="1"/>
          <p:nvPr/>
        </p:nvSpPr>
        <p:spPr>
          <a:xfrm>
            <a:off x="8055864" y="35112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goal-c2-head"/>
          <p:cNvSpPr txBox="1"/>
          <p:nvPr/>
        </p:nvSpPr>
        <p:spPr>
          <a:xfrm>
            <a:off x="8586216" y="3465576"/>
            <a:ext cx="2688336" cy="402336"/>
          </a:xfrm>
          <a:prstGeom prst="rect">
            <a:avLst/>
          </a:prstGeom>
          <a:noFill/>
          <a:ln/>
        </p:spPr>
        <p:txBody>
          <a:bodyPr wrap="square" lIns="0" tIns="0" rIns="0" bIns="0" rtlCol="0" anchor="ctr"/>
          <a:lstStyle/>
          <a:p>
            <a:pPr indent="0" marL="0">
              <a:buNone/>
            </a:pPr>
            <a:r>
              <a:rPr lang="en-US" sz="1500" b="1" dirty="0">
                <a:solidFill>
                  <a:srgbClr val="12191C"/>
                </a:solidFill>
              </a:rPr>
              <a:t>Type claude</a:t>
            </a:r>
            <a:endParaRPr lang="en-US" sz="1500" dirty="0"/>
          </a:p>
        </p:txBody>
      </p:sp>
      <p:sp>
        <p:nvSpPr>
          <p:cNvPr id="14" name="goal-c2-text"/>
          <p:cNvSpPr txBox="1"/>
          <p:nvPr/>
        </p:nvSpPr>
        <p:spPr>
          <a:xfrm>
            <a:off x="8586216" y="3931920"/>
            <a:ext cx="2688336" cy="557784"/>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One word. It starts in that folder and reads the files there.</a:t>
            </a:r>
            <a:endParaRPr lang="en-US" sz="1300" dirty="0"/>
          </a:p>
        </p:txBody>
      </p:sp>
      <p:sp>
        <p:nvSpPr>
          <p:cNvPr id="15" name="goal-c3"/>
          <p:cNvSpPr/>
          <p:nvPr/>
        </p:nvSpPr>
        <p:spPr>
          <a:xfrm>
            <a:off x="7818120" y="4745736"/>
            <a:ext cx="3730752" cy="1325880"/>
          </a:xfrm>
          <a:prstGeom prst="roundRect">
            <a:avLst>
              <a:gd name="adj" fmla="val 2414"/>
            </a:avLst>
          </a:prstGeom>
          <a:solidFill>
            <a:srgbClr val="EDF1F2"/>
          </a:solidFill>
          <a:ln/>
          <a:effectLst>
            <a:outerShdw sx="100000" sy="100000" kx="0" ky="0" algn="bl" rotWithShape="0" blurRad="101600" dist="12700" dir="5400000">
              <a:srgbClr val="000000">
                <a:alpha val="10000"/>
              </a:srgbClr>
            </a:outerShdw>
          </a:effectLst>
        </p:spPr>
      </p:sp>
      <p:sp>
        <p:nvSpPr>
          <p:cNvPr id="16" name="goal-c3-num-bg"/>
          <p:cNvSpPr/>
          <p:nvPr/>
        </p:nvSpPr>
        <p:spPr>
          <a:xfrm>
            <a:off x="8055864" y="4946904"/>
            <a:ext cx="384048" cy="384048"/>
          </a:xfrm>
          <a:prstGeom prst="ellipse">
            <a:avLst/>
          </a:prstGeom>
          <a:solidFill>
            <a:srgbClr val="9E5E0D"/>
          </a:solidFill>
          <a:ln/>
        </p:spPr>
      </p:sp>
      <p:sp>
        <p:nvSpPr>
          <p:cNvPr id="17" name="goal-c3-num"/>
          <p:cNvSpPr txBox="1"/>
          <p:nvPr/>
        </p:nvSpPr>
        <p:spPr>
          <a:xfrm>
            <a:off x="8055864" y="49469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goal-c3-head"/>
          <p:cNvSpPr txBox="1"/>
          <p:nvPr/>
        </p:nvSpPr>
        <p:spPr>
          <a:xfrm>
            <a:off x="8586216" y="4901184"/>
            <a:ext cx="2688336" cy="402336"/>
          </a:xfrm>
          <a:prstGeom prst="rect">
            <a:avLst/>
          </a:prstGeom>
          <a:noFill/>
          <a:ln/>
        </p:spPr>
        <p:txBody>
          <a:bodyPr wrap="square" lIns="0" tIns="0" rIns="0" bIns="0" rtlCol="0" anchor="ctr"/>
          <a:lstStyle/>
          <a:p>
            <a:pPr indent="0" marL="0">
              <a:buNone/>
            </a:pPr>
            <a:r>
              <a:rPr lang="en-US" sz="1500" b="1" dirty="0">
                <a:solidFill>
                  <a:srgbClr val="12191C"/>
                </a:solidFill>
              </a:rPr>
              <a:t>Ask in plain English</a:t>
            </a:r>
            <a:endParaRPr lang="en-US" sz="1500" dirty="0"/>
          </a:p>
        </p:txBody>
      </p:sp>
      <p:sp>
        <p:nvSpPr>
          <p:cNvPr id="19" name="goal-c3-text"/>
          <p:cNvSpPr txBox="1"/>
          <p:nvPr/>
        </p:nvSpPr>
        <p:spPr>
          <a:xfrm>
            <a:off x="8586216" y="5367528"/>
            <a:ext cx="2688336" cy="557784"/>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No syntax to learn. Full sentences work better than keywords.</a:t>
            </a:r>
            <a:endParaRPr lang="en-US" sz="1300" dirty="0"/>
          </a:p>
        </p:txBody>
      </p:sp>
      <p:sp>
        <p:nvSpPr>
          <p:cNvPr id="20" name="caption"/>
          <p:cNvSpPr txBox="1"/>
          <p:nvPr/>
        </p:nvSpPr>
        <p:spPr>
          <a:xfrm>
            <a:off x="640080" y="4069080"/>
            <a:ext cx="6858000" cy="457200"/>
          </a:xfrm>
          <a:prstGeom prst="rect">
            <a:avLst/>
          </a:prstGeom>
          <a:noFill/>
          <a:ln/>
        </p:spPr>
        <p:txBody>
          <a:bodyPr wrap="square" lIns="0" tIns="0" rIns="0" bIns="0" rtlCol="0" anchor="t"/>
          <a:lstStyle/>
          <a:p>
            <a:pPr algn="l" indent="0" marL="0">
              <a:lnSpc>
                <a:spcPct val="118000"/>
              </a:lnSpc>
              <a:buNone/>
            </a:pPr>
            <a:r>
              <a:rPr lang="en-US" sz="1500" i="1" dirty="0">
                <a:solidFill>
                  <a:srgbClr val="5E6E78"/>
                </a:solidFill>
              </a:rPr>
              <a:t>Two commands, then a conversation. The rest of this deck is how to get here.</a:t>
            </a:r>
            <a:endParaRPr lang="en-US" sz="1500" dirty="0"/>
          </a:p>
        </p:txBody>
      </p:sp>
      <p:sp>
        <p:nvSpPr>
          <p:cNvPr id="22"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A window where you type instead of click</a:t>
            </a:r>
            <a:endParaRPr lang="en-US" sz="3300" dirty="0"/>
          </a:p>
        </p:txBody>
      </p:sp>
      <p:sp>
        <p:nvSpPr>
          <p:cNvPr id="3" name="t-gui"/>
          <p:cNvSpPr/>
          <p:nvPr/>
        </p:nvSpPr>
        <p:spPr>
          <a:xfrm>
            <a:off x="640080" y="1874520"/>
            <a:ext cx="5321808" cy="1371600"/>
          </a:xfrm>
          <a:prstGeom prst="roundRect">
            <a:avLst>
              <a:gd name="adj" fmla="val 2333"/>
            </a:avLst>
          </a:prstGeom>
          <a:solidFill>
            <a:srgbClr val="EDF1F2"/>
          </a:solidFill>
          <a:ln/>
          <a:effectLst>
            <a:outerShdw sx="100000" sy="100000" kx="0" ky="0" algn="bl" rotWithShape="0" blurRad="101600" dist="12700" dir="5400000">
              <a:srgbClr val="000000">
                <a:alpha val="10000"/>
              </a:srgbClr>
            </a:outerShdw>
          </a:effectLst>
        </p:spPr>
      </p:sp>
      <p:sp>
        <p:nvSpPr>
          <p:cNvPr id="4" name="t-gui-head"/>
          <p:cNvSpPr txBox="1"/>
          <p:nvPr/>
        </p:nvSpPr>
        <p:spPr>
          <a:xfrm>
            <a:off x="914400" y="2075688"/>
            <a:ext cx="4773168" cy="402336"/>
          </a:xfrm>
          <a:prstGeom prst="rect">
            <a:avLst/>
          </a:prstGeom>
          <a:noFill/>
          <a:ln/>
        </p:spPr>
        <p:txBody>
          <a:bodyPr wrap="square" lIns="0" tIns="0" rIns="0" bIns="0" rtlCol="0" anchor="ctr"/>
          <a:lstStyle/>
          <a:p>
            <a:pPr indent="0" marL="0">
              <a:buNone/>
            </a:pPr>
            <a:r>
              <a:rPr lang="en-US" sz="1600" b="1" dirty="0">
                <a:solidFill>
                  <a:srgbClr val="12191C"/>
                </a:solidFill>
              </a:rPr>
              <a:t>Finder, or File Explorer</a:t>
            </a:r>
            <a:endParaRPr lang="en-US" sz="1600" dirty="0"/>
          </a:p>
        </p:txBody>
      </p:sp>
      <p:sp>
        <p:nvSpPr>
          <p:cNvPr id="5" name="t-gui-text"/>
          <p:cNvSpPr txBox="1"/>
          <p:nvPr/>
        </p:nvSpPr>
        <p:spPr>
          <a:xfrm>
            <a:off x="914400" y="2496312"/>
            <a:ext cx="4773168" cy="603504"/>
          </a:xfrm>
          <a:prstGeom prst="rect">
            <a:avLst/>
          </a:prstGeom>
          <a:noFill/>
          <a:ln/>
        </p:spPr>
        <p:txBody>
          <a:bodyPr wrap="square" lIns="0" tIns="0" rIns="0" bIns="0" rtlCol="0" anchor="t"/>
          <a:lstStyle/>
          <a:p>
            <a:pPr indent="0" marL="0">
              <a:lnSpc>
                <a:spcPct val="118000"/>
              </a:lnSpc>
              <a:buNone/>
            </a:pPr>
            <a:r>
              <a:rPr lang="en-US" sz="1400" dirty="0">
                <a:solidFill>
                  <a:srgbClr val="33444D"/>
                </a:solidFill>
              </a:rPr>
              <a:t>You see your files as icons. You open a folder by double-clicking it. You move a file by dragging it.</a:t>
            </a:r>
            <a:endParaRPr lang="en-US" sz="1400" dirty="0"/>
          </a:p>
        </p:txBody>
      </p:sp>
      <p:sp>
        <p:nvSpPr>
          <p:cNvPr id="6" name="t-cli"/>
          <p:cNvSpPr/>
          <p:nvPr/>
        </p:nvSpPr>
        <p:spPr>
          <a:xfrm>
            <a:off x="6601968" y="1874520"/>
            <a:ext cx="4946904" cy="1371600"/>
          </a:xfrm>
          <a:prstGeom prst="roundRect">
            <a:avLst>
              <a:gd name="adj" fmla="val 2333"/>
            </a:avLst>
          </a:prstGeom>
          <a:solidFill>
            <a:srgbClr val="1E292F"/>
          </a:solidFill>
          <a:ln/>
          <a:effectLst>
            <a:outerShdw sx="100000" sy="100000" kx="0" ky="0" algn="bl" rotWithShape="0" blurRad="101600" dist="12700" dir="5400000">
              <a:srgbClr val="000000">
                <a:alpha val="10000"/>
              </a:srgbClr>
            </a:outerShdw>
          </a:effectLst>
        </p:spPr>
      </p:sp>
      <p:sp>
        <p:nvSpPr>
          <p:cNvPr id="7" name="t-cli-head"/>
          <p:cNvSpPr txBox="1"/>
          <p:nvPr/>
        </p:nvSpPr>
        <p:spPr>
          <a:xfrm>
            <a:off x="6876288" y="2075688"/>
            <a:ext cx="4398264" cy="402336"/>
          </a:xfrm>
          <a:prstGeom prst="rect">
            <a:avLst/>
          </a:prstGeom>
          <a:noFill/>
          <a:ln/>
        </p:spPr>
        <p:txBody>
          <a:bodyPr wrap="square" lIns="0" tIns="0" rIns="0" bIns="0" rtlCol="0" anchor="ctr"/>
          <a:lstStyle/>
          <a:p>
            <a:pPr indent="0" marL="0">
              <a:buNone/>
            </a:pPr>
            <a:r>
              <a:rPr lang="en-US" sz="1600" b="1" dirty="0">
                <a:solidFill>
                  <a:srgbClr val="FFFFFF"/>
                </a:solidFill>
              </a:rPr>
              <a:t>The terminal</a:t>
            </a:r>
            <a:endParaRPr lang="en-US" sz="1600" dirty="0"/>
          </a:p>
        </p:txBody>
      </p:sp>
      <p:sp>
        <p:nvSpPr>
          <p:cNvPr id="8" name="t-cli-text"/>
          <p:cNvSpPr txBox="1"/>
          <p:nvPr/>
        </p:nvSpPr>
        <p:spPr>
          <a:xfrm>
            <a:off x="6876288" y="2496312"/>
            <a:ext cx="4398264" cy="603504"/>
          </a:xfrm>
          <a:prstGeom prst="rect">
            <a:avLst/>
          </a:prstGeom>
          <a:noFill/>
          <a:ln/>
        </p:spPr>
        <p:txBody>
          <a:bodyPr wrap="square" lIns="0" tIns="0" rIns="0" bIns="0" rtlCol="0" anchor="t"/>
          <a:lstStyle/>
          <a:p>
            <a:pPr indent="0" marL="0">
              <a:lnSpc>
                <a:spcPct val="118000"/>
              </a:lnSpc>
              <a:buNone/>
            </a:pPr>
            <a:r>
              <a:rPr lang="en-US" sz="1400" dirty="0">
                <a:solidFill>
                  <a:srgbClr val="EDF1F2"/>
                </a:solidFill>
              </a:rPr>
              <a:t>You see a line of text. You open a folder by naming it. You move a file by saying where it goes.</a:t>
            </a:r>
            <a:endParaRPr lang="en-US" sz="1400" dirty="0"/>
          </a:p>
        </p:txBody>
      </p:sp>
      <p:sp>
        <p:nvSpPr>
          <p:cNvPr id="9" name="caption"/>
          <p:cNvSpPr txBox="1"/>
          <p:nvPr/>
        </p:nvSpPr>
        <p:spPr>
          <a:xfrm>
            <a:off x="640080" y="3520440"/>
            <a:ext cx="10911535" cy="457200"/>
          </a:xfrm>
          <a:prstGeom prst="rect">
            <a:avLst/>
          </a:prstGeom>
          <a:noFill/>
          <a:ln/>
        </p:spPr>
        <p:txBody>
          <a:bodyPr wrap="square" lIns="0" tIns="0" rIns="0" bIns="0" rtlCol="0" anchor="t"/>
          <a:lstStyle/>
          <a:p>
            <a:pPr algn="l" indent="0" marL="0">
              <a:lnSpc>
                <a:spcPct val="118000"/>
              </a:lnSpc>
              <a:buNone/>
            </a:pPr>
            <a:r>
              <a:rPr lang="en-US" sz="1900" dirty="0">
                <a:solidFill>
                  <a:srgbClr val="12191C"/>
                </a:solidFill>
              </a:rPr>
              <a:t>Same computer. Same files. The only difference is whether you point at them or name them.</a:t>
            </a:r>
            <a:endParaRPr lang="en-US" sz="1900" dirty="0"/>
          </a:p>
        </p:txBody>
      </p:sp>
      <p:sp>
        <p:nvSpPr>
          <p:cNvPr id="10" name="t-why"/>
          <p:cNvSpPr/>
          <p:nvPr/>
        </p:nvSpPr>
        <p:spPr>
          <a:xfrm>
            <a:off x="640080" y="4206240"/>
            <a:ext cx="10911535" cy="1325880"/>
          </a:xfrm>
          <a:prstGeom prst="roundRect">
            <a:avLst>
              <a:gd name="adj" fmla="val 2414"/>
            </a:avLst>
          </a:prstGeom>
          <a:solidFill>
            <a:srgbClr val="EDF1F2"/>
          </a:solidFill>
          <a:ln/>
          <a:effectLst>
            <a:outerShdw sx="100000" sy="100000" kx="0" ky="0" algn="bl" rotWithShape="0" blurRad="101600" dist="12700" dir="5400000">
              <a:srgbClr val="000000">
                <a:alpha val="10000"/>
              </a:srgbClr>
            </a:outerShdw>
          </a:effectLst>
        </p:spPr>
      </p:sp>
      <p:sp>
        <p:nvSpPr>
          <p:cNvPr id="11" name="t-why-head"/>
          <p:cNvSpPr txBox="1"/>
          <p:nvPr/>
        </p:nvSpPr>
        <p:spPr>
          <a:xfrm>
            <a:off x="914400" y="4407408"/>
            <a:ext cx="10362895" cy="402336"/>
          </a:xfrm>
          <a:prstGeom prst="rect">
            <a:avLst/>
          </a:prstGeom>
          <a:noFill/>
          <a:ln/>
        </p:spPr>
        <p:txBody>
          <a:bodyPr wrap="square" lIns="0" tIns="0" rIns="0" bIns="0" rtlCol="0" anchor="ctr"/>
          <a:lstStyle/>
          <a:p>
            <a:pPr indent="0" marL="0">
              <a:buNone/>
            </a:pPr>
            <a:r>
              <a:rPr lang="en-US" sz="1500" b="1" dirty="0">
                <a:solidFill>
                  <a:srgbClr val="12191C"/>
                </a:solidFill>
              </a:rPr>
              <a:t>So why learn it at all?</a:t>
            </a:r>
            <a:endParaRPr lang="en-US" sz="1500" dirty="0"/>
          </a:p>
        </p:txBody>
      </p:sp>
      <p:sp>
        <p:nvSpPr>
          <p:cNvPr id="12" name="t-why-text"/>
          <p:cNvSpPr txBox="1"/>
          <p:nvPr/>
        </p:nvSpPr>
        <p:spPr>
          <a:xfrm>
            <a:off x="914400" y="4828032"/>
            <a:ext cx="10362895" cy="557784"/>
          </a:xfrm>
          <a:prstGeom prst="rect">
            <a:avLst/>
          </a:prstGeom>
          <a:noFill/>
          <a:ln/>
        </p:spPr>
        <p:txBody>
          <a:bodyPr wrap="square" lIns="0" tIns="0" rIns="0" bIns="0" rtlCol="0" anchor="t"/>
          <a:lstStyle/>
          <a:p>
            <a:pPr indent="0" marL="0">
              <a:lnSpc>
                <a:spcPct val="118000"/>
              </a:lnSpc>
              <a:buNone/>
            </a:pPr>
            <a:r>
              <a:rPr lang="en-US" sz="1400" dirty="0">
                <a:solidFill>
                  <a:srgbClr val="33444D"/>
                </a:solidFill>
              </a:rPr>
              <a:t>Because the tools worth learning next — Claude Code, git, anything that runs on a schedule — all live here. The terminal is the door, not the destination.</a:t>
            </a:r>
            <a:endParaRPr lang="en-US" sz="1400" dirty="0"/>
          </a:p>
        </p:txBody>
      </p:sp>
      <p:sp>
        <p:nvSpPr>
          <p:cNvPr id="14"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Open one</a:t>
            </a:r>
            <a:endParaRPr lang="en-US" sz="3300" dirty="0"/>
          </a:p>
        </p:txBody>
      </p:sp>
      <p:sp>
        <p:nvSpPr>
          <p:cNvPr id="3" name="o-mac"/>
          <p:cNvSpPr/>
          <p:nvPr/>
        </p:nvSpPr>
        <p:spPr>
          <a:xfrm>
            <a:off x="640080" y="1874520"/>
            <a:ext cx="5321808" cy="1691640"/>
          </a:xfrm>
          <a:prstGeom prst="roundRect">
            <a:avLst>
              <a:gd name="adj" fmla="val 1892"/>
            </a:avLst>
          </a:prstGeom>
          <a:solidFill>
            <a:srgbClr val="EDF1F2"/>
          </a:solidFill>
          <a:ln/>
          <a:effectLst>
            <a:outerShdw sx="100000" sy="100000" kx="0" ky="0" algn="bl" rotWithShape="0" blurRad="101600" dist="12700" dir="5400000">
              <a:srgbClr val="000000">
                <a:alpha val="10000"/>
              </a:srgbClr>
            </a:outerShdw>
          </a:effectLst>
        </p:spPr>
      </p:sp>
      <p:sp>
        <p:nvSpPr>
          <p:cNvPr id="4" name="o-mac-head"/>
          <p:cNvSpPr txBox="1"/>
          <p:nvPr/>
        </p:nvSpPr>
        <p:spPr>
          <a:xfrm>
            <a:off x="914400" y="2075688"/>
            <a:ext cx="4773168" cy="402336"/>
          </a:xfrm>
          <a:prstGeom prst="rect">
            <a:avLst/>
          </a:prstGeom>
          <a:noFill/>
          <a:ln/>
        </p:spPr>
        <p:txBody>
          <a:bodyPr wrap="square" lIns="0" tIns="0" rIns="0" bIns="0" rtlCol="0" anchor="ctr"/>
          <a:lstStyle/>
          <a:p>
            <a:pPr indent="0" marL="0">
              <a:buNone/>
            </a:pPr>
            <a:r>
              <a:rPr lang="en-US" sz="1600" b="1" dirty="0">
                <a:solidFill>
                  <a:srgbClr val="12191C"/>
                </a:solidFill>
              </a:rPr>
              <a:t>On a Mac</a:t>
            </a:r>
            <a:endParaRPr lang="en-US" sz="1600" dirty="0"/>
          </a:p>
        </p:txBody>
      </p:sp>
      <p:sp>
        <p:nvSpPr>
          <p:cNvPr id="5" name="cap-bg-Cmd"/>
          <p:cNvSpPr/>
          <p:nvPr/>
        </p:nvSpPr>
        <p:spPr>
          <a:xfrm>
            <a:off x="914400" y="2624328"/>
            <a:ext cx="526694" cy="347472"/>
          </a:xfrm>
          <a:prstGeom prst="roundRect">
            <a:avLst>
              <a:gd name="adj" fmla="val 15789"/>
            </a:avLst>
          </a:prstGeom>
          <a:solidFill>
            <a:srgbClr val="FFFFFF"/>
          </a:solidFill>
          <a:ln w="12700">
            <a:solidFill>
              <a:srgbClr val="9FAEB7"/>
            </a:solidFill>
            <a:prstDash val="solid"/>
          </a:ln>
          <a:effectLst>
            <a:outerShdw sx="100000" sy="100000" kx="0" ky="0" algn="bl" rotWithShape="0" blurRad="38100" dist="12700" dir="5400000">
              <a:srgbClr val="000000">
                <a:alpha val="15000"/>
              </a:srgbClr>
            </a:outerShdw>
          </a:effectLst>
        </p:spPr>
      </p:sp>
      <p:sp>
        <p:nvSpPr>
          <p:cNvPr id="6" name="cap-Cmd"/>
          <p:cNvSpPr txBox="1"/>
          <p:nvPr/>
        </p:nvSpPr>
        <p:spPr>
          <a:xfrm>
            <a:off x="914400" y="2624328"/>
            <a:ext cx="526694" cy="347472"/>
          </a:xfrm>
          <a:prstGeom prst="rect">
            <a:avLst/>
          </a:prstGeom>
          <a:noFill/>
          <a:ln/>
        </p:spPr>
        <p:txBody>
          <a:bodyPr wrap="square" lIns="0" tIns="0" rIns="0" bIns="0" rtlCol="0" anchor="ctr"/>
          <a:lstStyle/>
          <a:p>
            <a:pPr algn="ctr" indent="0" marL="0">
              <a:buNone/>
            </a:pPr>
            <a:r>
              <a:rPr lang="en-US" sz="1200" b="1" dirty="0">
                <a:solidFill>
                  <a:srgbClr val="12191C"/>
                </a:solidFill>
              </a:rPr>
              <a:t>Cmd</a:t>
            </a:r>
            <a:endParaRPr lang="en-US" sz="1200" dirty="0"/>
          </a:p>
        </p:txBody>
      </p:sp>
      <p:sp>
        <p:nvSpPr>
          <p:cNvPr id="7" name="plus-mac-0"/>
          <p:cNvSpPr txBox="1"/>
          <p:nvPr/>
        </p:nvSpPr>
        <p:spPr>
          <a:xfrm>
            <a:off x="1495958" y="2624328"/>
            <a:ext cx="201168" cy="347472"/>
          </a:xfrm>
          <a:prstGeom prst="rect">
            <a:avLst/>
          </a:prstGeom>
          <a:noFill/>
          <a:ln/>
        </p:spPr>
        <p:txBody>
          <a:bodyPr wrap="square" lIns="0" tIns="0" rIns="0" bIns="0" rtlCol="0" anchor="ctr"/>
          <a:lstStyle/>
          <a:p>
            <a:pPr algn="ctr" indent="0" marL="0">
              <a:buNone/>
            </a:pPr>
            <a:r>
              <a:rPr lang="en-US" sz="1300" dirty="0">
                <a:solidFill>
                  <a:srgbClr val="5E6E78"/>
                </a:solidFill>
              </a:rPr>
              <a:t>+</a:t>
            </a:r>
            <a:endParaRPr lang="en-US" sz="1300" dirty="0"/>
          </a:p>
        </p:txBody>
      </p:sp>
      <p:sp>
        <p:nvSpPr>
          <p:cNvPr id="8" name="cap-bg-Space"/>
          <p:cNvSpPr/>
          <p:nvPr/>
        </p:nvSpPr>
        <p:spPr>
          <a:xfrm>
            <a:off x="1733702" y="2624328"/>
            <a:ext cx="694944" cy="347472"/>
          </a:xfrm>
          <a:prstGeom prst="roundRect">
            <a:avLst>
              <a:gd name="adj" fmla="val 15789"/>
            </a:avLst>
          </a:prstGeom>
          <a:solidFill>
            <a:srgbClr val="FFFFFF"/>
          </a:solidFill>
          <a:ln w="12700">
            <a:solidFill>
              <a:srgbClr val="9FAEB7"/>
            </a:solidFill>
            <a:prstDash val="solid"/>
          </a:ln>
          <a:effectLst>
            <a:outerShdw sx="100000" sy="100000" kx="0" ky="0" algn="bl" rotWithShape="0" blurRad="38100" dist="12700" dir="5400000">
              <a:srgbClr val="000000">
                <a:alpha val="15000"/>
              </a:srgbClr>
            </a:outerShdw>
          </a:effectLst>
        </p:spPr>
      </p:sp>
      <p:sp>
        <p:nvSpPr>
          <p:cNvPr id="9" name="cap-Space"/>
          <p:cNvSpPr txBox="1"/>
          <p:nvPr/>
        </p:nvSpPr>
        <p:spPr>
          <a:xfrm>
            <a:off x="1733702" y="2624328"/>
            <a:ext cx="694944" cy="347472"/>
          </a:xfrm>
          <a:prstGeom prst="rect">
            <a:avLst/>
          </a:prstGeom>
          <a:noFill/>
          <a:ln/>
        </p:spPr>
        <p:txBody>
          <a:bodyPr wrap="square" lIns="0" tIns="0" rIns="0" bIns="0" rtlCol="0" anchor="ctr"/>
          <a:lstStyle/>
          <a:p>
            <a:pPr algn="ctr" indent="0" marL="0">
              <a:buNone/>
            </a:pPr>
            <a:r>
              <a:rPr lang="en-US" sz="1200" b="1" dirty="0">
                <a:solidFill>
                  <a:srgbClr val="12191C"/>
                </a:solidFill>
              </a:rPr>
              <a:t>Space</a:t>
            </a:r>
            <a:endParaRPr lang="en-US" sz="1200" dirty="0"/>
          </a:p>
        </p:txBody>
      </p:sp>
      <p:sp>
        <p:nvSpPr>
          <p:cNvPr id="10" name="caption"/>
          <p:cNvSpPr txBox="1"/>
          <p:nvPr/>
        </p:nvSpPr>
        <p:spPr>
          <a:xfrm>
            <a:off x="914400" y="3136392"/>
            <a:ext cx="4754880" cy="457200"/>
          </a:xfrm>
          <a:prstGeom prst="rect">
            <a:avLst/>
          </a:prstGeom>
          <a:noFill/>
          <a:ln/>
        </p:spPr>
        <p:txBody>
          <a:bodyPr wrap="square" lIns="0" tIns="0" rIns="0" bIns="0" rtlCol="0" anchor="t"/>
          <a:lstStyle/>
          <a:p>
            <a:pPr algn="l" indent="0" marL="0">
              <a:lnSpc>
                <a:spcPct val="118000"/>
              </a:lnSpc>
              <a:buNone/>
            </a:pPr>
            <a:r>
              <a:rPr lang="en-US" sz="1400" dirty="0">
                <a:solidFill>
                  <a:srgbClr val="33444D"/>
                </a:solidFill>
              </a:rPr>
              <a:t>then type  Terminal  and press Return</a:t>
            </a:r>
            <a:endParaRPr lang="en-US" sz="1400" dirty="0"/>
          </a:p>
        </p:txBody>
      </p:sp>
      <p:sp>
        <p:nvSpPr>
          <p:cNvPr id="11" name="o-win"/>
          <p:cNvSpPr/>
          <p:nvPr/>
        </p:nvSpPr>
        <p:spPr>
          <a:xfrm>
            <a:off x="6601968" y="1874520"/>
            <a:ext cx="4946904" cy="1691640"/>
          </a:xfrm>
          <a:prstGeom prst="roundRect">
            <a:avLst>
              <a:gd name="adj" fmla="val 1892"/>
            </a:avLst>
          </a:prstGeom>
          <a:solidFill>
            <a:srgbClr val="EDF1F2"/>
          </a:solidFill>
          <a:ln/>
          <a:effectLst>
            <a:outerShdw sx="100000" sy="100000" kx="0" ky="0" algn="bl" rotWithShape="0" blurRad="101600" dist="12700" dir="5400000">
              <a:srgbClr val="000000">
                <a:alpha val="10000"/>
              </a:srgbClr>
            </a:outerShdw>
          </a:effectLst>
        </p:spPr>
      </p:sp>
      <p:sp>
        <p:nvSpPr>
          <p:cNvPr id="12" name="o-win-head"/>
          <p:cNvSpPr txBox="1"/>
          <p:nvPr/>
        </p:nvSpPr>
        <p:spPr>
          <a:xfrm>
            <a:off x="6876288" y="2075688"/>
            <a:ext cx="4398264" cy="402336"/>
          </a:xfrm>
          <a:prstGeom prst="rect">
            <a:avLst/>
          </a:prstGeom>
          <a:noFill/>
          <a:ln/>
        </p:spPr>
        <p:txBody>
          <a:bodyPr wrap="square" lIns="0" tIns="0" rIns="0" bIns="0" rtlCol="0" anchor="ctr"/>
          <a:lstStyle/>
          <a:p>
            <a:pPr indent="0" marL="0">
              <a:buNone/>
            </a:pPr>
            <a:r>
              <a:rPr lang="en-US" sz="1600" b="1" dirty="0">
                <a:solidFill>
                  <a:srgbClr val="12191C"/>
                </a:solidFill>
              </a:rPr>
              <a:t>On Windows</a:t>
            </a:r>
            <a:endParaRPr lang="en-US" sz="1600" dirty="0"/>
          </a:p>
        </p:txBody>
      </p:sp>
      <p:sp>
        <p:nvSpPr>
          <p:cNvPr id="13" name="cap-bg-Win"/>
          <p:cNvSpPr/>
          <p:nvPr/>
        </p:nvSpPr>
        <p:spPr>
          <a:xfrm>
            <a:off x="6876288" y="2624328"/>
            <a:ext cx="526694" cy="347472"/>
          </a:xfrm>
          <a:prstGeom prst="roundRect">
            <a:avLst>
              <a:gd name="adj" fmla="val 15789"/>
            </a:avLst>
          </a:prstGeom>
          <a:solidFill>
            <a:srgbClr val="FFFFFF"/>
          </a:solidFill>
          <a:ln w="12700">
            <a:solidFill>
              <a:srgbClr val="9FAEB7"/>
            </a:solidFill>
            <a:prstDash val="solid"/>
          </a:ln>
          <a:effectLst>
            <a:outerShdw sx="100000" sy="100000" kx="0" ky="0" algn="bl" rotWithShape="0" blurRad="38100" dist="12700" dir="5400000">
              <a:srgbClr val="000000">
                <a:alpha val="15000"/>
              </a:srgbClr>
            </a:outerShdw>
          </a:effectLst>
        </p:spPr>
      </p:sp>
      <p:sp>
        <p:nvSpPr>
          <p:cNvPr id="14" name="cap-Win"/>
          <p:cNvSpPr txBox="1"/>
          <p:nvPr/>
        </p:nvSpPr>
        <p:spPr>
          <a:xfrm>
            <a:off x="6876288" y="2624328"/>
            <a:ext cx="526694" cy="347472"/>
          </a:xfrm>
          <a:prstGeom prst="rect">
            <a:avLst/>
          </a:prstGeom>
          <a:noFill/>
          <a:ln/>
        </p:spPr>
        <p:txBody>
          <a:bodyPr wrap="square" lIns="0" tIns="0" rIns="0" bIns="0" rtlCol="0" anchor="ctr"/>
          <a:lstStyle/>
          <a:p>
            <a:pPr algn="ctr" indent="0" marL="0">
              <a:buNone/>
            </a:pPr>
            <a:r>
              <a:rPr lang="en-US" sz="1200" b="1" dirty="0">
                <a:solidFill>
                  <a:srgbClr val="12191C"/>
                </a:solidFill>
              </a:rPr>
              <a:t>Win</a:t>
            </a:r>
            <a:endParaRPr lang="en-US" sz="1200" dirty="0"/>
          </a:p>
        </p:txBody>
      </p:sp>
      <p:sp>
        <p:nvSpPr>
          <p:cNvPr id="15" name="plus-win-0"/>
          <p:cNvSpPr txBox="1"/>
          <p:nvPr/>
        </p:nvSpPr>
        <p:spPr>
          <a:xfrm>
            <a:off x="7457846" y="2624328"/>
            <a:ext cx="201168" cy="347472"/>
          </a:xfrm>
          <a:prstGeom prst="rect">
            <a:avLst/>
          </a:prstGeom>
          <a:noFill/>
          <a:ln/>
        </p:spPr>
        <p:txBody>
          <a:bodyPr wrap="square" lIns="0" tIns="0" rIns="0" bIns="0" rtlCol="0" anchor="ctr"/>
          <a:lstStyle/>
          <a:p>
            <a:pPr algn="ctr" indent="0" marL="0">
              <a:buNone/>
            </a:pPr>
            <a:r>
              <a:rPr lang="en-US" sz="1300" dirty="0">
                <a:solidFill>
                  <a:srgbClr val="5E6E78"/>
                </a:solidFill>
              </a:rPr>
              <a:t>+</a:t>
            </a:r>
            <a:endParaRPr lang="en-US" sz="1300" dirty="0"/>
          </a:p>
        </p:txBody>
      </p:sp>
      <p:sp>
        <p:nvSpPr>
          <p:cNvPr id="16" name="cap-bg-X"/>
          <p:cNvSpPr/>
          <p:nvPr/>
        </p:nvSpPr>
        <p:spPr>
          <a:xfrm>
            <a:off x="7695590" y="2624328"/>
            <a:ext cx="420624" cy="347472"/>
          </a:xfrm>
          <a:prstGeom prst="roundRect">
            <a:avLst>
              <a:gd name="adj" fmla="val 15789"/>
            </a:avLst>
          </a:prstGeom>
          <a:solidFill>
            <a:srgbClr val="FFFFFF"/>
          </a:solidFill>
          <a:ln w="12700">
            <a:solidFill>
              <a:srgbClr val="9FAEB7"/>
            </a:solidFill>
            <a:prstDash val="solid"/>
          </a:ln>
          <a:effectLst>
            <a:outerShdw sx="100000" sy="100000" kx="0" ky="0" algn="bl" rotWithShape="0" blurRad="38100" dist="12700" dir="5400000">
              <a:srgbClr val="000000">
                <a:alpha val="15000"/>
              </a:srgbClr>
            </a:outerShdw>
          </a:effectLst>
        </p:spPr>
      </p:sp>
      <p:sp>
        <p:nvSpPr>
          <p:cNvPr id="17" name="cap-X"/>
          <p:cNvSpPr txBox="1"/>
          <p:nvPr/>
        </p:nvSpPr>
        <p:spPr>
          <a:xfrm>
            <a:off x="7695590" y="2624328"/>
            <a:ext cx="420624" cy="347472"/>
          </a:xfrm>
          <a:prstGeom prst="rect">
            <a:avLst/>
          </a:prstGeom>
          <a:noFill/>
          <a:ln/>
        </p:spPr>
        <p:txBody>
          <a:bodyPr wrap="square" lIns="0" tIns="0" rIns="0" bIns="0" rtlCol="0" anchor="ctr"/>
          <a:lstStyle/>
          <a:p>
            <a:pPr algn="ctr" indent="0" marL="0">
              <a:buNone/>
            </a:pPr>
            <a:r>
              <a:rPr lang="en-US" sz="1200" b="1" dirty="0">
                <a:solidFill>
                  <a:srgbClr val="12191C"/>
                </a:solidFill>
              </a:rPr>
              <a:t>X</a:t>
            </a:r>
            <a:endParaRPr lang="en-US" sz="1200" dirty="0"/>
          </a:p>
        </p:txBody>
      </p:sp>
      <p:sp>
        <p:nvSpPr>
          <p:cNvPr id="18" name="caption"/>
          <p:cNvSpPr txBox="1"/>
          <p:nvPr/>
        </p:nvSpPr>
        <p:spPr>
          <a:xfrm>
            <a:off x="6876288" y="3136392"/>
            <a:ext cx="4389120" cy="457200"/>
          </a:xfrm>
          <a:prstGeom prst="rect">
            <a:avLst/>
          </a:prstGeom>
          <a:noFill/>
          <a:ln/>
        </p:spPr>
        <p:txBody>
          <a:bodyPr wrap="square" lIns="0" tIns="0" rIns="0" bIns="0" rtlCol="0" anchor="t"/>
          <a:lstStyle/>
          <a:p>
            <a:pPr algn="l" indent="0" marL="0">
              <a:lnSpc>
                <a:spcPct val="118000"/>
              </a:lnSpc>
              <a:buNone/>
            </a:pPr>
            <a:r>
              <a:rPr lang="en-US" sz="1400" dirty="0">
                <a:solidFill>
                  <a:srgbClr val="33444D"/>
                </a:solidFill>
              </a:rPr>
              <a:t>then choose  Windows PowerShell  or  Terminal</a:t>
            </a:r>
            <a:endParaRPr lang="en-US" sz="1400" dirty="0"/>
          </a:p>
        </p:txBody>
      </p:sp>
      <p:sp>
        <p:nvSpPr>
          <p:cNvPr id="19" name="o-term"/>
          <p:cNvSpPr/>
          <p:nvPr/>
        </p:nvSpPr>
        <p:spPr>
          <a:xfrm>
            <a:off x="640080" y="4023360"/>
            <a:ext cx="5852160" cy="764438"/>
          </a:xfrm>
          <a:prstGeom prst="roundRect">
            <a:avLst>
              <a:gd name="adj" fmla="val 4187"/>
            </a:avLst>
          </a:prstGeom>
          <a:solidFill>
            <a:srgbClr val="12191C"/>
          </a:solidFill>
          <a:ln/>
          <a:effectLst>
            <a:outerShdw sx="100000" sy="100000" kx="0" ky="0" algn="bl" rotWithShape="0" blurRad="127000" dist="25400" dir="5400000">
              <a:srgbClr val="000000">
                <a:alpha val="18000"/>
              </a:srgbClr>
            </a:outerShdw>
          </a:effectLst>
        </p:spPr>
      </p:sp>
      <p:sp>
        <p:nvSpPr>
          <p:cNvPr id="20" name="o-term-text"/>
          <p:cNvSpPr txBox="1"/>
          <p:nvPr/>
        </p:nvSpPr>
        <p:spPr>
          <a:xfrm>
            <a:off x="896112" y="4206240"/>
            <a:ext cx="5340096" cy="398678"/>
          </a:xfrm>
          <a:prstGeom prst="rect">
            <a:avLst/>
          </a:prstGeom>
          <a:noFill/>
          <a:ln/>
        </p:spPr>
        <p:txBody>
          <a:bodyPr wrap="square" lIns="0" tIns="0" rIns="0" bIns="0" rtlCol="0" anchor="t"/>
          <a:lstStyle/>
          <a:p>
            <a:pPr indent="0" marL="0">
              <a:lnSpc>
                <a:spcPct val="112000"/>
              </a:lnSpc>
              <a:buNone/>
            </a:pPr>
            <a:r>
              <a:rPr lang="en-US" sz="1400" dirty="0">
                <a:solidFill>
                  <a:srgbClr val="9FAEB7"/>
                </a:solidFill>
                <a:latin typeface="Courier New" pitchFamily="34" charset="0"/>
                <a:ea typeface="Courier New" pitchFamily="34" charset="-122"/>
                <a:cs typeface="Courier New" pitchFamily="34" charset="-120"/>
              </a:rPr>
              <a:t>Last login: Mon Oct 19 09:14:02</a:t>
            </a:r>
            <a:endParaRPr lang="en-US" sz="1400" dirty="0"/>
          </a:p>
          <a:p>
            <a:pPr indent="0" marL="0">
              <a:lnSpc>
                <a:spcPct val="112000"/>
              </a:lnSpc>
              <a:buNone/>
            </a:pPr>
            <a:r>
              <a:rPr lang="en-US" sz="1400" dirty="0">
                <a:solidFill>
                  <a:srgbClr val="9FAEB7"/>
                </a:solidFill>
                <a:latin typeface="Courier New" pitchFamily="34" charset="0"/>
                <a:ea typeface="Courier New" pitchFamily="34" charset="-122"/>
                <a:cs typeface="Courier New" pitchFamily="34" charset="-120"/>
              </a:rPr>
              <a:t>laptop ~ % </a:t>
            </a:r>
            <a:endParaRPr lang="en-US" sz="1400" dirty="0"/>
          </a:p>
        </p:txBody>
      </p:sp>
      <p:sp>
        <p:nvSpPr>
          <p:cNvPr id="21" name="caption"/>
          <p:cNvSpPr txBox="1"/>
          <p:nvPr/>
        </p:nvSpPr>
        <p:spPr>
          <a:xfrm>
            <a:off x="6601968" y="4178808"/>
            <a:ext cx="4946904" cy="457200"/>
          </a:xfrm>
          <a:prstGeom prst="rect">
            <a:avLst/>
          </a:prstGeom>
          <a:noFill/>
          <a:ln/>
        </p:spPr>
        <p:txBody>
          <a:bodyPr wrap="square" lIns="0" tIns="0" rIns="0" bIns="0" rtlCol="0" anchor="t"/>
          <a:lstStyle/>
          <a:p>
            <a:pPr algn="l" indent="0" marL="0">
              <a:lnSpc>
                <a:spcPct val="118000"/>
              </a:lnSpc>
              <a:buNone/>
            </a:pPr>
            <a:r>
              <a:rPr lang="en-US" sz="1500" dirty="0">
                <a:solidFill>
                  <a:srgbClr val="33444D"/>
                </a:solidFill>
              </a:rPr>
              <a:t>A window with a blinking cursor. Nothing is wrong — it is waiting for you.</a:t>
            </a:r>
            <a:endParaRPr lang="en-US" sz="1500" dirty="0"/>
          </a:p>
        </p:txBody>
      </p:sp>
      <p:sp>
        <p:nvSpPr>
          <p:cNvPr id="23"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Read the line before you type on it</a:t>
            </a:r>
            <a:endParaRPr lang="en-US" sz="3300" dirty="0"/>
          </a:p>
        </p:txBody>
      </p:sp>
      <p:sp>
        <p:nvSpPr>
          <p:cNvPr id="3" name="p-term"/>
          <p:cNvSpPr/>
          <p:nvPr/>
        </p:nvSpPr>
        <p:spPr>
          <a:xfrm>
            <a:off x="640080" y="1874520"/>
            <a:ext cx="10911535" cy="960120"/>
          </a:xfrm>
          <a:prstGeom prst="roundRect">
            <a:avLst>
              <a:gd name="adj" fmla="val 3333"/>
            </a:avLst>
          </a:prstGeom>
          <a:solidFill>
            <a:srgbClr val="12191C"/>
          </a:solidFill>
          <a:ln/>
          <a:effectLst>
            <a:outerShdw sx="100000" sy="100000" kx="0" ky="0" algn="bl" rotWithShape="0" blurRad="127000" dist="25400" dir="5400000">
              <a:srgbClr val="000000">
                <a:alpha val="18000"/>
              </a:srgbClr>
            </a:outerShdw>
          </a:effectLst>
        </p:spPr>
      </p:sp>
      <p:sp>
        <p:nvSpPr>
          <p:cNvPr id="4" name="p-term-text"/>
          <p:cNvSpPr txBox="1"/>
          <p:nvPr/>
        </p:nvSpPr>
        <p:spPr>
          <a:xfrm>
            <a:off x="896112" y="2057400"/>
            <a:ext cx="10399471" cy="594360"/>
          </a:xfrm>
          <a:prstGeom prst="rect">
            <a:avLst/>
          </a:prstGeom>
          <a:noFill/>
          <a:ln/>
        </p:spPr>
        <p:txBody>
          <a:bodyPr wrap="square" lIns="0" tIns="0" rIns="0" bIns="0" rtlCol="0" anchor="t"/>
          <a:lstStyle/>
          <a:p>
            <a:pPr indent="0" marL="0">
              <a:lnSpc>
                <a:spcPct val="112000"/>
              </a:lnSpc>
              <a:buNone/>
            </a:pPr>
            <a:r>
              <a:rPr lang="en-US" sz="2600" b="1" dirty="0">
                <a:solidFill>
                  <a:srgbClr val="EDF1F2"/>
                </a:solidFill>
                <a:latin typeface="Courier New" pitchFamily="34" charset="0"/>
                <a:ea typeface="Courier New" pitchFamily="34" charset="-122"/>
                <a:cs typeface="Courier New" pitchFamily="34" charset="-120"/>
              </a:rPr>
              <a:t>laptop  ~  %</a:t>
            </a:r>
            <a:endParaRPr lang="en-US" sz="2600" dirty="0"/>
          </a:p>
        </p:txBody>
      </p:sp>
      <p:sp>
        <p:nvSpPr>
          <p:cNvPr id="5" name="p-c1"/>
          <p:cNvSpPr/>
          <p:nvPr/>
        </p:nvSpPr>
        <p:spPr>
          <a:xfrm>
            <a:off x="640080" y="3063240"/>
            <a:ext cx="3511296" cy="1600200"/>
          </a:xfrm>
          <a:prstGeom prst="roundRect">
            <a:avLst>
              <a:gd name="adj" fmla="val 2000"/>
            </a:avLst>
          </a:prstGeom>
          <a:solidFill>
            <a:srgbClr val="EDF1F2"/>
          </a:solidFill>
          <a:ln/>
          <a:effectLst>
            <a:outerShdw sx="100000" sy="100000" kx="0" ky="0" algn="bl" rotWithShape="0" blurRad="101600" dist="12700" dir="5400000">
              <a:srgbClr val="000000">
                <a:alpha val="10000"/>
              </a:srgbClr>
            </a:outerShdw>
          </a:effectLst>
        </p:spPr>
      </p:sp>
      <p:sp>
        <p:nvSpPr>
          <p:cNvPr id="6" name="p-c1-head"/>
          <p:cNvSpPr txBox="1"/>
          <p:nvPr/>
        </p:nvSpPr>
        <p:spPr>
          <a:xfrm>
            <a:off x="914400" y="3264408"/>
            <a:ext cx="2962656" cy="402336"/>
          </a:xfrm>
          <a:prstGeom prst="rect">
            <a:avLst/>
          </a:prstGeom>
          <a:noFill/>
          <a:ln/>
        </p:spPr>
        <p:txBody>
          <a:bodyPr wrap="square" lIns="0" tIns="0" rIns="0" bIns="0" rtlCol="0" anchor="ctr"/>
          <a:lstStyle/>
          <a:p>
            <a:pPr indent="0" marL="0">
              <a:buNone/>
            </a:pPr>
            <a:r>
              <a:rPr lang="en-US" sz="1700" b="1" dirty="0">
                <a:solidFill>
                  <a:srgbClr val="12191C"/>
                </a:solidFill>
                <a:latin typeface="Courier New" pitchFamily="34" charset="0"/>
                <a:ea typeface="Courier New" pitchFamily="34" charset="-122"/>
                <a:cs typeface="Courier New" pitchFamily="34" charset="-120"/>
              </a:rPr>
              <a:t>laptop</a:t>
            </a:r>
            <a:endParaRPr lang="en-US" sz="1700" dirty="0"/>
          </a:p>
        </p:txBody>
      </p:sp>
      <p:sp>
        <p:nvSpPr>
          <p:cNvPr id="7" name="p-c1-text"/>
          <p:cNvSpPr txBox="1"/>
          <p:nvPr/>
        </p:nvSpPr>
        <p:spPr>
          <a:xfrm>
            <a:off x="914400" y="3685032"/>
            <a:ext cx="2962656" cy="832104"/>
          </a:xfrm>
          <a:prstGeom prst="rect">
            <a:avLst/>
          </a:prstGeom>
          <a:noFill/>
          <a:ln/>
        </p:spPr>
        <p:txBody>
          <a:bodyPr wrap="square" lIns="0" tIns="0" rIns="0" bIns="0" rtlCol="0" anchor="t"/>
          <a:lstStyle/>
          <a:p>
            <a:pPr indent="0" marL="0">
              <a:lnSpc>
                <a:spcPct val="118000"/>
              </a:lnSpc>
              <a:buNone/>
            </a:pPr>
            <a:r>
              <a:rPr lang="en-US" sz="1400" dirty="0">
                <a:solidFill>
                  <a:srgbClr val="33444D"/>
                </a:solidFill>
              </a:rPr>
              <a:t>Which computer you are on. Yours will show your own name.</a:t>
            </a:r>
            <a:endParaRPr lang="en-US" sz="1400" dirty="0"/>
          </a:p>
        </p:txBody>
      </p:sp>
      <p:sp>
        <p:nvSpPr>
          <p:cNvPr id="8" name="p-c2"/>
          <p:cNvSpPr/>
          <p:nvPr/>
        </p:nvSpPr>
        <p:spPr>
          <a:xfrm>
            <a:off x="4334256" y="3063240"/>
            <a:ext cx="3511296" cy="1600200"/>
          </a:xfrm>
          <a:prstGeom prst="roundRect">
            <a:avLst>
              <a:gd name="adj" fmla="val 2000"/>
            </a:avLst>
          </a:prstGeom>
          <a:solidFill>
            <a:srgbClr val="EDF1F2"/>
          </a:solidFill>
          <a:ln/>
          <a:effectLst>
            <a:outerShdw sx="100000" sy="100000" kx="0" ky="0" algn="bl" rotWithShape="0" blurRad="101600" dist="12700" dir="5400000">
              <a:srgbClr val="000000">
                <a:alpha val="10000"/>
              </a:srgbClr>
            </a:outerShdw>
          </a:effectLst>
        </p:spPr>
      </p:sp>
      <p:sp>
        <p:nvSpPr>
          <p:cNvPr id="9" name="p-c2-head"/>
          <p:cNvSpPr txBox="1"/>
          <p:nvPr/>
        </p:nvSpPr>
        <p:spPr>
          <a:xfrm>
            <a:off x="4608576" y="3264408"/>
            <a:ext cx="2962656" cy="402336"/>
          </a:xfrm>
          <a:prstGeom prst="rect">
            <a:avLst/>
          </a:prstGeom>
          <a:noFill/>
          <a:ln/>
        </p:spPr>
        <p:txBody>
          <a:bodyPr wrap="square" lIns="0" tIns="0" rIns="0" bIns="0" rtlCol="0" anchor="ctr"/>
          <a:lstStyle/>
          <a:p>
            <a:pPr indent="0" marL="0">
              <a:buNone/>
            </a:pPr>
            <a:r>
              <a:rPr lang="en-US" sz="1700" b="1" dirty="0">
                <a:solidFill>
                  <a:srgbClr val="12191C"/>
                </a:solidFill>
                <a:latin typeface="Courier New" pitchFamily="34" charset="0"/>
                <a:ea typeface="Courier New" pitchFamily="34" charset="-122"/>
                <a:cs typeface="Courier New" pitchFamily="34" charset="-120"/>
              </a:rPr>
              <a:t>~</a:t>
            </a:r>
            <a:endParaRPr lang="en-US" sz="1700" dirty="0"/>
          </a:p>
        </p:txBody>
      </p:sp>
      <p:sp>
        <p:nvSpPr>
          <p:cNvPr id="10" name="p-c2-text"/>
          <p:cNvSpPr txBox="1"/>
          <p:nvPr/>
        </p:nvSpPr>
        <p:spPr>
          <a:xfrm>
            <a:off x="4608576" y="3685032"/>
            <a:ext cx="2962656" cy="832104"/>
          </a:xfrm>
          <a:prstGeom prst="rect">
            <a:avLst/>
          </a:prstGeom>
          <a:noFill/>
          <a:ln/>
        </p:spPr>
        <p:txBody>
          <a:bodyPr wrap="square" lIns="0" tIns="0" rIns="0" bIns="0" rtlCol="0" anchor="t"/>
          <a:lstStyle/>
          <a:p>
            <a:pPr indent="0" marL="0">
              <a:lnSpc>
                <a:spcPct val="118000"/>
              </a:lnSpc>
              <a:buNone/>
            </a:pPr>
            <a:r>
              <a:rPr lang="en-US" sz="1400" dirty="0">
                <a:solidFill>
                  <a:srgbClr val="33444D"/>
                </a:solidFill>
              </a:rPr>
              <a:t>The folder you are standing in right now. The ~ is shorthand for your home folder.</a:t>
            </a:r>
            <a:endParaRPr lang="en-US" sz="1400" dirty="0"/>
          </a:p>
        </p:txBody>
      </p:sp>
      <p:sp>
        <p:nvSpPr>
          <p:cNvPr id="11" name="p-c3"/>
          <p:cNvSpPr/>
          <p:nvPr/>
        </p:nvSpPr>
        <p:spPr>
          <a:xfrm>
            <a:off x="8037576" y="3063240"/>
            <a:ext cx="3511296" cy="1600200"/>
          </a:xfrm>
          <a:prstGeom prst="roundRect">
            <a:avLst>
              <a:gd name="adj" fmla="val 2000"/>
            </a:avLst>
          </a:prstGeom>
          <a:solidFill>
            <a:srgbClr val="EDF1F2"/>
          </a:solidFill>
          <a:ln/>
          <a:effectLst>
            <a:outerShdw sx="100000" sy="100000" kx="0" ky="0" algn="bl" rotWithShape="0" blurRad="101600" dist="12700" dir="5400000">
              <a:srgbClr val="000000">
                <a:alpha val="10000"/>
              </a:srgbClr>
            </a:outerShdw>
          </a:effectLst>
        </p:spPr>
      </p:sp>
      <p:sp>
        <p:nvSpPr>
          <p:cNvPr id="12" name="p-c3-head"/>
          <p:cNvSpPr txBox="1"/>
          <p:nvPr/>
        </p:nvSpPr>
        <p:spPr>
          <a:xfrm>
            <a:off x="8311896" y="3264408"/>
            <a:ext cx="2962656" cy="402336"/>
          </a:xfrm>
          <a:prstGeom prst="rect">
            <a:avLst/>
          </a:prstGeom>
          <a:noFill/>
          <a:ln/>
        </p:spPr>
        <p:txBody>
          <a:bodyPr wrap="square" lIns="0" tIns="0" rIns="0" bIns="0" rtlCol="0" anchor="ctr"/>
          <a:lstStyle/>
          <a:p>
            <a:pPr indent="0" marL="0">
              <a:buNone/>
            </a:pPr>
            <a:r>
              <a:rPr lang="en-US" sz="1700" b="1" dirty="0">
                <a:solidFill>
                  <a:srgbClr val="12191C"/>
                </a:solidFill>
                <a:latin typeface="Courier New" pitchFamily="34" charset="0"/>
                <a:ea typeface="Courier New" pitchFamily="34" charset="-122"/>
                <a:cs typeface="Courier New" pitchFamily="34" charset="-120"/>
              </a:rPr>
              <a:t>%</a:t>
            </a:r>
            <a:endParaRPr lang="en-US" sz="1700" dirty="0"/>
          </a:p>
        </p:txBody>
      </p:sp>
      <p:sp>
        <p:nvSpPr>
          <p:cNvPr id="13" name="p-c3-text"/>
          <p:cNvSpPr txBox="1"/>
          <p:nvPr/>
        </p:nvSpPr>
        <p:spPr>
          <a:xfrm>
            <a:off x="8311896" y="3685032"/>
            <a:ext cx="2962656" cy="832104"/>
          </a:xfrm>
          <a:prstGeom prst="rect">
            <a:avLst/>
          </a:prstGeom>
          <a:noFill/>
          <a:ln/>
        </p:spPr>
        <p:txBody>
          <a:bodyPr wrap="square" lIns="0" tIns="0" rIns="0" bIns="0" rtlCol="0" anchor="t"/>
          <a:lstStyle/>
          <a:p>
            <a:pPr indent="0" marL="0">
              <a:lnSpc>
                <a:spcPct val="118000"/>
              </a:lnSpc>
              <a:buNone/>
            </a:pPr>
            <a:r>
              <a:rPr lang="en-US" sz="1400" dirty="0">
                <a:solidFill>
                  <a:srgbClr val="33444D"/>
                </a:solidFill>
              </a:rPr>
              <a:t>Your turn. Everything you type goes after this, and runs when you press Return.</a:t>
            </a:r>
            <a:endParaRPr lang="en-US" sz="1400" dirty="0"/>
          </a:p>
        </p:txBody>
      </p:sp>
      <p:sp>
        <p:nvSpPr>
          <p:cNvPr id="14" name="p-note"/>
          <p:cNvSpPr/>
          <p:nvPr/>
        </p:nvSpPr>
        <p:spPr>
          <a:xfrm>
            <a:off x="640080" y="4892040"/>
            <a:ext cx="10911535" cy="1234440"/>
          </a:xfrm>
          <a:prstGeom prst="roundRect">
            <a:avLst>
              <a:gd name="adj" fmla="val 2593"/>
            </a:avLst>
          </a:prstGeom>
          <a:solidFill>
            <a:srgbClr val="1E292F"/>
          </a:solidFill>
          <a:ln/>
          <a:effectLst>
            <a:outerShdw sx="100000" sy="100000" kx="0" ky="0" algn="bl" rotWithShape="0" blurRad="101600" dist="12700" dir="5400000">
              <a:srgbClr val="000000">
                <a:alpha val="10000"/>
              </a:srgbClr>
            </a:outerShdw>
          </a:effectLst>
        </p:spPr>
      </p:sp>
      <p:sp>
        <p:nvSpPr>
          <p:cNvPr id="15" name="p-note-head"/>
          <p:cNvSpPr txBox="1"/>
          <p:nvPr/>
        </p:nvSpPr>
        <p:spPr>
          <a:xfrm>
            <a:off x="914400" y="5093208"/>
            <a:ext cx="10362895" cy="402336"/>
          </a:xfrm>
          <a:prstGeom prst="rect">
            <a:avLst/>
          </a:prstGeom>
          <a:noFill/>
          <a:ln/>
        </p:spPr>
        <p:txBody>
          <a:bodyPr wrap="square" lIns="0" tIns="0" rIns="0" bIns="0" rtlCol="0" anchor="ctr"/>
          <a:lstStyle/>
          <a:p>
            <a:pPr indent="0" marL="0">
              <a:buNone/>
            </a:pPr>
            <a:r>
              <a:rPr lang="en-US" sz="1500" b="1" dirty="0">
                <a:solidFill>
                  <a:srgbClr val="FFFFFF"/>
                </a:solidFill>
              </a:rPr>
              <a:t>The middle part changes as you move, and that is the point</a:t>
            </a:r>
            <a:endParaRPr lang="en-US" sz="1500" dirty="0"/>
          </a:p>
        </p:txBody>
      </p:sp>
      <p:sp>
        <p:nvSpPr>
          <p:cNvPr id="16" name="p-note-text"/>
          <p:cNvSpPr txBox="1"/>
          <p:nvPr/>
        </p:nvSpPr>
        <p:spPr>
          <a:xfrm>
            <a:off x="914400" y="5513832"/>
            <a:ext cx="10362895" cy="466344"/>
          </a:xfrm>
          <a:prstGeom prst="rect">
            <a:avLst/>
          </a:prstGeom>
          <a:noFill/>
          <a:ln/>
        </p:spPr>
        <p:txBody>
          <a:bodyPr wrap="square" lIns="0" tIns="0" rIns="0" bIns="0" rtlCol="0" anchor="t"/>
          <a:lstStyle/>
          <a:p>
            <a:pPr indent="0" marL="0">
              <a:lnSpc>
                <a:spcPct val="118000"/>
              </a:lnSpc>
              <a:buNone/>
            </a:pPr>
            <a:r>
              <a:rPr lang="en-US" sz="1400" dirty="0">
                <a:solidFill>
                  <a:srgbClr val="EDF1F2"/>
                </a:solidFill>
              </a:rPr>
              <a:t>On Windows the same line reads PS C:\Users\you&gt; — different punctuation, identical job. Watch that folder name every time before you press Return.</a:t>
            </a:r>
            <a:endParaRPr lang="en-US" sz="1400" dirty="0"/>
          </a:p>
        </p:txBody>
      </p:sp>
      <p:sp>
        <p:nvSpPr>
          <p:cNvPr id="18"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hip-bg-command 1 of 4"/>
          <p:cNvSpPr/>
          <p:nvPr/>
        </p:nvSpPr>
        <p:spPr>
          <a:xfrm>
            <a:off x="640080" y="457200"/>
            <a:ext cx="1609344" cy="274320"/>
          </a:xfrm>
          <a:prstGeom prst="roundRect">
            <a:avLst>
              <a:gd name="adj" fmla="val 16667"/>
            </a:avLst>
          </a:prstGeom>
          <a:solidFill>
            <a:srgbClr val="5E6E78"/>
          </a:solidFill>
          <a:ln/>
        </p:spPr>
      </p:sp>
      <p:sp>
        <p:nvSpPr>
          <p:cNvPr id="3" name="chip-command 1 of 4"/>
          <p:cNvSpPr txBox="1"/>
          <p:nvPr/>
        </p:nvSpPr>
        <p:spPr>
          <a:xfrm>
            <a:off x="640080" y="457200"/>
            <a:ext cx="1609344"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ourier New" pitchFamily="34" charset="0"/>
                <a:ea typeface="Courier New" pitchFamily="34" charset="-122"/>
                <a:cs typeface="Courier New" pitchFamily="34" charset="-120"/>
              </a:rPr>
              <a:t>command 1 of 4</a:t>
            </a:r>
            <a:endParaRPr lang="en-US" sz="1000" dirty="0"/>
          </a:p>
        </p:txBody>
      </p:sp>
      <p:sp>
        <p:nvSpPr>
          <p:cNvPr id="4"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pwd — where am I?</a:t>
            </a:r>
            <a:endParaRPr lang="en-US" sz="3300" dirty="0"/>
          </a:p>
        </p:txBody>
      </p:sp>
      <p:sp>
        <p:nvSpPr>
          <p:cNvPr id="5" name="pwd-term"/>
          <p:cNvSpPr/>
          <p:nvPr/>
        </p:nvSpPr>
        <p:spPr>
          <a:xfrm>
            <a:off x="640080" y="1874520"/>
            <a:ext cx="6858000" cy="857707"/>
          </a:xfrm>
          <a:prstGeom prst="roundRect">
            <a:avLst>
              <a:gd name="adj" fmla="val 3731"/>
            </a:avLst>
          </a:prstGeom>
          <a:solidFill>
            <a:srgbClr val="12191C"/>
          </a:solidFill>
          <a:ln/>
          <a:effectLst>
            <a:outerShdw sx="100000" sy="100000" kx="0" ky="0" algn="bl" rotWithShape="0" blurRad="127000" dist="25400" dir="5400000">
              <a:srgbClr val="000000">
                <a:alpha val="18000"/>
              </a:srgbClr>
            </a:outerShdw>
          </a:effectLst>
        </p:spPr>
      </p:sp>
      <p:sp>
        <p:nvSpPr>
          <p:cNvPr id="6" name="pwd-term-text"/>
          <p:cNvSpPr txBox="1"/>
          <p:nvPr/>
        </p:nvSpPr>
        <p:spPr>
          <a:xfrm>
            <a:off x="896112" y="2057400"/>
            <a:ext cx="6345936" cy="491947"/>
          </a:xfrm>
          <a:prstGeom prst="rect">
            <a:avLst/>
          </a:prstGeom>
          <a:noFill/>
          <a:ln/>
        </p:spPr>
        <p:txBody>
          <a:bodyPr wrap="square" lIns="0" tIns="0" rIns="0" bIns="0" rtlCol="0" anchor="t"/>
          <a:lstStyle/>
          <a:p>
            <a:pPr indent="0" marL="0">
              <a:lnSpc>
                <a:spcPct val="112000"/>
              </a:lnSpc>
              <a:buNone/>
            </a:pPr>
            <a:r>
              <a:rPr lang="en-US" sz="1700" b="1" dirty="0">
                <a:solidFill>
                  <a:srgbClr val="E5A24A"/>
                </a:solidFill>
                <a:latin typeface="Courier New" pitchFamily="34" charset="0"/>
                <a:ea typeface="Courier New" pitchFamily="34" charset="-122"/>
                <a:cs typeface="Courier New" pitchFamily="34" charset="-120"/>
              </a:rPr>
              <a:t>laptop ~ % pwd</a:t>
            </a:r>
            <a:endParaRPr lang="en-US" sz="1700" dirty="0"/>
          </a:p>
          <a:p>
            <a:pPr indent="0" marL="0">
              <a:lnSpc>
                <a:spcPct val="112000"/>
              </a:lnSpc>
              <a:buNone/>
            </a:pPr>
            <a:r>
              <a:rPr lang="en-US" sz="1700" dirty="0">
                <a:solidFill>
                  <a:srgbClr val="73BF95"/>
                </a:solidFill>
                <a:latin typeface="Courier New" pitchFamily="34" charset="0"/>
                <a:ea typeface="Courier New" pitchFamily="34" charset="-122"/>
                <a:cs typeface="Courier New" pitchFamily="34" charset="-120"/>
              </a:rPr>
              <a:t>/Users/you</a:t>
            </a:r>
            <a:endParaRPr lang="en-US" sz="1700" dirty="0"/>
          </a:p>
        </p:txBody>
      </p:sp>
      <p:sp>
        <p:nvSpPr>
          <p:cNvPr id="7" name="pwd-c1"/>
          <p:cNvSpPr/>
          <p:nvPr/>
        </p:nvSpPr>
        <p:spPr>
          <a:xfrm>
            <a:off x="7818120" y="1874520"/>
            <a:ext cx="3730752" cy="1280160"/>
          </a:xfrm>
          <a:prstGeom prst="roundRect">
            <a:avLst>
              <a:gd name="adj" fmla="val 2500"/>
            </a:avLst>
          </a:prstGeom>
          <a:solidFill>
            <a:srgbClr val="EDF1F2"/>
          </a:solidFill>
          <a:ln/>
          <a:effectLst>
            <a:outerShdw sx="100000" sy="100000" kx="0" ky="0" algn="bl" rotWithShape="0" blurRad="101600" dist="12700" dir="5400000">
              <a:srgbClr val="000000">
                <a:alpha val="10000"/>
              </a:srgbClr>
            </a:outerShdw>
          </a:effectLst>
        </p:spPr>
      </p:sp>
      <p:sp>
        <p:nvSpPr>
          <p:cNvPr id="8" name="pwd-c1-head"/>
          <p:cNvSpPr txBox="1"/>
          <p:nvPr/>
        </p:nvSpPr>
        <p:spPr>
          <a:xfrm>
            <a:off x="8092440" y="2075688"/>
            <a:ext cx="3182112" cy="402336"/>
          </a:xfrm>
          <a:prstGeom prst="rect">
            <a:avLst/>
          </a:prstGeom>
          <a:noFill/>
          <a:ln/>
        </p:spPr>
        <p:txBody>
          <a:bodyPr wrap="square" lIns="0" tIns="0" rIns="0" bIns="0" rtlCol="0" anchor="ctr"/>
          <a:lstStyle/>
          <a:p>
            <a:pPr indent="0" marL="0">
              <a:buNone/>
            </a:pPr>
            <a:r>
              <a:rPr lang="en-US" sz="1500" b="1" dirty="0">
                <a:solidFill>
                  <a:srgbClr val="12191C"/>
                </a:solidFill>
              </a:rPr>
              <a:t>Print working directory</a:t>
            </a:r>
            <a:endParaRPr lang="en-US" sz="1500" dirty="0"/>
          </a:p>
        </p:txBody>
      </p:sp>
      <p:sp>
        <p:nvSpPr>
          <p:cNvPr id="9" name="pwd-c1-text"/>
          <p:cNvSpPr txBox="1"/>
          <p:nvPr/>
        </p:nvSpPr>
        <p:spPr>
          <a:xfrm>
            <a:off x="8092440" y="2496312"/>
            <a:ext cx="3182112" cy="512064"/>
          </a:xfrm>
          <a:prstGeom prst="rect">
            <a:avLst/>
          </a:prstGeom>
          <a:noFill/>
          <a:ln/>
        </p:spPr>
        <p:txBody>
          <a:bodyPr wrap="square" lIns="0" tIns="0" rIns="0" bIns="0" rtlCol="0" anchor="t"/>
          <a:lstStyle/>
          <a:p>
            <a:pPr indent="0" marL="0">
              <a:lnSpc>
                <a:spcPct val="118000"/>
              </a:lnSpc>
              <a:buNone/>
            </a:pPr>
            <a:r>
              <a:rPr lang="en-US" sz="1400" dirty="0">
                <a:solidFill>
                  <a:srgbClr val="33444D"/>
                </a:solidFill>
              </a:rPr>
              <a:t>Directory is the old word for folder.</a:t>
            </a:r>
            <a:endParaRPr lang="en-US" sz="1400" dirty="0"/>
          </a:p>
        </p:txBody>
      </p:sp>
      <p:sp>
        <p:nvSpPr>
          <p:cNvPr id="10" name="caption"/>
          <p:cNvSpPr txBox="1"/>
          <p:nvPr/>
        </p:nvSpPr>
        <p:spPr>
          <a:xfrm>
            <a:off x="640080" y="2971800"/>
            <a:ext cx="6858000" cy="457200"/>
          </a:xfrm>
          <a:prstGeom prst="rect">
            <a:avLst/>
          </a:prstGeom>
          <a:noFill/>
          <a:ln/>
        </p:spPr>
        <p:txBody>
          <a:bodyPr wrap="square" lIns="0" tIns="0" rIns="0" bIns="0" rtlCol="0" anchor="t"/>
          <a:lstStyle/>
          <a:p>
            <a:pPr algn="l" indent="0" marL="0">
              <a:lnSpc>
                <a:spcPct val="118000"/>
              </a:lnSpc>
              <a:buNone/>
            </a:pPr>
            <a:r>
              <a:rPr lang="en-US" sz="1600" dirty="0">
                <a:solidFill>
                  <a:srgbClr val="33444D"/>
                </a:solidFill>
              </a:rPr>
              <a:t>It answers one question and changes nothing. When you are lost, this is the command.</a:t>
            </a:r>
            <a:endParaRPr lang="en-US" sz="1600" dirty="0"/>
          </a:p>
        </p:txBody>
      </p:sp>
      <p:sp>
        <p:nvSpPr>
          <p:cNvPr id="11" name="pwd-path"/>
          <p:cNvSpPr/>
          <p:nvPr/>
        </p:nvSpPr>
        <p:spPr>
          <a:xfrm>
            <a:off x="640080" y="3749040"/>
            <a:ext cx="10911535" cy="1371600"/>
          </a:xfrm>
          <a:prstGeom prst="roundRect">
            <a:avLst>
              <a:gd name="adj" fmla="val 2333"/>
            </a:avLst>
          </a:prstGeom>
          <a:solidFill>
            <a:srgbClr val="EDF1F2"/>
          </a:solidFill>
          <a:ln/>
          <a:effectLst>
            <a:outerShdw sx="100000" sy="100000" kx="0" ky="0" algn="bl" rotWithShape="0" blurRad="101600" dist="12700" dir="5400000">
              <a:srgbClr val="000000">
                <a:alpha val="10000"/>
              </a:srgbClr>
            </a:outerShdw>
          </a:effectLst>
        </p:spPr>
      </p:sp>
      <p:sp>
        <p:nvSpPr>
          <p:cNvPr id="12" name="pwd-path-head"/>
          <p:cNvSpPr txBox="1"/>
          <p:nvPr/>
        </p:nvSpPr>
        <p:spPr>
          <a:xfrm>
            <a:off x="914400" y="3950208"/>
            <a:ext cx="10362895" cy="402336"/>
          </a:xfrm>
          <a:prstGeom prst="rect">
            <a:avLst/>
          </a:prstGeom>
          <a:noFill/>
          <a:ln/>
        </p:spPr>
        <p:txBody>
          <a:bodyPr wrap="square" lIns="0" tIns="0" rIns="0" bIns="0" rtlCol="0" anchor="ctr"/>
          <a:lstStyle/>
          <a:p>
            <a:pPr indent="0" marL="0">
              <a:buNone/>
            </a:pPr>
            <a:r>
              <a:rPr lang="en-US" sz="1500" b="1" dirty="0">
                <a:solidFill>
                  <a:srgbClr val="12191C"/>
                </a:solidFill>
              </a:rPr>
              <a:t>A path is just a set of nested folders, read left to right</a:t>
            </a:r>
            <a:endParaRPr lang="en-US" sz="1500" dirty="0"/>
          </a:p>
        </p:txBody>
      </p:sp>
      <p:sp>
        <p:nvSpPr>
          <p:cNvPr id="13" name="pwd-path-text"/>
          <p:cNvSpPr txBox="1"/>
          <p:nvPr/>
        </p:nvSpPr>
        <p:spPr>
          <a:xfrm>
            <a:off x="914400" y="4370832"/>
            <a:ext cx="10362895" cy="603504"/>
          </a:xfrm>
          <a:prstGeom prst="rect">
            <a:avLst/>
          </a:prstGeom>
          <a:noFill/>
          <a:ln/>
        </p:spPr>
        <p:txBody>
          <a:bodyPr wrap="square" lIns="0" tIns="0" rIns="0" bIns="0" rtlCol="0" anchor="t"/>
          <a:lstStyle/>
          <a:p>
            <a:pPr indent="0" marL="0">
              <a:lnSpc>
                <a:spcPct val="118000"/>
              </a:lnSpc>
              <a:buNone/>
            </a:pPr>
            <a:r>
              <a:rPr lang="en-US" sz="1400" dirty="0">
                <a:solidFill>
                  <a:srgbClr val="33444D"/>
                </a:solidFill>
              </a:rPr>
              <a:t>/Users/you/Documents/GitHub  means: the Users folder, then your folder, then Documents, then GitHub. The slashes are the steps inward. That is the entire concept, and it is the only one you need.</a:t>
            </a:r>
            <a:endParaRPr lang="en-US" sz="1400" dirty="0"/>
          </a:p>
        </p:txBody>
      </p:sp>
      <p:sp>
        <p:nvSpPr>
          <p:cNvPr id="15"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hip-bg-command 2 of 4"/>
          <p:cNvSpPr/>
          <p:nvPr/>
        </p:nvSpPr>
        <p:spPr>
          <a:xfrm>
            <a:off x="640080" y="457200"/>
            <a:ext cx="1609344" cy="274320"/>
          </a:xfrm>
          <a:prstGeom prst="roundRect">
            <a:avLst>
              <a:gd name="adj" fmla="val 16667"/>
            </a:avLst>
          </a:prstGeom>
          <a:solidFill>
            <a:srgbClr val="5E6E78"/>
          </a:solidFill>
          <a:ln/>
        </p:spPr>
      </p:sp>
      <p:sp>
        <p:nvSpPr>
          <p:cNvPr id="3" name="chip-command 2 of 4"/>
          <p:cNvSpPr txBox="1"/>
          <p:nvPr/>
        </p:nvSpPr>
        <p:spPr>
          <a:xfrm>
            <a:off x="640080" y="457200"/>
            <a:ext cx="1609344"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ourier New" pitchFamily="34" charset="0"/>
                <a:ea typeface="Courier New" pitchFamily="34" charset="-122"/>
                <a:cs typeface="Courier New" pitchFamily="34" charset="-120"/>
              </a:rPr>
              <a:t>command 2 of 4</a:t>
            </a:r>
            <a:endParaRPr lang="en-US" sz="1000" dirty="0"/>
          </a:p>
        </p:txBody>
      </p:sp>
      <p:sp>
        <p:nvSpPr>
          <p:cNvPr id="4"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ls — what's in here?</a:t>
            </a:r>
            <a:endParaRPr lang="en-US" sz="3300" dirty="0"/>
          </a:p>
        </p:txBody>
      </p:sp>
      <p:sp>
        <p:nvSpPr>
          <p:cNvPr id="5" name="ls-term"/>
          <p:cNvSpPr/>
          <p:nvPr/>
        </p:nvSpPr>
        <p:spPr>
          <a:xfrm>
            <a:off x="640080" y="1874520"/>
            <a:ext cx="6858000" cy="1324051"/>
          </a:xfrm>
          <a:prstGeom prst="roundRect">
            <a:avLst>
              <a:gd name="adj" fmla="val 2417"/>
            </a:avLst>
          </a:prstGeom>
          <a:solidFill>
            <a:srgbClr val="12191C"/>
          </a:solidFill>
          <a:ln/>
          <a:effectLst>
            <a:outerShdw sx="100000" sy="100000" kx="0" ky="0" algn="bl" rotWithShape="0" blurRad="127000" dist="25400" dir="5400000">
              <a:srgbClr val="000000">
                <a:alpha val="18000"/>
              </a:srgbClr>
            </a:outerShdw>
          </a:effectLst>
        </p:spPr>
      </p:sp>
      <p:sp>
        <p:nvSpPr>
          <p:cNvPr id="6" name="ls-term-text"/>
          <p:cNvSpPr txBox="1"/>
          <p:nvPr/>
        </p:nvSpPr>
        <p:spPr>
          <a:xfrm>
            <a:off x="896112" y="2057400"/>
            <a:ext cx="6345936" cy="958291"/>
          </a:xfrm>
          <a:prstGeom prst="rect">
            <a:avLst/>
          </a:prstGeom>
          <a:noFill/>
          <a:ln/>
        </p:spPr>
        <p:txBody>
          <a:bodyPr wrap="square" lIns="0" tIns="0" rIns="0" bIns="0" rtlCol="0" anchor="t"/>
          <a:lstStyle/>
          <a:p>
            <a:pPr indent="0" marL="0">
              <a:lnSpc>
                <a:spcPct val="112000"/>
              </a:lnSpc>
              <a:buNone/>
            </a:pPr>
            <a:r>
              <a:rPr lang="en-US" sz="1600" b="1" dirty="0">
                <a:solidFill>
                  <a:srgbClr val="E5A24A"/>
                </a:solidFill>
                <a:latin typeface="Courier New" pitchFamily="34" charset="0"/>
                <a:ea typeface="Courier New" pitchFamily="34" charset="-122"/>
                <a:cs typeface="Courier New" pitchFamily="34" charset="-120"/>
              </a:rPr>
              <a:t>laptop ~ % ls</a:t>
            </a:r>
            <a:endParaRPr lang="en-US" sz="1600" dirty="0"/>
          </a:p>
          <a:p>
            <a:pPr indent="0" marL="0">
              <a:lnSpc>
                <a:spcPct val="112000"/>
              </a:lnSpc>
              <a:buNone/>
            </a:pPr>
            <a:r>
              <a:rPr lang="en-US" sz="1600" dirty="0">
                <a:solidFill>
                  <a:srgbClr val="EDF1F2"/>
                </a:solidFill>
                <a:latin typeface="Courier New" pitchFamily="34" charset="0"/>
                <a:ea typeface="Courier New" pitchFamily="34" charset="-122"/>
                <a:cs typeface="Courier New" pitchFamily="34" charset="-120"/>
              </a:rPr>
              <a:t>Applications   Desktop     Documents</a:t>
            </a:r>
            <a:endParaRPr lang="en-US" sz="1600" dirty="0"/>
          </a:p>
          <a:p>
            <a:pPr indent="0" marL="0">
              <a:lnSpc>
                <a:spcPct val="112000"/>
              </a:lnSpc>
              <a:buNone/>
            </a:pPr>
            <a:r>
              <a:rPr lang="en-US" sz="1600" dirty="0">
                <a:solidFill>
                  <a:srgbClr val="EDF1F2"/>
                </a:solidFill>
                <a:latin typeface="Courier New" pitchFamily="34" charset="0"/>
                <a:ea typeface="Courier New" pitchFamily="34" charset="-122"/>
                <a:cs typeface="Courier New" pitchFamily="34" charset="-120"/>
              </a:rPr>
              <a:t>Downloads      Movies      Music</a:t>
            </a:r>
            <a:endParaRPr lang="en-US" sz="1600" dirty="0"/>
          </a:p>
          <a:p>
            <a:pPr indent="0" marL="0">
              <a:lnSpc>
                <a:spcPct val="112000"/>
              </a:lnSpc>
              <a:buNone/>
            </a:pPr>
            <a:r>
              <a:rPr lang="en-US" sz="1600" dirty="0">
                <a:solidFill>
                  <a:srgbClr val="EDF1F2"/>
                </a:solidFill>
                <a:latin typeface="Courier New" pitchFamily="34" charset="0"/>
                <a:ea typeface="Courier New" pitchFamily="34" charset="-122"/>
                <a:cs typeface="Courier New" pitchFamily="34" charset="-120"/>
              </a:rPr>
              <a:t>Pictures       Public</a:t>
            </a:r>
            <a:endParaRPr lang="en-US" sz="1600" dirty="0"/>
          </a:p>
        </p:txBody>
      </p:sp>
      <p:sp>
        <p:nvSpPr>
          <p:cNvPr id="7" name="ls-c1"/>
          <p:cNvSpPr/>
          <p:nvPr/>
        </p:nvSpPr>
        <p:spPr>
          <a:xfrm>
            <a:off x="7818120" y="1874520"/>
            <a:ext cx="3730752" cy="1280160"/>
          </a:xfrm>
          <a:prstGeom prst="roundRect">
            <a:avLst>
              <a:gd name="adj" fmla="val 2500"/>
            </a:avLst>
          </a:prstGeom>
          <a:solidFill>
            <a:srgbClr val="EDF1F2"/>
          </a:solidFill>
          <a:ln/>
          <a:effectLst>
            <a:outerShdw sx="100000" sy="100000" kx="0" ky="0" algn="bl" rotWithShape="0" blurRad="101600" dist="12700" dir="5400000">
              <a:srgbClr val="000000">
                <a:alpha val="10000"/>
              </a:srgbClr>
            </a:outerShdw>
          </a:effectLst>
        </p:spPr>
      </p:sp>
      <p:sp>
        <p:nvSpPr>
          <p:cNvPr id="8" name="ls-c1-head"/>
          <p:cNvSpPr txBox="1"/>
          <p:nvPr/>
        </p:nvSpPr>
        <p:spPr>
          <a:xfrm>
            <a:off x="8092440" y="2075688"/>
            <a:ext cx="3182112" cy="402336"/>
          </a:xfrm>
          <a:prstGeom prst="rect">
            <a:avLst/>
          </a:prstGeom>
          <a:noFill/>
          <a:ln/>
        </p:spPr>
        <p:txBody>
          <a:bodyPr wrap="square" lIns="0" tIns="0" rIns="0" bIns="0" rtlCol="0" anchor="ctr"/>
          <a:lstStyle/>
          <a:p>
            <a:pPr indent="0" marL="0">
              <a:buNone/>
            </a:pPr>
            <a:r>
              <a:rPr lang="en-US" sz="1500" b="1" dirty="0">
                <a:solidFill>
                  <a:srgbClr val="12191C"/>
                </a:solidFill>
              </a:rPr>
              <a:t>List</a:t>
            </a:r>
            <a:endParaRPr lang="en-US" sz="1500" dirty="0"/>
          </a:p>
        </p:txBody>
      </p:sp>
      <p:sp>
        <p:nvSpPr>
          <p:cNvPr id="9" name="ls-c1-text"/>
          <p:cNvSpPr txBox="1"/>
          <p:nvPr/>
        </p:nvSpPr>
        <p:spPr>
          <a:xfrm>
            <a:off x="8092440" y="2496312"/>
            <a:ext cx="3182112" cy="512064"/>
          </a:xfrm>
          <a:prstGeom prst="rect">
            <a:avLst/>
          </a:prstGeom>
          <a:noFill/>
          <a:ln/>
        </p:spPr>
        <p:txBody>
          <a:bodyPr wrap="square" lIns="0" tIns="0" rIns="0" bIns="0" rtlCol="0" anchor="t"/>
          <a:lstStyle/>
          <a:p>
            <a:pPr indent="0" marL="0">
              <a:lnSpc>
                <a:spcPct val="118000"/>
              </a:lnSpc>
              <a:buNone/>
            </a:pPr>
            <a:r>
              <a:rPr lang="en-US" sz="1400" dirty="0">
                <a:solidFill>
                  <a:srgbClr val="33444D"/>
                </a:solidFill>
              </a:rPr>
              <a:t>Two letters: lowercase L, lowercase S.</a:t>
            </a:r>
            <a:endParaRPr lang="en-US" sz="1400" dirty="0"/>
          </a:p>
        </p:txBody>
      </p:sp>
      <p:sp>
        <p:nvSpPr>
          <p:cNvPr id="10" name="ls-c2"/>
          <p:cNvSpPr/>
          <p:nvPr/>
        </p:nvSpPr>
        <p:spPr>
          <a:xfrm>
            <a:off x="7818120" y="3291840"/>
            <a:ext cx="3730752" cy="1280160"/>
          </a:xfrm>
          <a:prstGeom prst="roundRect">
            <a:avLst>
              <a:gd name="adj" fmla="val 2500"/>
            </a:avLst>
          </a:prstGeom>
          <a:solidFill>
            <a:srgbClr val="EDF1F2"/>
          </a:solidFill>
          <a:ln/>
          <a:effectLst>
            <a:outerShdw sx="100000" sy="100000" kx="0" ky="0" algn="bl" rotWithShape="0" blurRad="101600" dist="12700" dir="5400000">
              <a:srgbClr val="000000">
                <a:alpha val="10000"/>
              </a:srgbClr>
            </a:outerShdw>
          </a:effectLst>
        </p:spPr>
      </p:sp>
      <p:sp>
        <p:nvSpPr>
          <p:cNvPr id="11" name="ls-c2-head"/>
          <p:cNvSpPr txBox="1"/>
          <p:nvPr/>
        </p:nvSpPr>
        <p:spPr>
          <a:xfrm>
            <a:off x="8092440" y="3493008"/>
            <a:ext cx="3182112" cy="402336"/>
          </a:xfrm>
          <a:prstGeom prst="rect">
            <a:avLst/>
          </a:prstGeom>
          <a:noFill/>
          <a:ln/>
        </p:spPr>
        <p:txBody>
          <a:bodyPr wrap="square" lIns="0" tIns="0" rIns="0" bIns="0" rtlCol="0" anchor="ctr"/>
          <a:lstStyle/>
          <a:p>
            <a:pPr indent="0" marL="0">
              <a:buNone/>
            </a:pPr>
            <a:r>
              <a:rPr lang="en-US" sz="1500" b="1" dirty="0">
                <a:solidFill>
                  <a:srgbClr val="12191C"/>
                </a:solidFill>
              </a:rPr>
              <a:t>Nothing came back?</a:t>
            </a:r>
            <a:endParaRPr lang="en-US" sz="1500" dirty="0"/>
          </a:p>
        </p:txBody>
      </p:sp>
      <p:sp>
        <p:nvSpPr>
          <p:cNvPr id="12" name="ls-c2-text"/>
          <p:cNvSpPr txBox="1"/>
          <p:nvPr/>
        </p:nvSpPr>
        <p:spPr>
          <a:xfrm>
            <a:off x="8092440" y="3913632"/>
            <a:ext cx="3182112" cy="512064"/>
          </a:xfrm>
          <a:prstGeom prst="rect">
            <a:avLst/>
          </a:prstGeom>
          <a:noFill/>
          <a:ln/>
        </p:spPr>
        <p:txBody>
          <a:bodyPr wrap="square" lIns="0" tIns="0" rIns="0" bIns="0" rtlCol="0" anchor="t"/>
          <a:lstStyle/>
          <a:p>
            <a:pPr indent="0" marL="0">
              <a:lnSpc>
                <a:spcPct val="118000"/>
              </a:lnSpc>
              <a:buNone/>
            </a:pPr>
            <a:r>
              <a:rPr lang="en-US" sz="1400" dirty="0">
                <a:solidFill>
                  <a:srgbClr val="33444D"/>
                </a:solidFill>
              </a:rPr>
              <a:t>Then the folder is empty. Silence is a real answer here.</a:t>
            </a:r>
            <a:endParaRPr lang="en-US" sz="1400" dirty="0"/>
          </a:p>
        </p:txBody>
      </p:sp>
      <p:sp>
        <p:nvSpPr>
          <p:cNvPr id="13" name="caption"/>
          <p:cNvSpPr txBox="1"/>
          <p:nvPr/>
        </p:nvSpPr>
        <p:spPr>
          <a:xfrm>
            <a:off x="640080" y="3383280"/>
            <a:ext cx="6858000" cy="777240"/>
          </a:xfrm>
          <a:prstGeom prst="rect">
            <a:avLst/>
          </a:prstGeom>
          <a:noFill/>
          <a:ln/>
        </p:spPr>
        <p:txBody>
          <a:bodyPr wrap="square" lIns="0" tIns="0" rIns="0" bIns="0" rtlCol="0" anchor="t"/>
          <a:lstStyle/>
          <a:p>
            <a:pPr algn="l" indent="0" marL="0">
              <a:lnSpc>
                <a:spcPct val="118000"/>
              </a:lnSpc>
              <a:buNone/>
            </a:pPr>
            <a:r>
              <a:rPr lang="en-US" sz="1600" dirty="0">
                <a:solidFill>
                  <a:srgbClr val="33444D"/>
                </a:solidFill>
              </a:rPr>
              <a:t>The same folders you see in Finder, in the same home folder. Open a Finder window beside the terminal and compare the two lists — they match.</a:t>
            </a:r>
            <a:endParaRPr lang="en-US" sz="1600" dirty="0"/>
          </a:p>
        </p:txBody>
      </p:sp>
      <p:sp>
        <p:nvSpPr>
          <p:cNvPr id="15"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hip-bg-command 3 of 4"/>
          <p:cNvSpPr/>
          <p:nvPr/>
        </p:nvSpPr>
        <p:spPr>
          <a:xfrm>
            <a:off x="640080" y="457200"/>
            <a:ext cx="1609344" cy="274320"/>
          </a:xfrm>
          <a:prstGeom prst="roundRect">
            <a:avLst>
              <a:gd name="adj" fmla="val 16667"/>
            </a:avLst>
          </a:prstGeom>
          <a:solidFill>
            <a:srgbClr val="5E6E78"/>
          </a:solidFill>
          <a:ln/>
        </p:spPr>
      </p:sp>
      <p:sp>
        <p:nvSpPr>
          <p:cNvPr id="3" name="chip-command 3 of 4"/>
          <p:cNvSpPr txBox="1"/>
          <p:nvPr/>
        </p:nvSpPr>
        <p:spPr>
          <a:xfrm>
            <a:off x="640080" y="457200"/>
            <a:ext cx="1609344"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ourier New" pitchFamily="34" charset="0"/>
                <a:ea typeface="Courier New" pitchFamily="34" charset="-122"/>
                <a:cs typeface="Courier New" pitchFamily="34" charset="-120"/>
              </a:rPr>
              <a:t>command 3 of 4</a:t>
            </a:r>
            <a:endParaRPr lang="en-US" sz="1000" dirty="0"/>
          </a:p>
        </p:txBody>
      </p:sp>
      <p:sp>
        <p:nvSpPr>
          <p:cNvPr id="4"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cd — move</a:t>
            </a:r>
            <a:endParaRPr lang="en-US" sz="3300" dirty="0"/>
          </a:p>
        </p:txBody>
      </p:sp>
      <p:sp>
        <p:nvSpPr>
          <p:cNvPr id="5" name="cd-term"/>
          <p:cNvSpPr/>
          <p:nvPr/>
        </p:nvSpPr>
        <p:spPr>
          <a:xfrm>
            <a:off x="640080" y="1874520"/>
            <a:ext cx="6858000" cy="1075334"/>
          </a:xfrm>
          <a:prstGeom prst="roundRect">
            <a:avLst>
              <a:gd name="adj" fmla="val 2976"/>
            </a:avLst>
          </a:prstGeom>
          <a:solidFill>
            <a:srgbClr val="12191C"/>
          </a:solidFill>
          <a:ln/>
          <a:effectLst>
            <a:outerShdw sx="100000" sy="100000" kx="0" ky="0" algn="bl" rotWithShape="0" blurRad="127000" dist="25400" dir="5400000">
              <a:srgbClr val="000000">
                <a:alpha val="18000"/>
              </a:srgbClr>
            </a:outerShdw>
          </a:effectLst>
        </p:spPr>
      </p:sp>
      <p:sp>
        <p:nvSpPr>
          <p:cNvPr id="6" name="cd-term-text"/>
          <p:cNvSpPr txBox="1"/>
          <p:nvPr/>
        </p:nvSpPr>
        <p:spPr>
          <a:xfrm>
            <a:off x="896112" y="2057400"/>
            <a:ext cx="6345936" cy="709574"/>
          </a:xfrm>
          <a:prstGeom prst="rect">
            <a:avLst/>
          </a:prstGeom>
          <a:noFill/>
          <a:ln/>
        </p:spPr>
        <p:txBody>
          <a:bodyPr wrap="square" lIns="0" tIns="0" rIns="0" bIns="0" rtlCol="0" anchor="t"/>
          <a:lstStyle/>
          <a:p>
            <a:pPr indent="0" marL="0">
              <a:lnSpc>
                <a:spcPct val="112000"/>
              </a:lnSpc>
              <a:buNone/>
            </a:pPr>
            <a:r>
              <a:rPr lang="en-US" sz="1600" b="1" dirty="0">
                <a:solidFill>
                  <a:srgbClr val="E5A24A"/>
                </a:solidFill>
                <a:latin typeface="Courier New" pitchFamily="34" charset="0"/>
                <a:ea typeface="Courier New" pitchFamily="34" charset="-122"/>
                <a:cs typeface="Courier New" pitchFamily="34" charset="-120"/>
              </a:rPr>
              <a:t>laptop ~ % cd Documents</a:t>
            </a:r>
            <a:endParaRPr lang="en-US" sz="1600" dirty="0"/>
          </a:p>
          <a:p>
            <a:pPr indent="0" marL="0">
              <a:lnSpc>
                <a:spcPct val="112000"/>
              </a:lnSpc>
              <a:buNone/>
            </a:pPr>
            <a:r>
              <a:rPr lang="en-US" sz="1600" b="1" dirty="0">
                <a:solidFill>
                  <a:srgbClr val="E5A24A"/>
                </a:solidFill>
                <a:latin typeface="Courier New" pitchFamily="34" charset="0"/>
                <a:ea typeface="Courier New" pitchFamily="34" charset="-122"/>
                <a:cs typeface="Courier New" pitchFamily="34" charset="-120"/>
              </a:rPr>
              <a:t>laptop Documents % cd ..</a:t>
            </a:r>
            <a:endParaRPr lang="en-US" sz="1600" dirty="0"/>
          </a:p>
          <a:p>
            <a:pPr indent="0" marL="0">
              <a:lnSpc>
                <a:spcPct val="112000"/>
              </a:lnSpc>
              <a:buNone/>
            </a:pPr>
            <a:r>
              <a:rPr lang="en-US" sz="1600" b="1" dirty="0">
                <a:solidFill>
                  <a:srgbClr val="E5A24A"/>
                </a:solidFill>
                <a:latin typeface="Courier New" pitchFamily="34" charset="0"/>
                <a:ea typeface="Courier New" pitchFamily="34" charset="-122"/>
                <a:cs typeface="Courier New" pitchFamily="34" charset="-120"/>
              </a:rPr>
              <a:t>laptop ~ % </a:t>
            </a:r>
            <a:endParaRPr lang="en-US" sz="1600" dirty="0"/>
          </a:p>
        </p:txBody>
      </p:sp>
      <p:sp>
        <p:nvSpPr>
          <p:cNvPr id="7" name="caption"/>
          <p:cNvSpPr txBox="1"/>
          <p:nvPr/>
        </p:nvSpPr>
        <p:spPr>
          <a:xfrm>
            <a:off x="640080" y="3108960"/>
            <a:ext cx="6858000" cy="457200"/>
          </a:xfrm>
          <a:prstGeom prst="rect">
            <a:avLst/>
          </a:prstGeom>
          <a:noFill/>
          <a:ln/>
        </p:spPr>
        <p:txBody>
          <a:bodyPr wrap="square" lIns="0" tIns="0" rIns="0" bIns="0" rtlCol="0" anchor="t"/>
          <a:lstStyle/>
          <a:p>
            <a:pPr algn="l" indent="0" marL="0">
              <a:lnSpc>
                <a:spcPct val="118000"/>
              </a:lnSpc>
              <a:buNone/>
            </a:pPr>
            <a:r>
              <a:rPr lang="en-US" sz="1500" i="1" dirty="0">
                <a:solidFill>
                  <a:srgbClr val="33444D"/>
                </a:solidFill>
              </a:rPr>
              <a:t>Watch the middle of the prompt change. That is how you know it worked.</a:t>
            </a:r>
            <a:endParaRPr lang="en-US" sz="1500" dirty="0"/>
          </a:p>
        </p:txBody>
      </p:sp>
      <p:sp>
        <p:nvSpPr>
          <p:cNvPr id="8" name="cd-c1"/>
          <p:cNvSpPr/>
          <p:nvPr/>
        </p:nvSpPr>
        <p:spPr>
          <a:xfrm>
            <a:off x="7818120" y="1874520"/>
            <a:ext cx="3730752" cy="914400"/>
          </a:xfrm>
          <a:prstGeom prst="roundRect">
            <a:avLst>
              <a:gd name="adj" fmla="val 3500"/>
            </a:avLst>
          </a:prstGeom>
          <a:solidFill>
            <a:srgbClr val="EDF1F2"/>
          </a:solidFill>
          <a:ln/>
          <a:effectLst>
            <a:outerShdw sx="100000" sy="100000" kx="0" ky="0" algn="bl" rotWithShape="0" blurRad="101600" dist="12700" dir="5400000">
              <a:srgbClr val="000000">
                <a:alpha val="10000"/>
              </a:srgbClr>
            </a:outerShdw>
          </a:effectLst>
        </p:spPr>
      </p:sp>
      <p:sp>
        <p:nvSpPr>
          <p:cNvPr id="9" name="cd-c1-head"/>
          <p:cNvSpPr txBox="1"/>
          <p:nvPr/>
        </p:nvSpPr>
        <p:spPr>
          <a:xfrm>
            <a:off x="8092440" y="2075688"/>
            <a:ext cx="3182112" cy="292608"/>
          </a:xfrm>
          <a:prstGeom prst="rect">
            <a:avLst/>
          </a:prstGeom>
          <a:noFill/>
          <a:ln/>
        </p:spPr>
        <p:txBody>
          <a:bodyPr wrap="square" lIns="0" tIns="0" rIns="0" bIns="0" rtlCol="0" anchor="ctr"/>
          <a:lstStyle/>
          <a:p>
            <a:pPr indent="0" marL="0">
              <a:buNone/>
            </a:pPr>
            <a:r>
              <a:rPr lang="en-US" sz="1400" b="1" dirty="0">
                <a:solidFill>
                  <a:srgbClr val="12191C"/>
                </a:solidFill>
                <a:latin typeface="Courier New" pitchFamily="34" charset="0"/>
                <a:ea typeface="Courier New" pitchFamily="34" charset="-122"/>
                <a:cs typeface="Courier New" pitchFamily="34" charset="-120"/>
              </a:rPr>
              <a:t>cd Documents</a:t>
            </a:r>
            <a:endParaRPr lang="en-US" sz="1400" dirty="0"/>
          </a:p>
        </p:txBody>
      </p:sp>
      <p:sp>
        <p:nvSpPr>
          <p:cNvPr id="10" name="cd-c1-text"/>
          <p:cNvSpPr txBox="1"/>
          <p:nvPr/>
        </p:nvSpPr>
        <p:spPr>
          <a:xfrm>
            <a:off x="8092440" y="2386584"/>
            <a:ext cx="3182112" cy="256032"/>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Go into a folder you can see</a:t>
            </a:r>
            <a:endParaRPr lang="en-US" sz="1300" dirty="0"/>
          </a:p>
        </p:txBody>
      </p:sp>
      <p:sp>
        <p:nvSpPr>
          <p:cNvPr id="11" name="cd-c2"/>
          <p:cNvSpPr/>
          <p:nvPr/>
        </p:nvSpPr>
        <p:spPr>
          <a:xfrm>
            <a:off x="7818120" y="2898648"/>
            <a:ext cx="3730752" cy="914400"/>
          </a:xfrm>
          <a:prstGeom prst="roundRect">
            <a:avLst>
              <a:gd name="adj" fmla="val 3500"/>
            </a:avLst>
          </a:prstGeom>
          <a:solidFill>
            <a:srgbClr val="EDF1F2"/>
          </a:solidFill>
          <a:ln/>
          <a:effectLst>
            <a:outerShdw sx="100000" sy="100000" kx="0" ky="0" algn="bl" rotWithShape="0" blurRad="101600" dist="12700" dir="5400000">
              <a:srgbClr val="000000">
                <a:alpha val="10000"/>
              </a:srgbClr>
            </a:outerShdw>
          </a:effectLst>
        </p:spPr>
      </p:sp>
      <p:sp>
        <p:nvSpPr>
          <p:cNvPr id="12" name="cd-c2-head"/>
          <p:cNvSpPr txBox="1"/>
          <p:nvPr/>
        </p:nvSpPr>
        <p:spPr>
          <a:xfrm>
            <a:off x="8092440" y="3099816"/>
            <a:ext cx="3182112" cy="292608"/>
          </a:xfrm>
          <a:prstGeom prst="rect">
            <a:avLst/>
          </a:prstGeom>
          <a:noFill/>
          <a:ln/>
        </p:spPr>
        <p:txBody>
          <a:bodyPr wrap="square" lIns="0" tIns="0" rIns="0" bIns="0" rtlCol="0" anchor="ctr"/>
          <a:lstStyle/>
          <a:p>
            <a:pPr indent="0" marL="0">
              <a:buNone/>
            </a:pPr>
            <a:r>
              <a:rPr lang="en-US" sz="1400" b="1" dirty="0">
                <a:solidFill>
                  <a:srgbClr val="12191C"/>
                </a:solidFill>
                <a:latin typeface="Courier New" pitchFamily="34" charset="0"/>
                <a:ea typeface="Courier New" pitchFamily="34" charset="-122"/>
                <a:cs typeface="Courier New" pitchFamily="34" charset="-120"/>
              </a:rPr>
              <a:t>cd ..</a:t>
            </a:r>
            <a:endParaRPr lang="en-US" sz="1400" dirty="0"/>
          </a:p>
        </p:txBody>
      </p:sp>
      <p:sp>
        <p:nvSpPr>
          <p:cNvPr id="13" name="cd-c2-text"/>
          <p:cNvSpPr txBox="1"/>
          <p:nvPr/>
        </p:nvSpPr>
        <p:spPr>
          <a:xfrm>
            <a:off x="8092440" y="3410712"/>
            <a:ext cx="3182112" cy="256032"/>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Go back up one level</a:t>
            </a:r>
            <a:endParaRPr lang="en-US" sz="1300" dirty="0"/>
          </a:p>
        </p:txBody>
      </p:sp>
      <p:sp>
        <p:nvSpPr>
          <p:cNvPr id="14" name="cd-c3"/>
          <p:cNvSpPr/>
          <p:nvPr/>
        </p:nvSpPr>
        <p:spPr>
          <a:xfrm>
            <a:off x="7818120" y="3922776"/>
            <a:ext cx="3730752" cy="914400"/>
          </a:xfrm>
          <a:prstGeom prst="roundRect">
            <a:avLst>
              <a:gd name="adj" fmla="val 3500"/>
            </a:avLst>
          </a:prstGeom>
          <a:solidFill>
            <a:srgbClr val="EDF1F2"/>
          </a:solidFill>
          <a:ln/>
          <a:effectLst>
            <a:outerShdw sx="100000" sy="100000" kx="0" ky="0" algn="bl" rotWithShape="0" blurRad="101600" dist="12700" dir="5400000">
              <a:srgbClr val="000000">
                <a:alpha val="10000"/>
              </a:srgbClr>
            </a:outerShdw>
          </a:effectLst>
        </p:spPr>
      </p:sp>
      <p:sp>
        <p:nvSpPr>
          <p:cNvPr id="15" name="cd-c3-head"/>
          <p:cNvSpPr txBox="1"/>
          <p:nvPr/>
        </p:nvSpPr>
        <p:spPr>
          <a:xfrm>
            <a:off x="8092440" y="4123944"/>
            <a:ext cx="3182112" cy="292608"/>
          </a:xfrm>
          <a:prstGeom prst="rect">
            <a:avLst/>
          </a:prstGeom>
          <a:noFill/>
          <a:ln/>
        </p:spPr>
        <p:txBody>
          <a:bodyPr wrap="square" lIns="0" tIns="0" rIns="0" bIns="0" rtlCol="0" anchor="ctr"/>
          <a:lstStyle/>
          <a:p>
            <a:pPr indent="0" marL="0">
              <a:buNone/>
            </a:pPr>
            <a:r>
              <a:rPr lang="en-US" sz="1400" b="1" dirty="0">
                <a:solidFill>
                  <a:srgbClr val="12191C"/>
                </a:solidFill>
                <a:latin typeface="Courier New" pitchFamily="34" charset="0"/>
                <a:ea typeface="Courier New" pitchFamily="34" charset="-122"/>
                <a:cs typeface="Courier New" pitchFamily="34" charset="-120"/>
              </a:rPr>
              <a:t>cd ~</a:t>
            </a:r>
            <a:endParaRPr lang="en-US" sz="1400" dirty="0"/>
          </a:p>
        </p:txBody>
      </p:sp>
      <p:sp>
        <p:nvSpPr>
          <p:cNvPr id="16" name="cd-c3-text"/>
          <p:cNvSpPr txBox="1"/>
          <p:nvPr/>
        </p:nvSpPr>
        <p:spPr>
          <a:xfrm>
            <a:off x="8092440" y="4434840"/>
            <a:ext cx="3182112" cy="256032"/>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Go straight home from anywhere</a:t>
            </a:r>
            <a:endParaRPr lang="en-US" sz="1300" dirty="0"/>
          </a:p>
        </p:txBody>
      </p:sp>
      <p:sp>
        <p:nvSpPr>
          <p:cNvPr id="17" name="cd-tab"/>
          <p:cNvSpPr/>
          <p:nvPr/>
        </p:nvSpPr>
        <p:spPr>
          <a:xfrm>
            <a:off x="640080" y="3657600"/>
            <a:ext cx="6858000" cy="1508760"/>
          </a:xfrm>
          <a:prstGeom prst="roundRect">
            <a:avLst>
              <a:gd name="adj" fmla="val 2121"/>
            </a:avLst>
          </a:prstGeom>
          <a:solidFill>
            <a:srgbClr val="1E292F"/>
          </a:solidFill>
          <a:ln/>
          <a:effectLst>
            <a:outerShdw sx="100000" sy="100000" kx="0" ky="0" algn="bl" rotWithShape="0" blurRad="101600" dist="12700" dir="5400000">
              <a:srgbClr val="000000">
                <a:alpha val="10000"/>
              </a:srgbClr>
            </a:outerShdw>
          </a:effectLst>
        </p:spPr>
      </p:sp>
      <p:sp>
        <p:nvSpPr>
          <p:cNvPr id="18" name="cd-tab-head"/>
          <p:cNvSpPr txBox="1"/>
          <p:nvPr/>
        </p:nvSpPr>
        <p:spPr>
          <a:xfrm>
            <a:off x="914400" y="3858768"/>
            <a:ext cx="6309360" cy="402336"/>
          </a:xfrm>
          <a:prstGeom prst="rect">
            <a:avLst/>
          </a:prstGeom>
          <a:noFill/>
          <a:ln/>
        </p:spPr>
        <p:txBody>
          <a:bodyPr wrap="square" lIns="0" tIns="0" rIns="0" bIns="0" rtlCol="0" anchor="ctr"/>
          <a:lstStyle/>
          <a:p>
            <a:pPr indent="0" marL="0">
              <a:buNone/>
            </a:pPr>
            <a:r>
              <a:rPr lang="en-US" sz="1500" b="1" dirty="0">
                <a:solidFill>
                  <a:srgbClr val="FFFFFF"/>
                </a:solidFill>
              </a:rPr>
              <a:t>Press Tab instead of finishing the word</a:t>
            </a:r>
            <a:endParaRPr lang="en-US" sz="1500" dirty="0"/>
          </a:p>
        </p:txBody>
      </p:sp>
      <p:sp>
        <p:nvSpPr>
          <p:cNvPr id="19" name="cd-tab-text"/>
          <p:cNvSpPr txBox="1"/>
          <p:nvPr/>
        </p:nvSpPr>
        <p:spPr>
          <a:xfrm>
            <a:off x="914400" y="4279392"/>
            <a:ext cx="6309360" cy="740664"/>
          </a:xfrm>
          <a:prstGeom prst="rect">
            <a:avLst/>
          </a:prstGeom>
          <a:noFill/>
          <a:ln/>
        </p:spPr>
        <p:txBody>
          <a:bodyPr wrap="square" lIns="0" tIns="0" rIns="0" bIns="0" rtlCol="0" anchor="t"/>
          <a:lstStyle/>
          <a:p>
            <a:pPr indent="0" marL="0">
              <a:lnSpc>
                <a:spcPct val="118000"/>
              </a:lnSpc>
              <a:buNone/>
            </a:pPr>
            <a:r>
              <a:rPr lang="en-US" sz="1400" dirty="0">
                <a:solidFill>
                  <a:srgbClr val="EDF1F2"/>
                </a:solidFill>
              </a:rPr>
              <a:t>Type cd Doc and press Tab — the terminal completes it to Documents. It only completes names that really exist, so Tab is also how you check your spelling before you commit to it.</a:t>
            </a:r>
            <a:endParaRPr lang="en-US" sz="1400" dirty="0"/>
          </a:p>
        </p:txBody>
      </p:sp>
      <p:sp>
        <p:nvSpPr>
          <p:cNvPr id="21"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bg1"/>
                </a:solidFill>
              </a:rPr>
              <a:t>The whole vocabulary</a:t>
            </a:r>
            <a:endParaRPr lang="en-US" sz="3300" dirty="0"/>
          </a:p>
        </p:txBody>
      </p:sp>
      <p:sp>
        <p:nvSpPr>
          <p:cNvPr id="3" name="vocab-cmd-pwd"/>
          <p:cNvSpPr txBox="1"/>
          <p:nvPr/>
        </p:nvSpPr>
        <p:spPr>
          <a:xfrm>
            <a:off x="640080" y="1874520"/>
            <a:ext cx="2377440" cy="548640"/>
          </a:xfrm>
          <a:prstGeom prst="rect">
            <a:avLst/>
          </a:prstGeom>
          <a:noFill/>
          <a:ln/>
        </p:spPr>
        <p:txBody>
          <a:bodyPr wrap="square" lIns="0" tIns="0" rIns="0" bIns="0" rtlCol="0" anchor="ctr"/>
          <a:lstStyle/>
          <a:p>
            <a:pPr indent="0" marL="0">
              <a:buNone/>
            </a:pPr>
            <a:r>
              <a:rPr lang="en-US" sz="2400" b="1" dirty="0">
                <a:solidFill>
                  <a:srgbClr val="73BF95"/>
                </a:solidFill>
                <a:latin typeface="Courier New" pitchFamily="34" charset="0"/>
                <a:ea typeface="Courier New" pitchFamily="34" charset="-122"/>
                <a:cs typeface="Courier New" pitchFamily="34" charset="-120"/>
              </a:rPr>
              <a:t>pwd</a:t>
            </a:r>
            <a:endParaRPr lang="en-US" sz="2400" dirty="0"/>
          </a:p>
        </p:txBody>
      </p:sp>
      <p:sp>
        <p:nvSpPr>
          <p:cNvPr id="4" name="vocab-def-pwd"/>
          <p:cNvSpPr txBox="1"/>
          <p:nvPr/>
        </p:nvSpPr>
        <p:spPr>
          <a:xfrm>
            <a:off x="3200400" y="1874520"/>
            <a:ext cx="8321040" cy="548640"/>
          </a:xfrm>
          <a:prstGeom prst="rect">
            <a:avLst/>
          </a:prstGeom>
          <a:noFill/>
          <a:ln/>
        </p:spPr>
        <p:txBody>
          <a:bodyPr wrap="square" lIns="0" tIns="0" rIns="0" bIns="0" rtlCol="0" anchor="ctr"/>
          <a:lstStyle/>
          <a:p>
            <a:pPr indent="0" marL="0">
              <a:buNone/>
            </a:pPr>
            <a:r>
              <a:rPr lang="en-US" sz="1900" dirty="0">
                <a:solidFill>
                  <a:srgbClr val="EDF1F2"/>
                </a:solidFill>
              </a:rPr>
              <a:t>Where am I?</a:t>
            </a:r>
            <a:endParaRPr lang="en-US" sz="1900" dirty="0"/>
          </a:p>
        </p:txBody>
      </p:sp>
      <p:sp>
        <p:nvSpPr>
          <p:cNvPr id="5" name="vocab-cmd-ls"/>
          <p:cNvSpPr txBox="1"/>
          <p:nvPr/>
        </p:nvSpPr>
        <p:spPr>
          <a:xfrm>
            <a:off x="640080" y="2587752"/>
            <a:ext cx="2377440" cy="548640"/>
          </a:xfrm>
          <a:prstGeom prst="rect">
            <a:avLst/>
          </a:prstGeom>
          <a:noFill/>
          <a:ln/>
        </p:spPr>
        <p:txBody>
          <a:bodyPr wrap="square" lIns="0" tIns="0" rIns="0" bIns="0" rtlCol="0" anchor="ctr"/>
          <a:lstStyle/>
          <a:p>
            <a:pPr indent="0" marL="0">
              <a:buNone/>
            </a:pPr>
            <a:r>
              <a:rPr lang="en-US" sz="2400" b="1" dirty="0">
                <a:solidFill>
                  <a:srgbClr val="73BF95"/>
                </a:solidFill>
                <a:latin typeface="Courier New" pitchFamily="34" charset="0"/>
                <a:ea typeface="Courier New" pitchFamily="34" charset="-122"/>
                <a:cs typeface="Courier New" pitchFamily="34" charset="-120"/>
              </a:rPr>
              <a:t>ls</a:t>
            </a:r>
            <a:endParaRPr lang="en-US" sz="2400" dirty="0"/>
          </a:p>
        </p:txBody>
      </p:sp>
      <p:sp>
        <p:nvSpPr>
          <p:cNvPr id="6" name="vocab-def-ls"/>
          <p:cNvSpPr txBox="1"/>
          <p:nvPr/>
        </p:nvSpPr>
        <p:spPr>
          <a:xfrm>
            <a:off x="3200400" y="2587752"/>
            <a:ext cx="8321040" cy="548640"/>
          </a:xfrm>
          <a:prstGeom prst="rect">
            <a:avLst/>
          </a:prstGeom>
          <a:noFill/>
          <a:ln/>
        </p:spPr>
        <p:txBody>
          <a:bodyPr wrap="square" lIns="0" tIns="0" rIns="0" bIns="0" rtlCol="0" anchor="ctr"/>
          <a:lstStyle/>
          <a:p>
            <a:pPr indent="0" marL="0">
              <a:buNone/>
            </a:pPr>
            <a:r>
              <a:rPr lang="en-US" sz="1900" dirty="0">
                <a:solidFill>
                  <a:srgbClr val="EDF1F2"/>
                </a:solidFill>
              </a:rPr>
              <a:t>What is in here?</a:t>
            </a:r>
            <a:endParaRPr lang="en-US" sz="1900" dirty="0"/>
          </a:p>
        </p:txBody>
      </p:sp>
      <p:sp>
        <p:nvSpPr>
          <p:cNvPr id="7" name="vocab-cmd-cd"/>
          <p:cNvSpPr txBox="1"/>
          <p:nvPr/>
        </p:nvSpPr>
        <p:spPr>
          <a:xfrm>
            <a:off x="640080" y="3300984"/>
            <a:ext cx="2377440" cy="548640"/>
          </a:xfrm>
          <a:prstGeom prst="rect">
            <a:avLst/>
          </a:prstGeom>
          <a:noFill/>
          <a:ln/>
        </p:spPr>
        <p:txBody>
          <a:bodyPr wrap="square" lIns="0" tIns="0" rIns="0" bIns="0" rtlCol="0" anchor="ctr"/>
          <a:lstStyle/>
          <a:p>
            <a:pPr indent="0" marL="0">
              <a:buNone/>
            </a:pPr>
            <a:r>
              <a:rPr lang="en-US" sz="2400" b="1" dirty="0">
                <a:solidFill>
                  <a:srgbClr val="E5A24A"/>
                </a:solidFill>
                <a:latin typeface="Courier New" pitchFamily="34" charset="0"/>
                <a:ea typeface="Courier New" pitchFamily="34" charset="-122"/>
                <a:cs typeface="Courier New" pitchFamily="34" charset="-120"/>
              </a:rPr>
              <a:t>cd</a:t>
            </a:r>
            <a:endParaRPr lang="en-US" sz="2400" dirty="0"/>
          </a:p>
        </p:txBody>
      </p:sp>
      <p:sp>
        <p:nvSpPr>
          <p:cNvPr id="8" name="vocab-def-cd"/>
          <p:cNvSpPr txBox="1"/>
          <p:nvPr/>
        </p:nvSpPr>
        <p:spPr>
          <a:xfrm>
            <a:off x="3200400" y="3300984"/>
            <a:ext cx="8321040" cy="548640"/>
          </a:xfrm>
          <a:prstGeom prst="rect">
            <a:avLst/>
          </a:prstGeom>
          <a:noFill/>
          <a:ln/>
        </p:spPr>
        <p:txBody>
          <a:bodyPr wrap="square" lIns="0" tIns="0" rIns="0" bIns="0" rtlCol="0" anchor="ctr"/>
          <a:lstStyle/>
          <a:p>
            <a:pPr indent="0" marL="0">
              <a:buNone/>
            </a:pPr>
            <a:r>
              <a:rPr lang="en-US" sz="1900" dirty="0">
                <a:solidFill>
                  <a:srgbClr val="EDF1F2"/>
                </a:solidFill>
              </a:rPr>
              <a:t>Go somewhere else</a:t>
            </a:r>
            <a:endParaRPr lang="en-US" sz="1900" dirty="0"/>
          </a:p>
        </p:txBody>
      </p:sp>
      <p:sp>
        <p:nvSpPr>
          <p:cNvPr id="9" name="vocab-cmd-mkdir"/>
          <p:cNvSpPr txBox="1"/>
          <p:nvPr/>
        </p:nvSpPr>
        <p:spPr>
          <a:xfrm>
            <a:off x="640080" y="4014216"/>
            <a:ext cx="2377440" cy="548640"/>
          </a:xfrm>
          <a:prstGeom prst="rect">
            <a:avLst/>
          </a:prstGeom>
          <a:noFill/>
          <a:ln/>
        </p:spPr>
        <p:txBody>
          <a:bodyPr wrap="square" lIns="0" tIns="0" rIns="0" bIns="0" rtlCol="0" anchor="ctr"/>
          <a:lstStyle/>
          <a:p>
            <a:pPr indent="0" marL="0">
              <a:buNone/>
            </a:pPr>
            <a:r>
              <a:rPr lang="en-US" sz="2400" b="1" dirty="0">
                <a:solidFill>
                  <a:srgbClr val="E5A24A"/>
                </a:solidFill>
                <a:latin typeface="Courier New" pitchFamily="34" charset="0"/>
                <a:ea typeface="Courier New" pitchFamily="34" charset="-122"/>
                <a:cs typeface="Courier New" pitchFamily="34" charset="-120"/>
              </a:rPr>
              <a:t>mkdir</a:t>
            </a:r>
            <a:endParaRPr lang="en-US" sz="2400" dirty="0"/>
          </a:p>
        </p:txBody>
      </p:sp>
      <p:sp>
        <p:nvSpPr>
          <p:cNvPr id="10" name="vocab-def-mkdir"/>
          <p:cNvSpPr txBox="1"/>
          <p:nvPr/>
        </p:nvSpPr>
        <p:spPr>
          <a:xfrm>
            <a:off x="3200400" y="4014216"/>
            <a:ext cx="8321040" cy="548640"/>
          </a:xfrm>
          <a:prstGeom prst="rect">
            <a:avLst/>
          </a:prstGeom>
          <a:noFill/>
          <a:ln/>
        </p:spPr>
        <p:txBody>
          <a:bodyPr wrap="square" lIns="0" tIns="0" rIns="0" bIns="0" rtlCol="0" anchor="ctr"/>
          <a:lstStyle/>
          <a:p>
            <a:pPr indent="0" marL="0">
              <a:buNone/>
            </a:pPr>
            <a:r>
              <a:rPr lang="en-US" sz="1900" dirty="0">
                <a:solidFill>
                  <a:srgbClr val="EDF1F2"/>
                </a:solidFill>
              </a:rPr>
              <a:t>Make a new folder</a:t>
            </a:r>
            <a:endParaRPr lang="en-US" sz="1900" dirty="0"/>
          </a:p>
        </p:txBody>
      </p:sp>
      <p:sp>
        <p:nvSpPr>
          <p:cNvPr id="11" name="caption"/>
          <p:cNvSpPr txBox="1"/>
          <p:nvPr/>
        </p:nvSpPr>
        <p:spPr>
          <a:xfrm>
            <a:off x="640080" y="4892040"/>
            <a:ext cx="10911535" cy="457200"/>
          </a:xfrm>
          <a:prstGeom prst="rect">
            <a:avLst/>
          </a:prstGeom>
          <a:noFill/>
          <a:ln/>
        </p:spPr>
        <p:txBody>
          <a:bodyPr wrap="square" lIns="0" tIns="0" rIns="0" bIns="0" rtlCol="0" anchor="t"/>
          <a:lstStyle/>
          <a:p>
            <a:pPr algn="l" indent="0" marL="0">
              <a:lnSpc>
                <a:spcPct val="118000"/>
              </a:lnSpc>
              <a:buNone/>
            </a:pPr>
            <a:r>
              <a:rPr lang="en-US" sz="1600" i="1" dirty="0">
                <a:solidFill>
                  <a:srgbClr val="9FAEB7"/>
                </a:solidFill>
              </a:rPr>
              <a:t>Two of them only look. Two of them act. None of them can delete anything.</a:t>
            </a:r>
            <a:endParaRPr lang="en-US" sz="1600" dirty="0"/>
          </a:p>
        </p:txBody>
      </p:sp>
      <p:sp>
        <p:nvSpPr>
          <p:cNvPr id="12" name="k-tab"/>
          <p:cNvSpPr/>
          <p:nvPr/>
        </p:nvSpPr>
        <p:spPr>
          <a:xfrm>
            <a:off x="640080" y="5440680"/>
            <a:ext cx="3511296" cy="566928"/>
          </a:xfrm>
          <a:prstGeom prst="roundRect">
            <a:avLst>
              <a:gd name="adj" fmla="val 5645"/>
            </a:avLst>
          </a:prstGeom>
          <a:solidFill>
            <a:srgbClr val="1E292F"/>
          </a:solidFill>
          <a:ln/>
          <a:effectLst>
            <a:outerShdw sx="100000" sy="100000" kx="0" ky="0" algn="bl" rotWithShape="0" blurRad="101600" dist="12700" dir="5400000">
              <a:srgbClr val="000000">
                <a:alpha val="10000"/>
              </a:srgbClr>
            </a:outerShdw>
          </a:effectLst>
        </p:spPr>
      </p:sp>
      <p:sp>
        <p:nvSpPr>
          <p:cNvPr id="13" name="k-tab-head"/>
          <p:cNvSpPr txBox="1"/>
          <p:nvPr/>
        </p:nvSpPr>
        <p:spPr>
          <a:xfrm>
            <a:off x="914400" y="5641848"/>
            <a:ext cx="2962656" cy="274320"/>
          </a:xfrm>
          <a:prstGeom prst="rect">
            <a:avLst/>
          </a:prstGeom>
          <a:noFill/>
          <a:ln/>
        </p:spPr>
        <p:txBody>
          <a:bodyPr wrap="square" lIns="0" tIns="0" rIns="0" bIns="0" rtlCol="0" anchor="ctr"/>
          <a:lstStyle/>
          <a:p>
            <a:pPr indent="0" marL="0">
              <a:buNone/>
            </a:pPr>
            <a:r>
              <a:rPr lang="en-US" sz="1400" b="1" dirty="0">
                <a:solidFill>
                  <a:srgbClr val="FFFFFF"/>
                </a:solidFill>
              </a:rPr>
              <a:t>Tab  completes a name</a:t>
            </a:r>
            <a:endParaRPr lang="en-US" sz="1400" dirty="0"/>
          </a:p>
        </p:txBody>
      </p:sp>
      <p:sp>
        <p:nvSpPr>
          <p:cNvPr id="14" name="k-up"/>
          <p:cNvSpPr/>
          <p:nvPr/>
        </p:nvSpPr>
        <p:spPr>
          <a:xfrm>
            <a:off x="4334256" y="5440680"/>
            <a:ext cx="3511296" cy="566928"/>
          </a:xfrm>
          <a:prstGeom prst="roundRect">
            <a:avLst>
              <a:gd name="adj" fmla="val 5645"/>
            </a:avLst>
          </a:prstGeom>
          <a:solidFill>
            <a:srgbClr val="1E292F"/>
          </a:solidFill>
          <a:ln/>
          <a:effectLst>
            <a:outerShdw sx="100000" sy="100000" kx="0" ky="0" algn="bl" rotWithShape="0" blurRad="101600" dist="12700" dir="5400000">
              <a:srgbClr val="000000">
                <a:alpha val="10000"/>
              </a:srgbClr>
            </a:outerShdw>
          </a:effectLst>
        </p:spPr>
      </p:sp>
      <p:sp>
        <p:nvSpPr>
          <p:cNvPr id="15" name="k-up-head"/>
          <p:cNvSpPr txBox="1"/>
          <p:nvPr/>
        </p:nvSpPr>
        <p:spPr>
          <a:xfrm>
            <a:off x="4608576" y="5641848"/>
            <a:ext cx="2962656" cy="274320"/>
          </a:xfrm>
          <a:prstGeom prst="rect">
            <a:avLst/>
          </a:prstGeom>
          <a:noFill/>
          <a:ln/>
        </p:spPr>
        <p:txBody>
          <a:bodyPr wrap="square" lIns="0" tIns="0" rIns="0" bIns="0" rtlCol="0" anchor="ctr"/>
          <a:lstStyle/>
          <a:p>
            <a:pPr indent="0" marL="0">
              <a:buNone/>
            </a:pPr>
            <a:r>
              <a:rPr lang="en-US" sz="1400" b="1" dirty="0">
                <a:solidFill>
                  <a:srgbClr val="FFFFFF"/>
                </a:solidFill>
              </a:rPr>
              <a:t>↑  brings back the last command</a:t>
            </a:r>
            <a:endParaRPr lang="en-US" sz="1400" dirty="0"/>
          </a:p>
        </p:txBody>
      </p:sp>
      <p:sp>
        <p:nvSpPr>
          <p:cNvPr id="16" name="k-ctrlc"/>
          <p:cNvSpPr/>
          <p:nvPr/>
        </p:nvSpPr>
        <p:spPr>
          <a:xfrm>
            <a:off x="8037576" y="5440680"/>
            <a:ext cx="3511296" cy="566928"/>
          </a:xfrm>
          <a:prstGeom prst="roundRect">
            <a:avLst>
              <a:gd name="adj" fmla="val 5645"/>
            </a:avLst>
          </a:prstGeom>
          <a:solidFill>
            <a:srgbClr val="1E292F"/>
          </a:solidFill>
          <a:ln/>
          <a:effectLst>
            <a:outerShdw sx="100000" sy="100000" kx="0" ky="0" algn="bl" rotWithShape="0" blurRad="101600" dist="12700" dir="5400000">
              <a:srgbClr val="000000">
                <a:alpha val="10000"/>
              </a:srgbClr>
            </a:outerShdw>
          </a:effectLst>
        </p:spPr>
      </p:sp>
      <p:sp>
        <p:nvSpPr>
          <p:cNvPr id="17" name="k-ctrlc-head"/>
          <p:cNvSpPr txBox="1"/>
          <p:nvPr/>
        </p:nvSpPr>
        <p:spPr>
          <a:xfrm>
            <a:off x="8311896" y="5641848"/>
            <a:ext cx="2962656" cy="274320"/>
          </a:xfrm>
          <a:prstGeom prst="rect">
            <a:avLst/>
          </a:prstGeom>
          <a:noFill/>
          <a:ln/>
        </p:spPr>
        <p:txBody>
          <a:bodyPr wrap="square" lIns="0" tIns="0" rIns="0" bIns="0" rtlCol="0" anchor="ctr"/>
          <a:lstStyle/>
          <a:p>
            <a:pPr indent="0" marL="0">
              <a:buNone/>
            </a:pPr>
            <a:r>
              <a:rPr lang="en-US" sz="1400" b="1" dirty="0">
                <a:solidFill>
                  <a:srgbClr val="FFFFFF"/>
                </a:solidFill>
              </a:rPr>
              <a:t>Ctrl + C  stops anything</a:t>
            </a:r>
            <a:endParaRPr lang="en-US" sz="1400" dirty="0"/>
          </a:p>
        </p:txBody>
      </p:sp>
      <p:sp>
        <p:nvSpPr>
          <p:cNvPr id="19" name="Text 0"/>
          <p:cNvSpPr/>
          <p:nvPr>
            <p:ph idx="101"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hip-bg-command 4 of 4"/>
          <p:cNvSpPr/>
          <p:nvPr/>
        </p:nvSpPr>
        <p:spPr>
          <a:xfrm>
            <a:off x="640080" y="457200"/>
            <a:ext cx="1609344" cy="274320"/>
          </a:xfrm>
          <a:prstGeom prst="roundRect">
            <a:avLst>
              <a:gd name="adj" fmla="val 16667"/>
            </a:avLst>
          </a:prstGeom>
          <a:solidFill>
            <a:srgbClr val="5E6E78"/>
          </a:solidFill>
          <a:ln/>
        </p:spPr>
      </p:sp>
      <p:sp>
        <p:nvSpPr>
          <p:cNvPr id="3" name="chip-command 4 of 4"/>
          <p:cNvSpPr txBox="1"/>
          <p:nvPr/>
        </p:nvSpPr>
        <p:spPr>
          <a:xfrm>
            <a:off x="640080" y="457200"/>
            <a:ext cx="1609344"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ourier New" pitchFamily="34" charset="0"/>
                <a:ea typeface="Courier New" pitchFamily="34" charset="-122"/>
                <a:cs typeface="Courier New" pitchFamily="34" charset="-120"/>
              </a:rPr>
              <a:t>command 4 of 4</a:t>
            </a:r>
            <a:endParaRPr lang="en-US" sz="1000" dirty="0"/>
          </a:p>
        </p:txBody>
      </p:sp>
      <p:sp>
        <p:nvSpPr>
          <p:cNvPr id="4"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Make one folder where all your projects live</a:t>
            </a:r>
            <a:endParaRPr lang="en-US" sz="3300" dirty="0"/>
          </a:p>
        </p:txBody>
      </p:sp>
      <p:sp>
        <p:nvSpPr>
          <p:cNvPr id="5" name="mk-term"/>
          <p:cNvSpPr/>
          <p:nvPr/>
        </p:nvSpPr>
        <p:spPr>
          <a:xfrm>
            <a:off x="640080" y="1874520"/>
            <a:ext cx="6858000" cy="1324051"/>
          </a:xfrm>
          <a:prstGeom prst="roundRect">
            <a:avLst>
              <a:gd name="adj" fmla="val 2417"/>
            </a:avLst>
          </a:prstGeom>
          <a:solidFill>
            <a:srgbClr val="12191C"/>
          </a:solidFill>
          <a:ln/>
          <a:effectLst>
            <a:outerShdw sx="100000" sy="100000" kx="0" ky="0" algn="bl" rotWithShape="0" blurRad="127000" dist="25400" dir="5400000">
              <a:srgbClr val="000000">
                <a:alpha val="18000"/>
              </a:srgbClr>
            </a:outerShdw>
          </a:effectLst>
        </p:spPr>
      </p:sp>
      <p:sp>
        <p:nvSpPr>
          <p:cNvPr id="6" name="mk-term-text"/>
          <p:cNvSpPr txBox="1"/>
          <p:nvPr/>
        </p:nvSpPr>
        <p:spPr>
          <a:xfrm>
            <a:off x="896112" y="2057400"/>
            <a:ext cx="6345936" cy="958291"/>
          </a:xfrm>
          <a:prstGeom prst="rect">
            <a:avLst/>
          </a:prstGeom>
          <a:noFill/>
          <a:ln/>
        </p:spPr>
        <p:txBody>
          <a:bodyPr wrap="square" lIns="0" tIns="0" rIns="0" bIns="0" rtlCol="0" anchor="t"/>
          <a:lstStyle/>
          <a:p>
            <a:pPr indent="0" marL="0">
              <a:lnSpc>
                <a:spcPct val="112000"/>
              </a:lnSpc>
              <a:buNone/>
            </a:pPr>
            <a:r>
              <a:rPr lang="en-US" sz="1600" b="1" dirty="0">
                <a:solidFill>
                  <a:srgbClr val="E5A24A"/>
                </a:solidFill>
                <a:latin typeface="Courier New" pitchFamily="34" charset="0"/>
                <a:ea typeface="Courier New" pitchFamily="34" charset="-122"/>
                <a:cs typeface="Courier New" pitchFamily="34" charset="-120"/>
              </a:rPr>
              <a:t>laptop ~ % cd Documents</a:t>
            </a:r>
            <a:endParaRPr lang="en-US" sz="1600" dirty="0"/>
          </a:p>
          <a:p>
            <a:pPr indent="0" marL="0">
              <a:lnSpc>
                <a:spcPct val="112000"/>
              </a:lnSpc>
              <a:buNone/>
            </a:pPr>
            <a:r>
              <a:rPr lang="en-US" sz="1600" b="1" dirty="0">
                <a:solidFill>
                  <a:srgbClr val="E5A24A"/>
                </a:solidFill>
                <a:latin typeface="Courier New" pitchFamily="34" charset="0"/>
                <a:ea typeface="Courier New" pitchFamily="34" charset="-122"/>
                <a:cs typeface="Courier New" pitchFamily="34" charset="-120"/>
              </a:rPr>
              <a:t>laptop Documents % mkdir GitHub</a:t>
            </a:r>
            <a:endParaRPr lang="en-US" sz="1600" dirty="0"/>
          </a:p>
          <a:p>
            <a:pPr indent="0" marL="0">
              <a:lnSpc>
                <a:spcPct val="112000"/>
              </a:lnSpc>
              <a:buNone/>
            </a:pPr>
            <a:r>
              <a:rPr lang="en-US" sz="1600" b="1" dirty="0">
                <a:solidFill>
                  <a:srgbClr val="E5A24A"/>
                </a:solidFill>
                <a:latin typeface="Courier New" pitchFamily="34" charset="0"/>
                <a:ea typeface="Courier New" pitchFamily="34" charset="-122"/>
                <a:cs typeface="Courier New" pitchFamily="34" charset="-120"/>
              </a:rPr>
              <a:t>laptop Documents % cd GitHub</a:t>
            </a:r>
            <a:endParaRPr lang="en-US" sz="1600" dirty="0"/>
          </a:p>
          <a:p>
            <a:pPr indent="0" marL="0">
              <a:lnSpc>
                <a:spcPct val="112000"/>
              </a:lnSpc>
              <a:buNone/>
            </a:pPr>
            <a:r>
              <a:rPr lang="en-US" sz="1600" dirty="0">
                <a:solidFill>
                  <a:srgbClr val="9FAEB7"/>
                </a:solidFill>
                <a:latin typeface="Courier New" pitchFamily="34" charset="0"/>
                <a:ea typeface="Courier New" pitchFamily="34" charset="-122"/>
                <a:cs typeface="Courier New" pitchFamily="34" charset="-120"/>
              </a:rPr>
              <a:t>laptop GitHub % </a:t>
            </a:r>
            <a:endParaRPr lang="en-US" sz="1600" dirty="0"/>
          </a:p>
        </p:txBody>
      </p:sp>
      <p:sp>
        <p:nvSpPr>
          <p:cNvPr id="7" name="caption"/>
          <p:cNvSpPr txBox="1"/>
          <p:nvPr/>
        </p:nvSpPr>
        <p:spPr>
          <a:xfrm>
            <a:off x="640080" y="3337560"/>
            <a:ext cx="6858000" cy="365760"/>
          </a:xfrm>
          <a:prstGeom prst="rect">
            <a:avLst/>
          </a:prstGeom>
          <a:noFill/>
          <a:ln/>
        </p:spPr>
        <p:txBody>
          <a:bodyPr wrap="square" lIns="0" tIns="0" rIns="0" bIns="0" rtlCol="0" anchor="t"/>
          <a:lstStyle/>
          <a:p>
            <a:pPr algn="l" indent="0" marL="0">
              <a:lnSpc>
                <a:spcPct val="118000"/>
              </a:lnSpc>
              <a:buNone/>
            </a:pPr>
            <a:r>
              <a:rPr lang="en-US" sz="1500" i="1" dirty="0">
                <a:solidFill>
                  <a:srgbClr val="33444D"/>
                </a:solidFill>
              </a:rPr>
              <a:t>Three lines, once, and you never do it again.</a:t>
            </a:r>
            <a:endParaRPr lang="en-US" sz="1500" dirty="0"/>
          </a:p>
        </p:txBody>
      </p:sp>
      <p:sp>
        <p:nvSpPr>
          <p:cNvPr id="8" name="mk-c1"/>
          <p:cNvSpPr/>
          <p:nvPr/>
        </p:nvSpPr>
        <p:spPr>
          <a:xfrm>
            <a:off x="7818120" y="1874520"/>
            <a:ext cx="3730752" cy="1280160"/>
          </a:xfrm>
          <a:prstGeom prst="roundRect">
            <a:avLst>
              <a:gd name="adj" fmla="val 2500"/>
            </a:avLst>
          </a:prstGeom>
          <a:solidFill>
            <a:srgbClr val="EDF1F2"/>
          </a:solidFill>
          <a:ln/>
          <a:effectLst>
            <a:outerShdw sx="100000" sy="100000" kx="0" ky="0" algn="bl" rotWithShape="0" blurRad="101600" dist="12700" dir="5400000">
              <a:srgbClr val="000000">
                <a:alpha val="10000"/>
              </a:srgbClr>
            </a:outerShdw>
          </a:effectLst>
        </p:spPr>
      </p:sp>
      <p:sp>
        <p:nvSpPr>
          <p:cNvPr id="9" name="mk-c1-head"/>
          <p:cNvSpPr txBox="1"/>
          <p:nvPr/>
        </p:nvSpPr>
        <p:spPr>
          <a:xfrm>
            <a:off x="8092440" y="2075688"/>
            <a:ext cx="3182112" cy="402336"/>
          </a:xfrm>
          <a:prstGeom prst="rect">
            <a:avLst/>
          </a:prstGeom>
          <a:noFill/>
          <a:ln/>
        </p:spPr>
        <p:txBody>
          <a:bodyPr wrap="square" lIns="0" tIns="0" rIns="0" bIns="0" rtlCol="0" anchor="ctr"/>
          <a:lstStyle/>
          <a:p>
            <a:pPr indent="0" marL="0">
              <a:buNone/>
            </a:pPr>
            <a:r>
              <a:rPr lang="en-US" sz="1600" b="1" dirty="0">
                <a:solidFill>
                  <a:srgbClr val="12191C"/>
                </a:solidFill>
                <a:latin typeface="Courier New" pitchFamily="34" charset="0"/>
                <a:ea typeface="Courier New" pitchFamily="34" charset="-122"/>
                <a:cs typeface="Courier New" pitchFamily="34" charset="-120"/>
              </a:rPr>
              <a:t>mkdir</a:t>
            </a:r>
            <a:endParaRPr lang="en-US" sz="1600" dirty="0"/>
          </a:p>
        </p:txBody>
      </p:sp>
      <p:sp>
        <p:nvSpPr>
          <p:cNvPr id="10" name="mk-c1-text"/>
          <p:cNvSpPr txBox="1"/>
          <p:nvPr/>
        </p:nvSpPr>
        <p:spPr>
          <a:xfrm>
            <a:off x="8092440" y="2496312"/>
            <a:ext cx="3182112" cy="512064"/>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Make directory. It creates the folder and says nothing when it works.</a:t>
            </a:r>
            <a:endParaRPr lang="en-US" sz="1300" dirty="0"/>
          </a:p>
        </p:txBody>
      </p:sp>
      <p:sp>
        <p:nvSpPr>
          <p:cNvPr id="11" name="mk-c2"/>
          <p:cNvSpPr/>
          <p:nvPr/>
        </p:nvSpPr>
        <p:spPr>
          <a:xfrm>
            <a:off x="7818120" y="3291840"/>
            <a:ext cx="3730752" cy="1280160"/>
          </a:xfrm>
          <a:prstGeom prst="roundRect">
            <a:avLst>
              <a:gd name="adj" fmla="val 2500"/>
            </a:avLst>
          </a:prstGeom>
          <a:solidFill>
            <a:srgbClr val="EDF1F2"/>
          </a:solidFill>
          <a:ln/>
          <a:effectLst>
            <a:outerShdw sx="100000" sy="100000" kx="0" ky="0" algn="bl" rotWithShape="0" blurRad="101600" dist="12700" dir="5400000">
              <a:srgbClr val="000000">
                <a:alpha val="10000"/>
              </a:srgbClr>
            </a:outerShdw>
          </a:effectLst>
        </p:spPr>
      </p:sp>
      <p:sp>
        <p:nvSpPr>
          <p:cNvPr id="12" name="mk-c2-head"/>
          <p:cNvSpPr txBox="1"/>
          <p:nvPr/>
        </p:nvSpPr>
        <p:spPr>
          <a:xfrm>
            <a:off x="8092440" y="3493008"/>
            <a:ext cx="3182112" cy="402336"/>
          </a:xfrm>
          <a:prstGeom prst="rect">
            <a:avLst/>
          </a:prstGeom>
          <a:noFill/>
          <a:ln/>
        </p:spPr>
        <p:txBody>
          <a:bodyPr wrap="square" lIns="0" tIns="0" rIns="0" bIns="0" rtlCol="0" anchor="ctr"/>
          <a:lstStyle/>
          <a:p>
            <a:pPr indent="0" marL="0">
              <a:buNone/>
            </a:pPr>
            <a:r>
              <a:rPr lang="en-US" sz="1500" b="1" dirty="0">
                <a:solidFill>
                  <a:srgbClr val="12191C"/>
                </a:solidFill>
              </a:rPr>
              <a:t>Already have one?</a:t>
            </a:r>
            <a:endParaRPr lang="en-US" sz="1500" dirty="0"/>
          </a:p>
        </p:txBody>
      </p:sp>
      <p:sp>
        <p:nvSpPr>
          <p:cNvPr id="13" name="mk-c2-text"/>
          <p:cNvSpPr txBox="1"/>
          <p:nvPr/>
        </p:nvSpPr>
        <p:spPr>
          <a:xfrm>
            <a:off x="8092440" y="3913632"/>
            <a:ext cx="3182112" cy="512064"/>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Then skip mkdir and just cd into it. GitHub Desktop makes this same folder.</a:t>
            </a:r>
            <a:endParaRPr lang="en-US" sz="1300" dirty="0"/>
          </a:p>
        </p:txBody>
      </p:sp>
      <p:sp>
        <p:nvSpPr>
          <p:cNvPr id="14" name="mk-why"/>
          <p:cNvSpPr/>
          <p:nvPr/>
        </p:nvSpPr>
        <p:spPr>
          <a:xfrm>
            <a:off x="640080" y="3749040"/>
            <a:ext cx="6858000" cy="1920240"/>
          </a:xfrm>
          <a:prstGeom prst="roundRect">
            <a:avLst>
              <a:gd name="adj" fmla="val 1667"/>
            </a:avLst>
          </a:prstGeom>
          <a:solidFill>
            <a:srgbClr val="1E292F"/>
          </a:solidFill>
          <a:ln/>
          <a:effectLst>
            <a:outerShdw sx="100000" sy="100000" kx="0" ky="0" algn="bl" rotWithShape="0" blurRad="101600" dist="12700" dir="5400000">
              <a:srgbClr val="000000">
                <a:alpha val="10000"/>
              </a:srgbClr>
            </a:outerShdw>
          </a:effectLst>
        </p:spPr>
      </p:sp>
      <p:sp>
        <p:nvSpPr>
          <p:cNvPr id="15" name="mk-why-head"/>
          <p:cNvSpPr txBox="1"/>
          <p:nvPr/>
        </p:nvSpPr>
        <p:spPr>
          <a:xfrm>
            <a:off x="914400" y="3950208"/>
            <a:ext cx="6309360" cy="402336"/>
          </a:xfrm>
          <a:prstGeom prst="rect">
            <a:avLst/>
          </a:prstGeom>
          <a:noFill/>
          <a:ln/>
        </p:spPr>
        <p:txBody>
          <a:bodyPr wrap="square" lIns="0" tIns="0" rIns="0" bIns="0" rtlCol="0" anchor="ctr"/>
          <a:lstStyle/>
          <a:p>
            <a:pPr indent="0" marL="0">
              <a:buNone/>
            </a:pPr>
            <a:r>
              <a:rPr lang="en-US" sz="1600" b="1" dirty="0">
                <a:solidFill>
                  <a:srgbClr val="FFFFFF"/>
                </a:solidFill>
              </a:rPr>
              <a:t>Why one folder, and why this one</a:t>
            </a:r>
            <a:endParaRPr lang="en-US" sz="1600" dirty="0"/>
          </a:p>
        </p:txBody>
      </p:sp>
      <p:sp>
        <p:nvSpPr>
          <p:cNvPr id="16" name="mk-why-text"/>
          <p:cNvSpPr txBox="1"/>
          <p:nvPr/>
        </p:nvSpPr>
        <p:spPr>
          <a:xfrm>
            <a:off x="914400" y="4370832"/>
            <a:ext cx="6309360" cy="1152144"/>
          </a:xfrm>
          <a:prstGeom prst="rect">
            <a:avLst/>
          </a:prstGeom>
          <a:noFill/>
          <a:ln/>
        </p:spPr>
        <p:txBody>
          <a:bodyPr wrap="square" lIns="0" tIns="0" rIns="0" bIns="0" rtlCol="0" anchor="t"/>
          <a:lstStyle/>
          <a:p>
            <a:pPr indent="0" marL="0">
              <a:lnSpc>
                <a:spcPct val="118000"/>
              </a:lnSpc>
              <a:buNone/>
            </a:pPr>
            <a:r>
              <a:rPr lang="en-US" sz="1400" dirty="0">
                <a:solidFill>
                  <a:srgbClr val="EDF1F2"/>
                </a:solidFill>
              </a:rPr>
              <a:t>Every project in the same place means one path to remember and one place to look. Documents/GitHub is also where GitHub's own desktop app puts things, so you stay compatible with the tool you may add later. The name is yours to choose — code, projects, dev all work. Pick one today and keep it.</a:t>
            </a:r>
            <a:endParaRPr lang="en-US" sz="1400" dirty="0"/>
          </a:p>
        </p:txBody>
      </p:sp>
      <p:sp>
        <p:nvSpPr>
          <p:cNvPr id="18"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What GitHub actually is</a:t>
            </a:r>
            <a:endParaRPr lang="en-US" sz="3300" dirty="0"/>
          </a:p>
        </p:txBody>
      </p:sp>
      <p:sp>
        <p:nvSpPr>
          <p:cNvPr id="3" name="gh-c1"/>
          <p:cNvSpPr/>
          <p:nvPr/>
        </p:nvSpPr>
        <p:spPr>
          <a:xfrm>
            <a:off x="640080" y="1874520"/>
            <a:ext cx="3511296" cy="1874520"/>
          </a:xfrm>
          <a:prstGeom prst="roundRect">
            <a:avLst>
              <a:gd name="adj" fmla="val 1707"/>
            </a:avLst>
          </a:prstGeom>
          <a:solidFill>
            <a:srgbClr val="EDF1F2"/>
          </a:solidFill>
          <a:ln/>
          <a:effectLst>
            <a:outerShdw sx="100000" sy="100000" kx="0" ky="0" algn="bl" rotWithShape="0" blurRad="101600" dist="12700" dir="5400000">
              <a:srgbClr val="000000">
                <a:alpha val="10000"/>
              </a:srgbClr>
            </a:outerShdw>
          </a:effectLst>
        </p:spPr>
      </p:sp>
      <p:sp>
        <p:nvSpPr>
          <p:cNvPr id="4" name="gh-c1-num-bg"/>
          <p:cNvSpPr/>
          <p:nvPr/>
        </p:nvSpPr>
        <p:spPr>
          <a:xfrm>
            <a:off x="877824" y="2075688"/>
            <a:ext cx="384048" cy="384048"/>
          </a:xfrm>
          <a:prstGeom prst="ellipse">
            <a:avLst/>
          </a:prstGeom>
          <a:solidFill>
            <a:srgbClr val="1F5B7A"/>
          </a:solidFill>
          <a:ln/>
        </p:spPr>
      </p:sp>
      <p:sp>
        <p:nvSpPr>
          <p:cNvPr id="5" name="gh-c1-num"/>
          <p:cNvSpPr txBox="1"/>
          <p:nvPr/>
        </p:nvSpPr>
        <p:spPr>
          <a:xfrm>
            <a:off x="877824" y="2075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gh-c1-head"/>
          <p:cNvSpPr txBox="1"/>
          <p:nvPr/>
        </p:nvSpPr>
        <p:spPr>
          <a:xfrm>
            <a:off x="1408176" y="2029968"/>
            <a:ext cx="2468880" cy="402336"/>
          </a:xfrm>
          <a:prstGeom prst="rect">
            <a:avLst/>
          </a:prstGeom>
          <a:noFill/>
          <a:ln/>
        </p:spPr>
        <p:txBody>
          <a:bodyPr wrap="square" lIns="0" tIns="0" rIns="0" bIns="0" rtlCol="0" anchor="ctr"/>
          <a:lstStyle/>
          <a:p>
            <a:pPr indent="0" marL="0">
              <a:buNone/>
            </a:pPr>
            <a:r>
              <a:rPr lang="en-US" sz="1600" b="1" dirty="0">
                <a:solidFill>
                  <a:srgbClr val="12191C"/>
                </a:solidFill>
              </a:rPr>
              <a:t>A repository</a:t>
            </a:r>
            <a:endParaRPr lang="en-US" sz="1600" dirty="0"/>
          </a:p>
        </p:txBody>
      </p:sp>
      <p:sp>
        <p:nvSpPr>
          <p:cNvPr id="7" name="gh-c1-text"/>
          <p:cNvSpPr txBox="1"/>
          <p:nvPr/>
        </p:nvSpPr>
        <p:spPr>
          <a:xfrm>
            <a:off x="1408176" y="2496312"/>
            <a:ext cx="2468880" cy="1106424"/>
          </a:xfrm>
          <a:prstGeom prst="rect">
            <a:avLst/>
          </a:prstGeom>
          <a:noFill/>
          <a:ln/>
        </p:spPr>
        <p:txBody>
          <a:bodyPr wrap="square" lIns="0" tIns="0" rIns="0" bIns="0" rtlCol="0" anchor="t"/>
          <a:lstStyle/>
          <a:p>
            <a:pPr indent="0" marL="0">
              <a:lnSpc>
                <a:spcPct val="118000"/>
              </a:lnSpc>
              <a:buNone/>
            </a:pPr>
            <a:r>
              <a:rPr lang="en-US" sz="1400" dirty="0">
                <a:solidFill>
                  <a:srgbClr val="33444D"/>
                </a:solidFill>
              </a:rPr>
              <a:t>A project folder that keeps its own history. Usually called a repo. The history lives in a hidden .git folder inside it.</a:t>
            </a:r>
            <a:endParaRPr lang="en-US" sz="1400" dirty="0"/>
          </a:p>
        </p:txBody>
      </p:sp>
      <p:sp>
        <p:nvSpPr>
          <p:cNvPr id="8" name="gh-c2"/>
          <p:cNvSpPr/>
          <p:nvPr/>
        </p:nvSpPr>
        <p:spPr>
          <a:xfrm>
            <a:off x="4334256" y="1874520"/>
            <a:ext cx="3511296" cy="1874520"/>
          </a:xfrm>
          <a:prstGeom prst="roundRect">
            <a:avLst>
              <a:gd name="adj" fmla="val 1707"/>
            </a:avLst>
          </a:prstGeom>
          <a:solidFill>
            <a:srgbClr val="EDF1F2"/>
          </a:solidFill>
          <a:ln/>
          <a:effectLst>
            <a:outerShdw sx="100000" sy="100000" kx="0" ky="0" algn="bl" rotWithShape="0" blurRad="101600" dist="12700" dir="5400000">
              <a:srgbClr val="000000">
                <a:alpha val="10000"/>
              </a:srgbClr>
            </a:outerShdw>
          </a:effectLst>
        </p:spPr>
      </p:sp>
      <p:sp>
        <p:nvSpPr>
          <p:cNvPr id="9" name="gh-c2-num-bg"/>
          <p:cNvSpPr/>
          <p:nvPr/>
        </p:nvSpPr>
        <p:spPr>
          <a:xfrm>
            <a:off x="4572000" y="2075688"/>
            <a:ext cx="384048" cy="384048"/>
          </a:xfrm>
          <a:prstGeom prst="ellipse">
            <a:avLst/>
          </a:prstGeom>
          <a:solidFill>
            <a:srgbClr val="1F5B7A"/>
          </a:solidFill>
          <a:ln/>
        </p:spPr>
      </p:sp>
      <p:sp>
        <p:nvSpPr>
          <p:cNvPr id="10" name="gh-c2-num"/>
          <p:cNvSpPr txBox="1"/>
          <p:nvPr/>
        </p:nvSpPr>
        <p:spPr>
          <a:xfrm>
            <a:off x="4572000" y="2075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gh-c2-head"/>
          <p:cNvSpPr txBox="1"/>
          <p:nvPr/>
        </p:nvSpPr>
        <p:spPr>
          <a:xfrm>
            <a:off x="5102352" y="2029968"/>
            <a:ext cx="2468880" cy="402336"/>
          </a:xfrm>
          <a:prstGeom prst="rect">
            <a:avLst/>
          </a:prstGeom>
          <a:noFill/>
          <a:ln/>
        </p:spPr>
        <p:txBody>
          <a:bodyPr wrap="square" lIns="0" tIns="0" rIns="0" bIns="0" rtlCol="0" anchor="ctr"/>
          <a:lstStyle/>
          <a:p>
            <a:pPr indent="0" marL="0">
              <a:buNone/>
            </a:pPr>
            <a:r>
              <a:rPr lang="en-US" sz="1600" b="1" dirty="0">
                <a:solidFill>
                  <a:srgbClr val="12191C"/>
                </a:solidFill>
              </a:rPr>
              <a:t>A copy that isn't yours</a:t>
            </a:r>
            <a:endParaRPr lang="en-US" sz="1600" dirty="0"/>
          </a:p>
        </p:txBody>
      </p:sp>
      <p:sp>
        <p:nvSpPr>
          <p:cNvPr id="12" name="gh-c2-text"/>
          <p:cNvSpPr txBox="1"/>
          <p:nvPr/>
        </p:nvSpPr>
        <p:spPr>
          <a:xfrm>
            <a:off x="5102352" y="2496312"/>
            <a:ext cx="2468880" cy="1106424"/>
          </a:xfrm>
          <a:prstGeom prst="rect">
            <a:avLst/>
          </a:prstGeom>
          <a:noFill/>
          <a:ln/>
        </p:spPr>
        <p:txBody>
          <a:bodyPr wrap="square" lIns="0" tIns="0" rIns="0" bIns="0" rtlCol="0" anchor="t"/>
          <a:lstStyle/>
          <a:p>
            <a:pPr indent="0" marL="0">
              <a:lnSpc>
                <a:spcPct val="118000"/>
              </a:lnSpc>
              <a:buNone/>
            </a:pPr>
            <a:r>
              <a:rPr lang="en-US" sz="1400" dirty="0">
                <a:solidFill>
                  <a:srgbClr val="33444D"/>
                </a:solidFill>
              </a:rPr>
              <a:t>github.com holds a copy on the internet. Your laptop is no longer the only place your work exists.</a:t>
            </a:r>
            <a:endParaRPr lang="en-US" sz="1400" dirty="0"/>
          </a:p>
        </p:txBody>
      </p:sp>
      <p:sp>
        <p:nvSpPr>
          <p:cNvPr id="13" name="gh-c3"/>
          <p:cNvSpPr/>
          <p:nvPr/>
        </p:nvSpPr>
        <p:spPr>
          <a:xfrm>
            <a:off x="8037576" y="1874520"/>
            <a:ext cx="3511296" cy="1874520"/>
          </a:xfrm>
          <a:prstGeom prst="roundRect">
            <a:avLst>
              <a:gd name="adj" fmla="val 1707"/>
            </a:avLst>
          </a:prstGeom>
          <a:solidFill>
            <a:srgbClr val="EDF1F2"/>
          </a:solidFill>
          <a:ln/>
          <a:effectLst>
            <a:outerShdw sx="100000" sy="100000" kx="0" ky="0" algn="bl" rotWithShape="0" blurRad="101600" dist="12700" dir="5400000">
              <a:srgbClr val="000000">
                <a:alpha val="10000"/>
              </a:srgbClr>
            </a:outerShdw>
          </a:effectLst>
        </p:spPr>
      </p:sp>
      <p:sp>
        <p:nvSpPr>
          <p:cNvPr id="14" name="gh-c3-num-bg"/>
          <p:cNvSpPr/>
          <p:nvPr/>
        </p:nvSpPr>
        <p:spPr>
          <a:xfrm>
            <a:off x="8275320" y="2075688"/>
            <a:ext cx="384048" cy="384048"/>
          </a:xfrm>
          <a:prstGeom prst="ellipse">
            <a:avLst/>
          </a:prstGeom>
          <a:solidFill>
            <a:srgbClr val="1F5B7A"/>
          </a:solidFill>
          <a:ln/>
        </p:spPr>
      </p:sp>
      <p:sp>
        <p:nvSpPr>
          <p:cNvPr id="15" name="gh-c3-num"/>
          <p:cNvSpPr txBox="1"/>
          <p:nvPr/>
        </p:nvSpPr>
        <p:spPr>
          <a:xfrm>
            <a:off x="8275320" y="2075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gh-c3-head"/>
          <p:cNvSpPr txBox="1"/>
          <p:nvPr/>
        </p:nvSpPr>
        <p:spPr>
          <a:xfrm>
            <a:off x="8805672" y="2029968"/>
            <a:ext cx="2468880" cy="402336"/>
          </a:xfrm>
          <a:prstGeom prst="rect">
            <a:avLst/>
          </a:prstGeom>
          <a:noFill/>
          <a:ln/>
        </p:spPr>
        <p:txBody>
          <a:bodyPr wrap="square" lIns="0" tIns="0" rIns="0" bIns="0" rtlCol="0" anchor="ctr"/>
          <a:lstStyle/>
          <a:p>
            <a:pPr indent="0" marL="0">
              <a:buNone/>
            </a:pPr>
            <a:r>
              <a:rPr lang="en-US" sz="1600" b="1" dirty="0">
                <a:solidFill>
                  <a:srgbClr val="12191C"/>
                </a:solidFill>
              </a:rPr>
              <a:t>Every version, kept</a:t>
            </a:r>
            <a:endParaRPr lang="en-US" sz="1600" dirty="0"/>
          </a:p>
        </p:txBody>
      </p:sp>
      <p:sp>
        <p:nvSpPr>
          <p:cNvPr id="17" name="gh-c3-text"/>
          <p:cNvSpPr txBox="1"/>
          <p:nvPr/>
        </p:nvSpPr>
        <p:spPr>
          <a:xfrm>
            <a:off x="8805672" y="2496312"/>
            <a:ext cx="2468880" cy="1106424"/>
          </a:xfrm>
          <a:prstGeom prst="rect">
            <a:avLst/>
          </a:prstGeom>
          <a:noFill/>
          <a:ln/>
        </p:spPr>
        <p:txBody>
          <a:bodyPr wrap="square" lIns="0" tIns="0" rIns="0" bIns="0" rtlCol="0" anchor="t"/>
          <a:lstStyle/>
          <a:p>
            <a:pPr indent="0" marL="0">
              <a:lnSpc>
                <a:spcPct val="118000"/>
              </a:lnSpc>
              <a:buNone/>
            </a:pPr>
            <a:r>
              <a:rPr lang="en-US" sz="1400" dirty="0">
                <a:solidFill>
                  <a:srgbClr val="33444D"/>
                </a:solidFill>
              </a:rPr>
              <a:t>Each saved change records what changed, who changed it and when. You can read any earlier version back.</a:t>
            </a:r>
            <a:endParaRPr lang="en-US" sz="1400" dirty="0"/>
          </a:p>
        </p:txBody>
      </p:sp>
      <p:sp>
        <p:nvSpPr>
          <p:cNvPr id="18" name="caption"/>
          <p:cNvSpPr txBox="1"/>
          <p:nvPr/>
        </p:nvSpPr>
        <p:spPr>
          <a:xfrm>
            <a:off x="640080" y="3950208"/>
            <a:ext cx="10911535" cy="640080"/>
          </a:xfrm>
          <a:prstGeom prst="rect">
            <a:avLst/>
          </a:prstGeom>
          <a:noFill/>
          <a:ln/>
        </p:spPr>
        <p:txBody>
          <a:bodyPr wrap="square" lIns="0" tIns="0" rIns="0" bIns="0" rtlCol="0" anchor="t"/>
          <a:lstStyle/>
          <a:p>
            <a:pPr algn="l" indent="0" marL="0">
              <a:lnSpc>
                <a:spcPct val="118000"/>
              </a:lnSpc>
              <a:buNone/>
            </a:pPr>
            <a:r>
              <a:rPr lang="en-US" sz="1900" dirty="0">
                <a:solidFill>
                  <a:srgbClr val="12191C"/>
                </a:solidFill>
              </a:rPr>
              <a:t>Think of it as version history for a folder of files, with a copy stored somewhere other than your laptop.</a:t>
            </a:r>
            <a:endParaRPr lang="en-US" sz="1900" dirty="0"/>
          </a:p>
        </p:txBody>
      </p:sp>
      <p:sp>
        <p:nvSpPr>
          <p:cNvPr id="19" name="gh-note"/>
          <p:cNvSpPr/>
          <p:nvPr/>
        </p:nvSpPr>
        <p:spPr>
          <a:xfrm>
            <a:off x="640080" y="4709160"/>
            <a:ext cx="10911535" cy="1188720"/>
          </a:xfrm>
          <a:prstGeom prst="roundRect">
            <a:avLst>
              <a:gd name="adj" fmla="val 2692"/>
            </a:avLst>
          </a:prstGeom>
          <a:solidFill>
            <a:srgbClr val="1E292F"/>
          </a:solidFill>
          <a:ln/>
          <a:effectLst>
            <a:outerShdw sx="100000" sy="100000" kx="0" ky="0" algn="bl" rotWithShape="0" blurRad="101600" dist="12700" dir="5400000">
              <a:srgbClr val="000000">
                <a:alpha val="10000"/>
              </a:srgbClr>
            </a:outerShdw>
          </a:effectLst>
        </p:spPr>
      </p:sp>
      <p:sp>
        <p:nvSpPr>
          <p:cNvPr id="20" name="gh-note-head"/>
          <p:cNvSpPr txBox="1"/>
          <p:nvPr/>
        </p:nvSpPr>
        <p:spPr>
          <a:xfrm>
            <a:off x="914400" y="4910328"/>
            <a:ext cx="10362895" cy="402336"/>
          </a:xfrm>
          <a:prstGeom prst="rect">
            <a:avLst/>
          </a:prstGeom>
          <a:noFill/>
          <a:ln/>
        </p:spPr>
        <p:txBody>
          <a:bodyPr wrap="square" lIns="0" tIns="0" rIns="0" bIns="0" rtlCol="0" anchor="ctr"/>
          <a:lstStyle/>
          <a:p>
            <a:pPr indent="0" marL="0">
              <a:buNone/>
            </a:pPr>
            <a:r>
              <a:rPr lang="en-US" sz="1500" b="1" dirty="0">
                <a:solidFill>
                  <a:srgbClr val="FFFFFF"/>
                </a:solidFill>
              </a:rPr>
              <a:t>Two names, two things</a:t>
            </a:r>
            <a:endParaRPr lang="en-US" sz="1500" dirty="0"/>
          </a:p>
        </p:txBody>
      </p:sp>
      <p:sp>
        <p:nvSpPr>
          <p:cNvPr id="21" name="gh-note-text"/>
          <p:cNvSpPr txBox="1"/>
          <p:nvPr/>
        </p:nvSpPr>
        <p:spPr>
          <a:xfrm>
            <a:off x="914400" y="5330952"/>
            <a:ext cx="10362895" cy="420624"/>
          </a:xfrm>
          <a:prstGeom prst="rect">
            <a:avLst/>
          </a:prstGeom>
          <a:noFill/>
          <a:ln/>
        </p:spPr>
        <p:txBody>
          <a:bodyPr wrap="square" lIns="0" tIns="0" rIns="0" bIns="0" rtlCol="0" anchor="t"/>
          <a:lstStyle/>
          <a:p>
            <a:pPr indent="0" marL="0">
              <a:lnSpc>
                <a:spcPct val="118000"/>
              </a:lnSpc>
              <a:buNone/>
            </a:pPr>
            <a:r>
              <a:rPr lang="en-US" sz="1400" dirty="0">
                <a:solidFill>
                  <a:srgbClr val="EDF1F2"/>
                </a:solidFill>
              </a:rPr>
              <a:t>Git is the program on your laptop that records the history. GitHub is a website that stores a copy and lets other people see it. An account is free.</a:t>
            </a:r>
            <a:endParaRPr lang="en-US" sz="1400" dirty="0"/>
          </a:p>
        </p:txBody>
      </p:sp>
      <p:sp>
        <p:nvSpPr>
          <p:cNvPr id="23"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Put a project on your laptop</a:t>
            </a:r>
            <a:endParaRPr lang="en-US" sz="3300" dirty="0"/>
          </a:p>
        </p:txBody>
      </p:sp>
      <p:sp>
        <p:nvSpPr>
          <p:cNvPr id="3" name="clone-term"/>
          <p:cNvSpPr/>
          <p:nvPr/>
        </p:nvSpPr>
        <p:spPr>
          <a:xfrm>
            <a:off x="640080" y="1874520"/>
            <a:ext cx="10911535" cy="1495044"/>
          </a:xfrm>
          <a:prstGeom prst="roundRect">
            <a:avLst>
              <a:gd name="adj" fmla="val 2141"/>
            </a:avLst>
          </a:prstGeom>
          <a:solidFill>
            <a:srgbClr val="12191C"/>
          </a:solidFill>
          <a:ln/>
          <a:effectLst>
            <a:outerShdw sx="100000" sy="100000" kx="0" ky="0" algn="bl" rotWithShape="0" blurRad="127000" dist="25400" dir="5400000">
              <a:srgbClr val="000000">
                <a:alpha val="18000"/>
              </a:srgbClr>
            </a:outerShdw>
          </a:effectLst>
        </p:spPr>
      </p:sp>
      <p:sp>
        <p:nvSpPr>
          <p:cNvPr id="4" name="clone-term-text"/>
          <p:cNvSpPr txBox="1"/>
          <p:nvPr/>
        </p:nvSpPr>
        <p:spPr>
          <a:xfrm>
            <a:off x="896112" y="2057400"/>
            <a:ext cx="10399471" cy="1129284"/>
          </a:xfrm>
          <a:prstGeom prst="rect">
            <a:avLst/>
          </a:prstGeom>
          <a:noFill/>
          <a:ln/>
        </p:spPr>
        <p:txBody>
          <a:bodyPr wrap="square" lIns="0" tIns="0" rIns="0" bIns="0" rtlCol="0" anchor="t"/>
          <a:lstStyle/>
          <a:p>
            <a:pPr indent="0" marL="0">
              <a:lnSpc>
                <a:spcPct val="112000"/>
              </a:lnSpc>
              <a:buNone/>
            </a:pPr>
            <a:r>
              <a:rPr lang="en-US" sz="1500" b="1" dirty="0">
                <a:solidFill>
                  <a:srgbClr val="E5A24A"/>
                </a:solidFill>
                <a:latin typeface="Courier New" pitchFamily="34" charset="0"/>
                <a:ea typeface="Courier New" pitchFamily="34" charset="-122"/>
                <a:cs typeface="Courier New" pitchFamily="34" charset="-120"/>
              </a:rPr>
              <a:t>laptop GitHub % git clone https://github.com/sstirling/rowan-clery.git</a:t>
            </a:r>
            <a:endParaRPr lang="en-US" sz="1500" dirty="0"/>
          </a:p>
          <a:p>
            <a:pPr indent="0" marL="0">
              <a:lnSpc>
                <a:spcPct val="112000"/>
              </a:lnSpc>
              <a:buNone/>
            </a:pPr>
            <a:r>
              <a:rPr lang="en-US" sz="1500" dirty="0">
                <a:solidFill>
                  <a:srgbClr val="EDF1F2"/>
                </a:solidFill>
                <a:latin typeface="Courier New" pitchFamily="34" charset="0"/>
                <a:ea typeface="Courier New" pitchFamily="34" charset="-122"/>
                <a:cs typeface="Courier New" pitchFamily="34" charset="-120"/>
              </a:rPr>
              <a:t>Cloning into 'rowan-clery'...</a:t>
            </a:r>
            <a:endParaRPr lang="en-US" sz="1500" dirty="0"/>
          </a:p>
          <a:p>
            <a:pPr indent="0" marL="0">
              <a:lnSpc>
                <a:spcPct val="112000"/>
              </a:lnSpc>
              <a:buNone/>
            </a:pPr>
            <a:r>
              <a:rPr lang="en-US" sz="1500" dirty="0">
                <a:solidFill>
                  <a:srgbClr val="EDF1F2"/>
                </a:solidFill>
                <a:latin typeface="Courier New" pitchFamily="34" charset="0"/>
                <a:ea typeface="Courier New" pitchFamily="34" charset="-122"/>
                <a:cs typeface="Courier New" pitchFamily="34" charset="-120"/>
              </a:rPr>
              <a:t>Receiving objects: 100% (1,284/1,284), done.</a:t>
            </a:r>
            <a:endParaRPr lang="en-US" sz="1500" dirty="0"/>
          </a:p>
          <a:p>
            <a:pPr indent="0" marL="0">
              <a:lnSpc>
                <a:spcPct val="112000"/>
              </a:lnSpc>
              <a:buNone/>
            </a:pPr>
            <a:r>
              <a:rPr lang="en-US" sz="1500" b="1" dirty="0">
                <a:solidFill>
                  <a:srgbClr val="E5A24A"/>
                </a:solidFill>
                <a:latin typeface="Courier New" pitchFamily="34" charset="0"/>
                <a:ea typeface="Courier New" pitchFamily="34" charset="-122"/>
                <a:cs typeface="Courier New" pitchFamily="34" charset="-120"/>
              </a:rPr>
              <a:t>laptop GitHub % cd rowan-clery</a:t>
            </a:r>
            <a:endParaRPr lang="en-US" sz="1500" dirty="0"/>
          </a:p>
          <a:p>
            <a:pPr indent="0" marL="0">
              <a:lnSpc>
                <a:spcPct val="112000"/>
              </a:lnSpc>
              <a:buNone/>
            </a:pPr>
            <a:r>
              <a:rPr lang="en-US" sz="1500" dirty="0">
                <a:solidFill>
                  <a:srgbClr val="9FAEB7"/>
                </a:solidFill>
                <a:latin typeface="Courier New" pitchFamily="34" charset="0"/>
                <a:ea typeface="Courier New" pitchFamily="34" charset="-122"/>
                <a:cs typeface="Courier New" pitchFamily="34" charset="-120"/>
              </a:rPr>
              <a:t>laptop rowan-clery % </a:t>
            </a:r>
            <a:endParaRPr lang="en-US" sz="1500" dirty="0"/>
          </a:p>
        </p:txBody>
      </p:sp>
      <p:sp>
        <p:nvSpPr>
          <p:cNvPr id="5" name="caption"/>
          <p:cNvSpPr txBox="1"/>
          <p:nvPr/>
        </p:nvSpPr>
        <p:spPr>
          <a:xfrm>
            <a:off x="640080" y="3547872"/>
            <a:ext cx="10911535" cy="548640"/>
          </a:xfrm>
          <a:prstGeom prst="rect">
            <a:avLst/>
          </a:prstGeom>
          <a:noFill/>
          <a:ln/>
        </p:spPr>
        <p:txBody>
          <a:bodyPr wrap="square" lIns="0" tIns="0" rIns="0" bIns="0" rtlCol="0" anchor="t"/>
          <a:lstStyle/>
          <a:p>
            <a:pPr algn="l" indent="0" marL="0">
              <a:lnSpc>
                <a:spcPct val="118000"/>
              </a:lnSpc>
              <a:buNone/>
            </a:pPr>
            <a:r>
              <a:rPr lang="en-US" sz="1600" dirty="0">
                <a:solidFill>
                  <a:srgbClr val="33444D"/>
                </a:solidFill>
              </a:rPr>
              <a:t>Clone copies the project and its whole history down into a new folder named after the repo. You get the URL from the green Code button on any GitHub page.</a:t>
            </a:r>
            <a:endParaRPr lang="en-US" sz="1600" dirty="0"/>
          </a:p>
        </p:txBody>
      </p:sp>
      <p:sp>
        <p:nvSpPr>
          <p:cNvPr id="6" name="cl-c1"/>
          <p:cNvSpPr/>
          <p:nvPr/>
        </p:nvSpPr>
        <p:spPr>
          <a:xfrm>
            <a:off x="640080" y="4251960"/>
            <a:ext cx="3511296" cy="1417320"/>
          </a:xfrm>
          <a:prstGeom prst="roundRect">
            <a:avLst>
              <a:gd name="adj" fmla="val 2258"/>
            </a:avLst>
          </a:prstGeom>
          <a:solidFill>
            <a:srgbClr val="EDF1F2"/>
          </a:solidFill>
          <a:ln/>
          <a:effectLst>
            <a:outerShdw sx="100000" sy="100000" kx="0" ky="0" algn="bl" rotWithShape="0" blurRad="101600" dist="12700" dir="5400000">
              <a:srgbClr val="000000">
                <a:alpha val="10000"/>
              </a:srgbClr>
            </a:outerShdw>
          </a:effectLst>
        </p:spPr>
      </p:sp>
      <p:sp>
        <p:nvSpPr>
          <p:cNvPr id="7" name="cl-c1-head"/>
          <p:cNvSpPr txBox="1"/>
          <p:nvPr/>
        </p:nvSpPr>
        <p:spPr>
          <a:xfrm>
            <a:off x="914400" y="4453128"/>
            <a:ext cx="2962656" cy="402336"/>
          </a:xfrm>
          <a:prstGeom prst="rect">
            <a:avLst/>
          </a:prstGeom>
          <a:noFill/>
          <a:ln/>
        </p:spPr>
        <p:txBody>
          <a:bodyPr wrap="square" lIns="0" tIns="0" rIns="0" bIns="0" rtlCol="0" anchor="ctr"/>
          <a:lstStyle/>
          <a:p>
            <a:pPr indent="0" marL="0">
              <a:buNone/>
            </a:pPr>
            <a:r>
              <a:rPr lang="en-US" sz="1500" b="1" dirty="0">
                <a:solidFill>
                  <a:srgbClr val="12191C"/>
                </a:solidFill>
              </a:rPr>
              <a:t>First git on a Mac?</a:t>
            </a:r>
            <a:endParaRPr lang="en-US" sz="1500" dirty="0"/>
          </a:p>
        </p:txBody>
      </p:sp>
      <p:sp>
        <p:nvSpPr>
          <p:cNvPr id="8" name="cl-c1-text"/>
          <p:cNvSpPr txBox="1"/>
          <p:nvPr/>
        </p:nvSpPr>
        <p:spPr>
          <a:xfrm>
            <a:off x="914400" y="4873752"/>
            <a:ext cx="2962656" cy="649224"/>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macOS offers to install developer tools. Click install and wait.</a:t>
            </a:r>
            <a:endParaRPr lang="en-US" sz="1300" dirty="0"/>
          </a:p>
        </p:txBody>
      </p:sp>
      <p:sp>
        <p:nvSpPr>
          <p:cNvPr id="9" name="cl-c2"/>
          <p:cNvSpPr/>
          <p:nvPr/>
        </p:nvSpPr>
        <p:spPr>
          <a:xfrm>
            <a:off x="4334256" y="4251960"/>
            <a:ext cx="3511296" cy="1417320"/>
          </a:xfrm>
          <a:prstGeom prst="roundRect">
            <a:avLst>
              <a:gd name="adj" fmla="val 2258"/>
            </a:avLst>
          </a:prstGeom>
          <a:solidFill>
            <a:srgbClr val="EDF1F2"/>
          </a:solidFill>
          <a:ln/>
          <a:effectLst>
            <a:outerShdw sx="100000" sy="100000" kx="0" ky="0" algn="bl" rotWithShape="0" blurRad="101600" dist="12700" dir="5400000">
              <a:srgbClr val="000000">
                <a:alpha val="10000"/>
              </a:srgbClr>
            </a:outerShdw>
          </a:effectLst>
        </p:spPr>
      </p:sp>
      <p:sp>
        <p:nvSpPr>
          <p:cNvPr id="10" name="cl-c2-head"/>
          <p:cNvSpPr txBox="1"/>
          <p:nvPr/>
        </p:nvSpPr>
        <p:spPr>
          <a:xfrm>
            <a:off x="4608576" y="4453128"/>
            <a:ext cx="2962656" cy="402336"/>
          </a:xfrm>
          <a:prstGeom prst="rect">
            <a:avLst/>
          </a:prstGeom>
          <a:noFill/>
          <a:ln/>
        </p:spPr>
        <p:txBody>
          <a:bodyPr wrap="square" lIns="0" tIns="0" rIns="0" bIns="0" rtlCol="0" anchor="ctr"/>
          <a:lstStyle/>
          <a:p>
            <a:pPr indent="0" marL="0">
              <a:buNone/>
            </a:pPr>
            <a:r>
              <a:rPr lang="en-US" sz="1500" b="1" dirty="0">
                <a:solidFill>
                  <a:srgbClr val="12191C"/>
                </a:solidFill>
              </a:rPr>
              <a:t>On Windows</a:t>
            </a:r>
            <a:endParaRPr lang="en-US" sz="1500" dirty="0"/>
          </a:p>
        </p:txBody>
      </p:sp>
      <p:sp>
        <p:nvSpPr>
          <p:cNvPr id="11" name="cl-c2-text"/>
          <p:cNvSpPr txBox="1"/>
          <p:nvPr/>
        </p:nvSpPr>
        <p:spPr>
          <a:xfrm>
            <a:off x="4608576" y="4873752"/>
            <a:ext cx="2962656" cy="649224"/>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Install Git for Windows from git-scm.com first. Accept every default.</a:t>
            </a:r>
            <a:endParaRPr lang="en-US" sz="1300" dirty="0"/>
          </a:p>
        </p:txBody>
      </p:sp>
      <p:sp>
        <p:nvSpPr>
          <p:cNvPr id="12" name="cl-c3"/>
          <p:cNvSpPr/>
          <p:nvPr/>
        </p:nvSpPr>
        <p:spPr>
          <a:xfrm>
            <a:off x="8037576" y="4251960"/>
            <a:ext cx="3511296" cy="1417320"/>
          </a:xfrm>
          <a:prstGeom prst="roundRect">
            <a:avLst>
              <a:gd name="adj" fmla="val 2258"/>
            </a:avLst>
          </a:prstGeom>
          <a:solidFill>
            <a:srgbClr val="EDF1F2"/>
          </a:solidFill>
          <a:ln/>
          <a:effectLst>
            <a:outerShdw sx="100000" sy="100000" kx="0" ky="0" algn="bl" rotWithShape="0" blurRad="101600" dist="12700" dir="5400000">
              <a:srgbClr val="000000">
                <a:alpha val="10000"/>
              </a:srgbClr>
            </a:outerShdw>
          </a:effectLst>
        </p:spPr>
      </p:sp>
      <p:sp>
        <p:nvSpPr>
          <p:cNvPr id="13" name="cl-c3-head"/>
          <p:cNvSpPr txBox="1"/>
          <p:nvPr/>
        </p:nvSpPr>
        <p:spPr>
          <a:xfrm>
            <a:off x="8311896" y="4453128"/>
            <a:ext cx="2962656" cy="402336"/>
          </a:xfrm>
          <a:prstGeom prst="rect">
            <a:avLst/>
          </a:prstGeom>
          <a:noFill/>
          <a:ln/>
        </p:spPr>
        <p:txBody>
          <a:bodyPr wrap="square" lIns="0" tIns="0" rIns="0" bIns="0" rtlCol="0" anchor="ctr"/>
          <a:lstStyle/>
          <a:p>
            <a:pPr indent="0" marL="0">
              <a:buNone/>
            </a:pPr>
            <a:r>
              <a:rPr lang="en-US" sz="1500" b="1" dirty="0">
                <a:solidFill>
                  <a:srgbClr val="12191C"/>
                </a:solidFill>
              </a:rPr>
              <a:t>No project yet?</a:t>
            </a:r>
            <a:endParaRPr lang="en-US" sz="1500" dirty="0"/>
          </a:p>
        </p:txBody>
      </p:sp>
      <p:sp>
        <p:nvSpPr>
          <p:cNvPr id="14" name="cl-c3-text"/>
          <p:cNvSpPr txBox="1"/>
          <p:nvPr/>
        </p:nvSpPr>
        <p:spPr>
          <a:xfrm>
            <a:off x="8311896" y="4873752"/>
            <a:ext cx="2962656" cy="649224"/>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Then mkdir my-project, cd into it, and let Claude Code set up the rest.</a:t>
            </a:r>
            <a:endParaRPr lang="en-US" sz="1300" dirty="0"/>
          </a:p>
        </p:txBody>
      </p:sp>
      <p:sp>
        <p:nvSpPr>
          <p:cNvPr id="16"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Install Claude Code</a:t>
            </a:r>
            <a:endParaRPr lang="en-US" sz="3300" dirty="0"/>
          </a:p>
        </p:txBody>
      </p:sp>
      <p:sp>
        <p:nvSpPr>
          <p:cNvPr id="3" name="caption"/>
          <p:cNvSpPr txBox="1"/>
          <p:nvPr/>
        </p:nvSpPr>
        <p:spPr>
          <a:xfrm>
            <a:off x="640080" y="1627632"/>
            <a:ext cx="10911535" cy="457200"/>
          </a:xfrm>
          <a:prstGeom prst="rect">
            <a:avLst/>
          </a:prstGeom>
          <a:noFill/>
          <a:ln/>
        </p:spPr>
        <p:txBody>
          <a:bodyPr wrap="square" lIns="0" tIns="0" rIns="0" bIns="0" rtlCol="0" anchor="t"/>
          <a:lstStyle/>
          <a:p>
            <a:pPr algn="l" indent="0" marL="0">
              <a:lnSpc>
                <a:spcPct val="118000"/>
              </a:lnSpc>
              <a:buNone/>
            </a:pPr>
            <a:r>
              <a:rPr lang="en-US" sz="1500" dirty="0">
                <a:solidFill>
                  <a:srgbClr val="33444D"/>
                </a:solidFill>
              </a:rPr>
              <a:t>Copy one line. Paste it. Press Return. Which line depends on your computer.</a:t>
            </a:r>
            <a:endParaRPr lang="en-US" sz="1500" dirty="0"/>
          </a:p>
        </p:txBody>
      </p:sp>
      <p:sp>
        <p:nvSpPr>
          <p:cNvPr id="4" name="lbl-mac"/>
          <p:cNvSpPr txBox="1"/>
          <p:nvPr/>
        </p:nvSpPr>
        <p:spPr>
          <a:xfrm>
            <a:off x="640080" y="2084832"/>
            <a:ext cx="5669280" cy="274320"/>
          </a:xfrm>
          <a:prstGeom prst="rect">
            <a:avLst/>
          </a:prstGeom>
          <a:noFill/>
          <a:ln/>
        </p:spPr>
        <p:txBody>
          <a:bodyPr wrap="square" lIns="0" tIns="0" rIns="0" bIns="0" rtlCol="0" anchor="ctr"/>
          <a:lstStyle/>
          <a:p>
            <a:pPr indent="0" marL="0">
              <a:buNone/>
            </a:pPr>
            <a:r>
              <a:rPr lang="en-US" sz="1300" b="1" spc="100" kern="0" dirty="0">
                <a:solidFill>
                  <a:srgbClr val="5E6E78"/>
                </a:solidFill>
              </a:rPr>
              <a:t>macOS or Linux</a:t>
            </a:r>
            <a:endParaRPr lang="en-US" sz="1300" dirty="0"/>
          </a:p>
        </p:txBody>
      </p:sp>
      <p:sp>
        <p:nvSpPr>
          <p:cNvPr id="5" name="inst-mac"/>
          <p:cNvSpPr/>
          <p:nvPr/>
        </p:nvSpPr>
        <p:spPr>
          <a:xfrm>
            <a:off x="640080" y="2395728"/>
            <a:ext cx="5669280" cy="548640"/>
          </a:xfrm>
          <a:prstGeom prst="roundRect">
            <a:avLst>
              <a:gd name="adj" fmla="val 5833"/>
            </a:avLst>
          </a:prstGeom>
          <a:solidFill>
            <a:srgbClr val="12191C"/>
          </a:solidFill>
          <a:ln/>
          <a:effectLst>
            <a:outerShdw sx="100000" sy="100000" kx="0" ky="0" algn="bl" rotWithShape="0" blurRad="127000" dist="25400" dir="5400000">
              <a:srgbClr val="000000">
                <a:alpha val="18000"/>
              </a:srgbClr>
            </a:outerShdw>
          </a:effectLst>
        </p:spPr>
      </p:sp>
      <p:sp>
        <p:nvSpPr>
          <p:cNvPr id="6" name="inst-mac-text"/>
          <p:cNvSpPr txBox="1"/>
          <p:nvPr/>
        </p:nvSpPr>
        <p:spPr>
          <a:xfrm>
            <a:off x="896112" y="2578608"/>
            <a:ext cx="5157216" cy="182880"/>
          </a:xfrm>
          <a:prstGeom prst="rect">
            <a:avLst/>
          </a:prstGeom>
          <a:noFill/>
          <a:ln/>
        </p:spPr>
        <p:txBody>
          <a:bodyPr wrap="square" lIns="0" tIns="0" rIns="0" bIns="0" rtlCol="0" anchor="t"/>
          <a:lstStyle/>
          <a:p>
            <a:pPr indent="0" marL="0">
              <a:lnSpc>
                <a:spcPct val="112000"/>
              </a:lnSpc>
              <a:buNone/>
            </a:pPr>
            <a:r>
              <a:rPr lang="en-US" sz="1300" b="1" dirty="0">
                <a:solidFill>
                  <a:srgbClr val="E5A24A"/>
                </a:solidFill>
                <a:latin typeface="Courier New" pitchFamily="34" charset="0"/>
                <a:ea typeface="Courier New" pitchFamily="34" charset="-122"/>
                <a:cs typeface="Courier New" pitchFamily="34" charset="-120"/>
              </a:rPr>
              <a:t>curl -fsSL https://claude.ai/install.sh | bash</a:t>
            </a:r>
            <a:endParaRPr lang="en-US" sz="1300" dirty="0"/>
          </a:p>
        </p:txBody>
      </p:sp>
      <p:sp>
        <p:nvSpPr>
          <p:cNvPr id="7" name="lbl-win"/>
          <p:cNvSpPr txBox="1"/>
          <p:nvPr/>
        </p:nvSpPr>
        <p:spPr>
          <a:xfrm>
            <a:off x="6519672" y="2084832"/>
            <a:ext cx="5029200" cy="274320"/>
          </a:xfrm>
          <a:prstGeom prst="rect">
            <a:avLst/>
          </a:prstGeom>
          <a:noFill/>
          <a:ln/>
        </p:spPr>
        <p:txBody>
          <a:bodyPr wrap="square" lIns="0" tIns="0" rIns="0" bIns="0" rtlCol="0" anchor="ctr"/>
          <a:lstStyle/>
          <a:p>
            <a:pPr indent="0" marL="0">
              <a:buNone/>
            </a:pPr>
            <a:r>
              <a:rPr lang="en-US" sz="1300" b="1" spc="100" kern="0" dirty="0">
                <a:solidFill>
                  <a:srgbClr val="5E6E78"/>
                </a:solidFill>
              </a:rPr>
              <a:t>Windows PowerShell</a:t>
            </a:r>
            <a:endParaRPr lang="en-US" sz="1300" dirty="0"/>
          </a:p>
        </p:txBody>
      </p:sp>
      <p:sp>
        <p:nvSpPr>
          <p:cNvPr id="8" name="inst-win"/>
          <p:cNvSpPr/>
          <p:nvPr/>
        </p:nvSpPr>
        <p:spPr>
          <a:xfrm>
            <a:off x="6519672" y="2395728"/>
            <a:ext cx="5029200" cy="548640"/>
          </a:xfrm>
          <a:prstGeom prst="roundRect">
            <a:avLst>
              <a:gd name="adj" fmla="val 5833"/>
            </a:avLst>
          </a:prstGeom>
          <a:solidFill>
            <a:srgbClr val="12191C"/>
          </a:solidFill>
          <a:ln/>
          <a:effectLst>
            <a:outerShdw sx="100000" sy="100000" kx="0" ky="0" algn="bl" rotWithShape="0" blurRad="127000" dist="25400" dir="5400000">
              <a:srgbClr val="000000">
                <a:alpha val="18000"/>
              </a:srgbClr>
            </a:outerShdw>
          </a:effectLst>
        </p:spPr>
      </p:sp>
      <p:sp>
        <p:nvSpPr>
          <p:cNvPr id="9" name="inst-win-text"/>
          <p:cNvSpPr txBox="1"/>
          <p:nvPr/>
        </p:nvSpPr>
        <p:spPr>
          <a:xfrm>
            <a:off x="6775704" y="2578608"/>
            <a:ext cx="4517136" cy="182880"/>
          </a:xfrm>
          <a:prstGeom prst="rect">
            <a:avLst/>
          </a:prstGeom>
          <a:noFill/>
          <a:ln/>
        </p:spPr>
        <p:txBody>
          <a:bodyPr wrap="square" lIns="0" tIns="0" rIns="0" bIns="0" rtlCol="0" anchor="t"/>
          <a:lstStyle/>
          <a:p>
            <a:pPr indent="0" marL="0">
              <a:lnSpc>
                <a:spcPct val="112000"/>
              </a:lnSpc>
              <a:buNone/>
            </a:pPr>
            <a:r>
              <a:rPr lang="en-US" sz="1300" b="1" dirty="0">
                <a:solidFill>
                  <a:srgbClr val="E5A24A"/>
                </a:solidFill>
                <a:latin typeface="Courier New" pitchFamily="34" charset="0"/>
                <a:ea typeface="Courier New" pitchFamily="34" charset="-122"/>
                <a:cs typeface="Courier New" pitchFamily="34" charset="-120"/>
              </a:rPr>
              <a:t>irm https://claude.ai/install.ps1 | iex</a:t>
            </a:r>
            <a:endParaRPr lang="en-US" sz="1300" dirty="0"/>
          </a:p>
        </p:txBody>
      </p:sp>
      <p:sp>
        <p:nvSpPr>
          <p:cNvPr id="10" name="lbl-ver"/>
          <p:cNvSpPr txBox="1"/>
          <p:nvPr/>
        </p:nvSpPr>
        <p:spPr>
          <a:xfrm>
            <a:off x="640080" y="3310128"/>
            <a:ext cx="5669280" cy="274320"/>
          </a:xfrm>
          <a:prstGeom prst="rect">
            <a:avLst/>
          </a:prstGeom>
          <a:noFill/>
          <a:ln/>
        </p:spPr>
        <p:txBody>
          <a:bodyPr wrap="square" lIns="0" tIns="0" rIns="0" bIns="0" rtlCol="0" anchor="ctr"/>
          <a:lstStyle/>
          <a:p>
            <a:pPr indent="0" marL="0">
              <a:buNone/>
            </a:pPr>
            <a:r>
              <a:rPr lang="en-US" sz="1300" b="1" spc="100" kern="0" dirty="0">
                <a:solidFill>
                  <a:srgbClr val="5E6E78"/>
                </a:solidFill>
              </a:rPr>
              <a:t>Then check it landed</a:t>
            </a:r>
            <a:endParaRPr lang="en-US" sz="1300" dirty="0"/>
          </a:p>
        </p:txBody>
      </p:sp>
      <p:sp>
        <p:nvSpPr>
          <p:cNvPr id="11" name="inst-ver"/>
          <p:cNvSpPr/>
          <p:nvPr/>
        </p:nvSpPr>
        <p:spPr>
          <a:xfrm>
            <a:off x="640080" y="3621024"/>
            <a:ext cx="5669280" cy="733349"/>
          </a:xfrm>
          <a:prstGeom prst="roundRect">
            <a:avLst>
              <a:gd name="adj" fmla="val 4364"/>
            </a:avLst>
          </a:prstGeom>
          <a:solidFill>
            <a:srgbClr val="12191C"/>
          </a:solidFill>
          <a:ln/>
          <a:effectLst>
            <a:outerShdw sx="100000" sy="100000" kx="0" ky="0" algn="bl" rotWithShape="0" blurRad="127000" dist="25400" dir="5400000">
              <a:srgbClr val="000000">
                <a:alpha val="18000"/>
              </a:srgbClr>
            </a:outerShdw>
          </a:effectLst>
        </p:spPr>
      </p:sp>
      <p:sp>
        <p:nvSpPr>
          <p:cNvPr id="12" name="inst-ver-text"/>
          <p:cNvSpPr txBox="1"/>
          <p:nvPr/>
        </p:nvSpPr>
        <p:spPr>
          <a:xfrm>
            <a:off x="896112" y="3803904"/>
            <a:ext cx="5157216" cy="367589"/>
          </a:xfrm>
          <a:prstGeom prst="rect">
            <a:avLst/>
          </a:prstGeom>
          <a:noFill/>
          <a:ln/>
        </p:spPr>
        <p:txBody>
          <a:bodyPr wrap="square" lIns="0" tIns="0" rIns="0" bIns="0" rtlCol="0" anchor="t"/>
          <a:lstStyle/>
          <a:p>
            <a:pPr indent="0" marL="0">
              <a:lnSpc>
                <a:spcPct val="112000"/>
              </a:lnSpc>
              <a:buNone/>
            </a:pPr>
            <a:r>
              <a:rPr lang="en-US" sz="1300" b="1" dirty="0">
                <a:solidFill>
                  <a:srgbClr val="E5A24A"/>
                </a:solidFill>
                <a:latin typeface="Courier New" pitchFamily="34" charset="0"/>
                <a:ea typeface="Courier New" pitchFamily="34" charset="-122"/>
                <a:cs typeface="Courier New" pitchFamily="34" charset="-120"/>
              </a:rPr>
              <a:t>claude --version</a:t>
            </a:r>
            <a:endParaRPr lang="en-US" sz="1300" dirty="0"/>
          </a:p>
          <a:p>
            <a:pPr indent="0" marL="0">
              <a:lnSpc>
                <a:spcPct val="112000"/>
              </a:lnSpc>
              <a:buNone/>
            </a:pPr>
            <a:r>
              <a:rPr lang="en-US" sz="1300" dirty="0">
                <a:solidFill>
                  <a:srgbClr val="73BF95"/>
                </a:solidFill>
                <a:latin typeface="Courier New" pitchFamily="34" charset="0"/>
                <a:ea typeface="Courier New" pitchFamily="34" charset="-122"/>
                <a:cs typeface="Courier New" pitchFamily="34" charset="-120"/>
              </a:rPr>
              <a:t>2.1.302 (Claude Code)</a:t>
            </a:r>
            <a:endParaRPr lang="en-US" sz="1300" dirty="0"/>
          </a:p>
        </p:txBody>
      </p:sp>
      <p:sp>
        <p:nvSpPr>
          <p:cNvPr id="13" name="inst-c1"/>
          <p:cNvSpPr/>
          <p:nvPr/>
        </p:nvSpPr>
        <p:spPr>
          <a:xfrm>
            <a:off x="6519672" y="3621024"/>
            <a:ext cx="5029200" cy="987552"/>
          </a:xfrm>
          <a:prstGeom prst="roundRect">
            <a:avLst>
              <a:gd name="adj" fmla="val 3241"/>
            </a:avLst>
          </a:prstGeom>
          <a:solidFill>
            <a:srgbClr val="EDF1F2"/>
          </a:solidFill>
          <a:ln/>
          <a:effectLst>
            <a:outerShdw sx="100000" sy="100000" kx="0" ky="0" algn="bl" rotWithShape="0" blurRad="101600" dist="12700" dir="5400000">
              <a:srgbClr val="000000">
                <a:alpha val="10000"/>
              </a:srgbClr>
            </a:outerShdw>
          </a:effectLst>
        </p:spPr>
      </p:sp>
      <p:sp>
        <p:nvSpPr>
          <p:cNvPr id="14" name="inst-c1-head"/>
          <p:cNvSpPr txBox="1"/>
          <p:nvPr/>
        </p:nvSpPr>
        <p:spPr>
          <a:xfrm>
            <a:off x="6793992" y="3822192"/>
            <a:ext cx="4480560" cy="402336"/>
          </a:xfrm>
          <a:prstGeom prst="rect">
            <a:avLst/>
          </a:prstGeom>
          <a:noFill/>
          <a:ln/>
        </p:spPr>
        <p:txBody>
          <a:bodyPr wrap="square" lIns="0" tIns="0" rIns="0" bIns="0" rtlCol="0" anchor="ctr"/>
          <a:lstStyle/>
          <a:p>
            <a:pPr indent="0" marL="0">
              <a:buNone/>
            </a:pPr>
            <a:r>
              <a:rPr lang="en-US" sz="1500" b="1" dirty="0">
                <a:solidFill>
                  <a:srgbClr val="12191C"/>
                </a:solidFill>
              </a:rPr>
              <a:t>Nothing appears to happen</a:t>
            </a:r>
            <a:endParaRPr lang="en-US" sz="1500" dirty="0"/>
          </a:p>
        </p:txBody>
      </p:sp>
      <p:sp>
        <p:nvSpPr>
          <p:cNvPr id="15" name="inst-c1-text"/>
          <p:cNvSpPr txBox="1"/>
          <p:nvPr/>
        </p:nvSpPr>
        <p:spPr>
          <a:xfrm>
            <a:off x="6793992" y="4242816"/>
            <a:ext cx="4480560" cy="219456"/>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No progress bar appears. Leave it alone and wait.</a:t>
            </a:r>
            <a:endParaRPr lang="en-US" sz="1300" dirty="0"/>
          </a:p>
        </p:txBody>
      </p:sp>
      <p:sp>
        <p:nvSpPr>
          <p:cNvPr id="16" name="inst-plan"/>
          <p:cNvSpPr/>
          <p:nvPr/>
        </p:nvSpPr>
        <p:spPr>
          <a:xfrm>
            <a:off x="640080" y="4709160"/>
            <a:ext cx="5669280" cy="1417320"/>
          </a:xfrm>
          <a:prstGeom prst="roundRect">
            <a:avLst>
              <a:gd name="adj" fmla="val 2258"/>
            </a:avLst>
          </a:prstGeom>
          <a:solidFill>
            <a:srgbClr val="1E292F"/>
          </a:solidFill>
          <a:ln/>
          <a:effectLst>
            <a:outerShdw sx="100000" sy="100000" kx="0" ky="0" algn="bl" rotWithShape="0" blurRad="101600" dist="12700" dir="5400000">
              <a:srgbClr val="000000">
                <a:alpha val="10000"/>
              </a:srgbClr>
            </a:outerShdw>
          </a:effectLst>
        </p:spPr>
      </p:sp>
      <p:sp>
        <p:nvSpPr>
          <p:cNvPr id="17" name="inst-plan-head"/>
          <p:cNvSpPr txBox="1"/>
          <p:nvPr/>
        </p:nvSpPr>
        <p:spPr>
          <a:xfrm>
            <a:off x="914400" y="4910328"/>
            <a:ext cx="5120640" cy="402336"/>
          </a:xfrm>
          <a:prstGeom prst="rect">
            <a:avLst/>
          </a:prstGeom>
          <a:noFill/>
          <a:ln/>
        </p:spPr>
        <p:txBody>
          <a:bodyPr wrap="square" lIns="0" tIns="0" rIns="0" bIns="0" rtlCol="0" anchor="ctr"/>
          <a:lstStyle/>
          <a:p>
            <a:pPr indent="0" marL="0">
              <a:buNone/>
            </a:pPr>
            <a:r>
              <a:rPr lang="en-US" sz="1500" b="1" dirty="0">
                <a:solidFill>
                  <a:srgbClr val="FFFFFF"/>
                </a:solidFill>
              </a:rPr>
              <a:t>This one needs a paid plan</a:t>
            </a:r>
            <a:endParaRPr lang="en-US" sz="1500" dirty="0"/>
          </a:p>
        </p:txBody>
      </p:sp>
      <p:sp>
        <p:nvSpPr>
          <p:cNvPr id="18" name="inst-plan-text"/>
          <p:cNvSpPr txBox="1"/>
          <p:nvPr/>
        </p:nvSpPr>
        <p:spPr>
          <a:xfrm>
            <a:off x="914400" y="5330952"/>
            <a:ext cx="5120640" cy="649224"/>
          </a:xfrm>
          <a:prstGeom prst="rect">
            <a:avLst/>
          </a:prstGeom>
          <a:noFill/>
          <a:ln/>
        </p:spPr>
        <p:txBody>
          <a:bodyPr wrap="square" lIns="0" tIns="0" rIns="0" bIns="0" rtlCol="0" anchor="t"/>
          <a:lstStyle/>
          <a:p>
            <a:pPr indent="0" marL="0">
              <a:lnSpc>
                <a:spcPct val="118000"/>
              </a:lnSpc>
              <a:buNone/>
            </a:pPr>
            <a:r>
              <a:rPr lang="en-US" sz="1300" dirty="0">
                <a:solidFill>
                  <a:srgbClr val="EDF1F2"/>
                </a:solidFill>
              </a:rPr>
              <a:t>Claude Code requires Pro, Max, Team, Enterprise or a Console account. The free claude.ai plan does not include it. Check for a student or campus plan before you pay.</a:t>
            </a:r>
            <a:endParaRPr lang="en-US" sz="1300" dirty="0"/>
          </a:p>
        </p:txBody>
      </p:sp>
      <p:sp>
        <p:nvSpPr>
          <p:cNvPr id="19" name="inst-c2"/>
          <p:cNvSpPr/>
          <p:nvPr/>
        </p:nvSpPr>
        <p:spPr>
          <a:xfrm>
            <a:off x="6519672" y="4709160"/>
            <a:ext cx="5029200" cy="1417320"/>
          </a:xfrm>
          <a:prstGeom prst="roundRect">
            <a:avLst>
              <a:gd name="adj" fmla="val 2258"/>
            </a:avLst>
          </a:prstGeom>
          <a:solidFill>
            <a:srgbClr val="EDF1F2"/>
          </a:solidFill>
          <a:ln/>
          <a:effectLst>
            <a:outerShdw sx="100000" sy="100000" kx="0" ky="0" algn="bl" rotWithShape="0" blurRad="101600" dist="12700" dir="5400000">
              <a:srgbClr val="000000">
                <a:alpha val="10000"/>
              </a:srgbClr>
            </a:outerShdw>
          </a:effectLst>
        </p:spPr>
      </p:sp>
      <p:sp>
        <p:nvSpPr>
          <p:cNvPr id="20" name="inst-c2-head"/>
          <p:cNvSpPr txBox="1"/>
          <p:nvPr/>
        </p:nvSpPr>
        <p:spPr>
          <a:xfrm>
            <a:off x="6793992" y="4910328"/>
            <a:ext cx="4480560" cy="402336"/>
          </a:xfrm>
          <a:prstGeom prst="rect">
            <a:avLst/>
          </a:prstGeom>
          <a:noFill/>
          <a:ln/>
        </p:spPr>
        <p:txBody>
          <a:bodyPr wrap="square" lIns="0" tIns="0" rIns="0" bIns="0" rtlCol="0" anchor="ctr"/>
          <a:lstStyle/>
          <a:p>
            <a:pPr indent="0" marL="0">
              <a:buNone/>
            </a:pPr>
            <a:r>
              <a:rPr lang="en-US" sz="1400" b="1" dirty="0">
                <a:solidFill>
                  <a:srgbClr val="12191C"/>
                </a:solidFill>
                <a:latin typeface="Courier New" pitchFamily="34" charset="0"/>
                <a:ea typeface="Courier New" pitchFamily="34" charset="-122"/>
                <a:cs typeface="Courier New" pitchFamily="34" charset="-120"/>
              </a:rPr>
              <a:t>command not found: claude</a:t>
            </a:r>
            <a:endParaRPr lang="en-US" sz="1400" dirty="0"/>
          </a:p>
        </p:txBody>
      </p:sp>
      <p:sp>
        <p:nvSpPr>
          <p:cNvPr id="21" name="inst-c2-text"/>
          <p:cNvSpPr txBox="1"/>
          <p:nvPr/>
        </p:nvSpPr>
        <p:spPr>
          <a:xfrm>
            <a:off x="6793992" y="5330952"/>
            <a:ext cx="4480560" cy="649224"/>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It installed, but your terminal does not know where to look yet. Slide 17 has the fix. Open a new window and try again first.</a:t>
            </a:r>
            <a:endParaRPr lang="en-US" sz="1300" dirty="0"/>
          </a:p>
        </p:txBody>
      </p:sp>
      <p:sp>
        <p:nvSpPr>
          <p:cNvPr id="23"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Where you start it is what it can see</a:t>
            </a:r>
            <a:endParaRPr lang="en-US" sz="3300" dirty="0"/>
          </a:p>
        </p:txBody>
      </p:sp>
      <p:sp>
        <p:nvSpPr>
          <p:cNvPr id="3" name="start-term"/>
          <p:cNvSpPr/>
          <p:nvPr/>
        </p:nvSpPr>
        <p:spPr>
          <a:xfrm>
            <a:off x="640080" y="1874520"/>
            <a:ext cx="10911535" cy="857707"/>
          </a:xfrm>
          <a:prstGeom prst="roundRect">
            <a:avLst>
              <a:gd name="adj" fmla="val 3731"/>
            </a:avLst>
          </a:prstGeom>
          <a:solidFill>
            <a:srgbClr val="12191C"/>
          </a:solidFill>
          <a:ln/>
          <a:effectLst>
            <a:outerShdw sx="100000" sy="100000" kx="0" ky="0" algn="bl" rotWithShape="0" blurRad="127000" dist="25400" dir="5400000">
              <a:srgbClr val="000000">
                <a:alpha val="18000"/>
              </a:srgbClr>
            </a:outerShdw>
          </a:effectLst>
        </p:spPr>
      </p:sp>
      <p:sp>
        <p:nvSpPr>
          <p:cNvPr id="4" name="start-term-text"/>
          <p:cNvSpPr txBox="1"/>
          <p:nvPr/>
        </p:nvSpPr>
        <p:spPr>
          <a:xfrm>
            <a:off x="896112" y="2057400"/>
            <a:ext cx="10399471" cy="491947"/>
          </a:xfrm>
          <a:prstGeom prst="rect">
            <a:avLst/>
          </a:prstGeom>
          <a:noFill/>
          <a:ln/>
        </p:spPr>
        <p:txBody>
          <a:bodyPr wrap="square" lIns="0" tIns="0" rIns="0" bIns="0" rtlCol="0" anchor="t"/>
          <a:lstStyle/>
          <a:p>
            <a:pPr indent="0" marL="0">
              <a:lnSpc>
                <a:spcPct val="112000"/>
              </a:lnSpc>
              <a:buNone/>
            </a:pPr>
            <a:r>
              <a:rPr lang="en-US" sz="1700" b="1" dirty="0">
                <a:solidFill>
                  <a:srgbClr val="E5A24A"/>
                </a:solidFill>
                <a:latin typeface="Courier New" pitchFamily="34" charset="0"/>
                <a:ea typeface="Courier New" pitchFamily="34" charset="-122"/>
                <a:cs typeface="Courier New" pitchFamily="34" charset="-120"/>
              </a:rPr>
              <a:t>laptop ~ % cd Documents/GitHub/rowan-clery</a:t>
            </a:r>
            <a:endParaRPr lang="en-US" sz="1700" dirty="0"/>
          </a:p>
          <a:p>
            <a:pPr indent="0" marL="0">
              <a:lnSpc>
                <a:spcPct val="112000"/>
              </a:lnSpc>
              <a:buNone/>
            </a:pPr>
            <a:r>
              <a:rPr lang="en-US" sz="1700" b="1" dirty="0">
                <a:solidFill>
                  <a:srgbClr val="E5A24A"/>
                </a:solidFill>
                <a:latin typeface="Courier New" pitchFamily="34" charset="0"/>
                <a:ea typeface="Courier New" pitchFamily="34" charset="-122"/>
                <a:cs typeface="Courier New" pitchFamily="34" charset="-120"/>
              </a:rPr>
              <a:t>laptop rowan-clery % claude</a:t>
            </a:r>
            <a:endParaRPr lang="en-US" sz="1700" dirty="0"/>
          </a:p>
        </p:txBody>
      </p:sp>
      <p:sp>
        <p:nvSpPr>
          <p:cNvPr id="5" name="st-good"/>
          <p:cNvSpPr/>
          <p:nvPr/>
        </p:nvSpPr>
        <p:spPr>
          <a:xfrm>
            <a:off x="640080" y="2971800"/>
            <a:ext cx="5321808" cy="1645920"/>
          </a:xfrm>
          <a:prstGeom prst="roundRect">
            <a:avLst>
              <a:gd name="adj" fmla="val 1944"/>
            </a:avLst>
          </a:prstGeom>
          <a:solidFill>
            <a:srgbClr val="EDF1F2"/>
          </a:solidFill>
          <a:ln/>
          <a:effectLst>
            <a:outerShdw sx="100000" sy="100000" kx="0" ky="0" algn="bl" rotWithShape="0" blurRad="101600" dist="12700" dir="5400000">
              <a:srgbClr val="000000">
                <a:alpha val="10000"/>
              </a:srgbClr>
            </a:outerShdw>
          </a:effectLst>
        </p:spPr>
      </p:sp>
      <p:sp>
        <p:nvSpPr>
          <p:cNvPr id="6" name="st-good-head"/>
          <p:cNvSpPr txBox="1"/>
          <p:nvPr/>
        </p:nvSpPr>
        <p:spPr>
          <a:xfrm>
            <a:off x="914400" y="3172968"/>
            <a:ext cx="4773168" cy="402336"/>
          </a:xfrm>
          <a:prstGeom prst="rect">
            <a:avLst/>
          </a:prstGeom>
          <a:noFill/>
          <a:ln/>
        </p:spPr>
        <p:txBody>
          <a:bodyPr wrap="square" lIns="0" tIns="0" rIns="0" bIns="0" rtlCol="0" anchor="ctr"/>
          <a:lstStyle/>
          <a:p>
            <a:pPr indent="0" marL="0">
              <a:buNone/>
            </a:pPr>
            <a:r>
              <a:rPr lang="en-US" sz="1600" b="1" dirty="0">
                <a:solidFill>
                  <a:srgbClr val="2C6E49"/>
                </a:solidFill>
              </a:rPr>
              <a:t>Started inside the project</a:t>
            </a:r>
            <a:endParaRPr lang="en-US" sz="1600" dirty="0"/>
          </a:p>
        </p:txBody>
      </p:sp>
      <p:sp>
        <p:nvSpPr>
          <p:cNvPr id="7" name="st-good-text"/>
          <p:cNvSpPr txBox="1"/>
          <p:nvPr/>
        </p:nvSpPr>
        <p:spPr>
          <a:xfrm>
            <a:off x="914400" y="3593592"/>
            <a:ext cx="4773168" cy="877824"/>
          </a:xfrm>
          <a:prstGeom prst="rect">
            <a:avLst/>
          </a:prstGeom>
          <a:noFill/>
          <a:ln/>
        </p:spPr>
        <p:txBody>
          <a:bodyPr wrap="square" lIns="0" tIns="0" rIns="0" bIns="0" rtlCol="0" anchor="t"/>
          <a:lstStyle/>
          <a:p>
            <a:pPr indent="0" marL="0">
              <a:lnSpc>
                <a:spcPct val="118000"/>
              </a:lnSpc>
              <a:buNone/>
            </a:pPr>
            <a:r>
              <a:rPr lang="en-US" sz="1400" dirty="0">
                <a:solidFill>
                  <a:srgbClr val="33444D"/>
                </a:solidFill>
              </a:rPr>
              <a:t>Claude Code reads that project's files, runs its tests, and works on the thing you are actually doing.</a:t>
            </a:r>
            <a:endParaRPr lang="en-US" sz="1400" dirty="0"/>
          </a:p>
        </p:txBody>
      </p:sp>
      <p:sp>
        <p:nvSpPr>
          <p:cNvPr id="8" name="st-bad"/>
          <p:cNvSpPr/>
          <p:nvPr/>
        </p:nvSpPr>
        <p:spPr>
          <a:xfrm>
            <a:off x="6601968" y="2971800"/>
            <a:ext cx="4946904" cy="1645920"/>
          </a:xfrm>
          <a:prstGeom prst="roundRect">
            <a:avLst>
              <a:gd name="adj" fmla="val 1944"/>
            </a:avLst>
          </a:prstGeom>
          <a:solidFill>
            <a:srgbClr val="EDF1F2"/>
          </a:solidFill>
          <a:ln/>
          <a:effectLst>
            <a:outerShdw sx="100000" sy="100000" kx="0" ky="0" algn="bl" rotWithShape="0" blurRad="101600" dist="12700" dir="5400000">
              <a:srgbClr val="000000">
                <a:alpha val="10000"/>
              </a:srgbClr>
            </a:outerShdw>
          </a:effectLst>
        </p:spPr>
      </p:sp>
      <p:sp>
        <p:nvSpPr>
          <p:cNvPr id="9" name="st-bad-head"/>
          <p:cNvSpPr txBox="1"/>
          <p:nvPr/>
        </p:nvSpPr>
        <p:spPr>
          <a:xfrm>
            <a:off x="6876288" y="3172968"/>
            <a:ext cx="4398264" cy="402336"/>
          </a:xfrm>
          <a:prstGeom prst="rect">
            <a:avLst/>
          </a:prstGeom>
          <a:noFill/>
          <a:ln/>
        </p:spPr>
        <p:txBody>
          <a:bodyPr wrap="square" lIns="0" tIns="0" rIns="0" bIns="0" rtlCol="0" anchor="ctr"/>
          <a:lstStyle/>
          <a:p>
            <a:pPr indent="0" marL="0">
              <a:buNone/>
            </a:pPr>
            <a:r>
              <a:rPr lang="en-US" sz="1600" b="1" dirty="0">
                <a:solidFill>
                  <a:srgbClr val="9E5E0D"/>
                </a:solidFill>
              </a:rPr>
              <a:t>Started in your home folder</a:t>
            </a:r>
            <a:endParaRPr lang="en-US" sz="1600" dirty="0"/>
          </a:p>
        </p:txBody>
      </p:sp>
      <p:sp>
        <p:nvSpPr>
          <p:cNvPr id="10" name="st-bad-text"/>
          <p:cNvSpPr txBox="1"/>
          <p:nvPr/>
        </p:nvSpPr>
        <p:spPr>
          <a:xfrm>
            <a:off x="6876288" y="3593592"/>
            <a:ext cx="4398264" cy="877824"/>
          </a:xfrm>
          <a:prstGeom prst="rect">
            <a:avLst/>
          </a:prstGeom>
          <a:noFill/>
          <a:ln/>
        </p:spPr>
        <p:txBody>
          <a:bodyPr wrap="square" lIns="0" tIns="0" rIns="0" bIns="0" rtlCol="0" anchor="t"/>
          <a:lstStyle/>
          <a:p>
            <a:pPr indent="0" marL="0">
              <a:lnSpc>
                <a:spcPct val="118000"/>
              </a:lnSpc>
              <a:buNone/>
            </a:pPr>
            <a:r>
              <a:rPr lang="en-US" sz="1400" dirty="0">
                <a:solidFill>
                  <a:srgbClr val="33444D"/>
                </a:solidFill>
              </a:rPr>
              <a:t>It is now pointed at everything you own — your whole Documents folder, your Desktop, all of it. Slower, and far broader than you meant.</a:t>
            </a:r>
            <a:endParaRPr lang="en-US" sz="1400" dirty="0"/>
          </a:p>
        </p:txBody>
      </p:sp>
      <p:sp>
        <p:nvSpPr>
          <p:cNvPr id="11" name="st-rule"/>
          <p:cNvSpPr/>
          <p:nvPr/>
        </p:nvSpPr>
        <p:spPr>
          <a:xfrm>
            <a:off x="640080" y="4892040"/>
            <a:ext cx="10911535" cy="822960"/>
          </a:xfrm>
          <a:prstGeom prst="roundRect">
            <a:avLst>
              <a:gd name="adj" fmla="val 3889"/>
            </a:avLst>
          </a:prstGeom>
          <a:solidFill>
            <a:srgbClr val="1E292F"/>
          </a:solidFill>
          <a:ln/>
          <a:effectLst>
            <a:outerShdw sx="100000" sy="100000" kx="0" ky="0" algn="bl" rotWithShape="0" blurRad="101600" dist="12700" dir="5400000">
              <a:srgbClr val="000000">
                <a:alpha val="10000"/>
              </a:srgbClr>
            </a:outerShdw>
          </a:effectLst>
        </p:spPr>
      </p:sp>
      <p:sp>
        <p:nvSpPr>
          <p:cNvPr id="12" name="st-rule-head"/>
          <p:cNvSpPr txBox="1"/>
          <p:nvPr/>
        </p:nvSpPr>
        <p:spPr>
          <a:xfrm>
            <a:off x="914400" y="5093208"/>
            <a:ext cx="10362895" cy="384048"/>
          </a:xfrm>
          <a:prstGeom prst="rect">
            <a:avLst/>
          </a:prstGeom>
          <a:noFill/>
          <a:ln/>
        </p:spPr>
        <p:txBody>
          <a:bodyPr wrap="square" lIns="0" tIns="0" rIns="0" bIns="0" rtlCol="0" anchor="ctr"/>
          <a:lstStyle/>
          <a:p>
            <a:pPr indent="0" marL="0">
              <a:buNone/>
            </a:pPr>
            <a:r>
              <a:rPr lang="en-US" sz="1700" b="1" dirty="0">
                <a:solidFill>
                  <a:srgbClr val="FFFFFF"/>
                </a:solidFill>
              </a:rPr>
              <a:t>The habit worth building: cd first, then claude.</a:t>
            </a:r>
            <a:endParaRPr lang="en-US" sz="1700" dirty="0"/>
          </a:p>
        </p:txBody>
      </p:sp>
      <p:sp>
        <p:nvSpPr>
          <p:cNvPr id="14"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Your first five minutes in a session</a:t>
            </a:r>
            <a:endParaRPr lang="en-US" sz="3300" dirty="0"/>
          </a:p>
        </p:txBody>
      </p:sp>
      <p:sp>
        <p:nvSpPr>
          <p:cNvPr id="3" name="caption"/>
          <p:cNvSpPr txBox="1"/>
          <p:nvPr/>
        </p:nvSpPr>
        <p:spPr>
          <a:xfrm>
            <a:off x="640080" y="1627632"/>
            <a:ext cx="10911535" cy="457200"/>
          </a:xfrm>
          <a:prstGeom prst="rect">
            <a:avLst/>
          </a:prstGeom>
          <a:noFill/>
          <a:ln/>
        </p:spPr>
        <p:txBody>
          <a:bodyPr wrap="square" lIns="0" tIns="0" rIns="0" bIns="0" rtlCol="0" anchor="t"/>
          <a:lstStyle/>
          <a:p>
            <a:pPr algn="l" indent="0" marL="0">
              <a:lnSpc>
                <a:spcPct val="118000"/>
              </a:lnSpc>
              <a:buNone/>
            </a:pPr>
            <a:r>
              <a:rPr lang="en-US" sz="1500" dirty="0">
                <a:solidFill>
                  <a:srgbClr val="33444D"/>
                </a:solidFill>
              </a:rPr>
              <a:t>It logs you in through your browser once, then you just type in English.</a:t>
            </a:r>
            <a:endParaRPr lang="en-US" sz="1500" dirty="0"/>
          </a:p>
        </p:txBody>
      </p:sp>
      <p:sp>
        <p:nvSpPr>
          <p:cNvPr id="4" name="first-term"/>
          <p:cNvSpPr/>
          <p:nvPr/>
        </p:nvSpPr>
        <p:spPr>
          <a:xfrm>
            <a:off x="640080" y="2103120"/>
            <a:ext cx="6858000" cy="1588313"/>
          </a:xfrm>
          <a:prstGeom prst="roundRect">
            <a:avLst>
              <a:gd name="adj" fmla="val 2015"/>
            </a:avLst>
          </a:prstGeom>
          <a:solidFill>
            <a:srgbClr val="12191C"/>
          </a:solidFill>
          <a:ln/>
          <a:effectLst>
            <a:outerShdw sx="100000" sy="100000" kx="0" ky="0" algn="bl" rotWithShape="0" blurRad="127000" dist="25400" dir="5400000">
              <a:srgbClr val="000000">
                <a:alpha val="18000"/>
              </a:srgbClr>
            </a:outerShdw>
          </a:effectLst>
        </p:spPr>
      </p:sp>
      <p:sp>
        <p:nvSpPr>
          <p:cNvPr id="5" name="first-term-text"/>
          <p:cNvSpPr txBox="1"/>
          <p:nvPr/>
        </p:nvSpPr>
        <p:spPr>
          <a:xfrm>
            <a:off x="896112" y="2286000"/>
            <a:ext cx="6345936" cy="1222553"/>
          </a:xfrm>
          <a:prstGeom prst="rect">
            <a:avLst/>
          </a:prstGeom>
          <a:noFill/>
          <a:ln/>
        </p:spPr>
        <p:txBody>
          <a:bodyPr wrap="square" lIns="0" tIns="0" rIns="0" bIns="0" rtlCol="0" anchor="t"/>
          <a:lstStyle/>
          <a:p>
            <a:pPr indent="0" marL="0">
              <a:lnSpc>
                <a:spcPct val="112000"/>
              </a:lnSpc>
              <a:buNone/>
            </a:pPr>
            <a:r>
              <a:rPr lang="en-US" sz="1500" dirty="0">
                <a:solidFill>
                  <a:srgbClr val="EDF1F2"/>
                </a:solidFill>
                <a:latin typeface="Courier New" pitchFamily="34" charset="0"/>
                <a:ea typeface="Courier New" pitchFamily="34" charset="-122"/>
                <a:cs typeface="Courier New" pitchFamily="34" charset="-120"/>
              </a:rPr>
              <a:t>&gt; what does this project do?</a:t>
            </a:r>
            <a:endParaRPr lang="en-US" sz="1500" dirty="0"/>
          </a:p>
          <a:p>
            <a:pPr indent="0" marL="0">
              <a:lnSpc>
                <a:spcPct val="112000"/>
              </a:lnSpc>
              <a:buNone/>
            </a:pPr>
            <a:r>
              <a:rPr lang="en-US" sz="700" dirty="0">
                <a:solidFill>
                  <a:srgbClr val="12191C"/>
                </a:solidFill>
                <a:latin typeface="Courier New" pitchFamily="34" charset="0"/>
                <a:ea typeface="Courier New" pitchFamily="34" charset="-122"/>
                <a:cs typeface="Courier New" pitchFamily="34" charset="-120"/>
              </a:rPr>
              <a:t> </a:t>
            </a:r>
            <a:endParaRPr lang="en-US" sz="1500" dirty="0"/>
          </a:p>
          <a:p>
            <a:pPr indent="0" marL="0">
              <a:lnSpc>
                <a:spcPct val="112000"/>
              </a:lnSpc>
              <a:buNone/>
            </a:pPr>
            <a:r>
              <a:rPr lang="en-US" sz="1500" dirty="0">
                <a:solidFill>
                  <a:srgbClr val="EDF1F2"/>
                </a:solidFill>
                <a:latin typeface="Courier New" pitchFamily="34" charset="0"/>
                <a:ea typeface="Courier New" pitchFamily="34" charset="-122"/>
                <a:cs typeface="Courier New" pitchFamily="34" charset="-120"/>
              </a:rPr>
              <a:t>&gt; explain the folder structure</a:t>
            </a:r>
            <a:endParaRPr lang="en-US" sz="1500" dirty="0"/>
          </a:p>
          <a:p>
            <a:pPr indent="0" marL="0">
              <a:lnSpc>
                <a:spcPct val="112000"/>
              </a:lnSpc>
              <a:buNone/>
            </a:pPr>
            <a:r>
              <a:rPr lang="en-US" sz="700" dirty="0">
                <a:solidFill>
                  <a:srgbClr val="12191C"/>
                </a:solidFill>
                <a:latin typeface="Courier New" pitchFamily="34" charset="0"/>
                <a:ea typeface="Courier New" pitchFamily="34" charset="-122"/>
                <a:cs typeface="Courier New" pitchFamily="34" charset="-120"/>
              </a:rPr>
              <a:t> </a:t>
            </a:r>
            <a:endParaRPr lang="en-US" sz="1500" dirty="0"/>
          </a:p>
          <a:p>
            <a:pPr indent="0" marL="0">
              <a:lnSpc>
                <a:spcPct val="112000"/>
              </a:lnSpc>
              <a:buNone/>
            </a:pPr>
            <a:r>
              <a:rPr lang="en-US" sz="1500" dirty="0">
                <a:solidFill>
                  <a:srgbClr val="EDF1F2"/>
                </a:solidFill>
                <a:latin typeface="Courier New" pitchFamily="34" charset="0"/>
                <a:ea typeface="Courier New" pitchFamily="34" charset="-122"/>
                <a:cs typeface="Courier New" pitchFamily="34" charset="-120"/>
              </a:rPr>
              <a:t>&gt; what files have I changed?</a:t>
            </a:r>
            <a:endParaRPr lang="en-US" sz="1500" dirty="0"/>
          </a:p>
          <a:p>
            <a:pPr indent="0" marL="0">
              <a:lnSpc>
                <a:spcPct val="112000"/>
              </a:lnSpc>
              <a:buNone/>
            </a:pPr>
            <a:r>
              <a:rPr lang="en-US" sz="700" dirty="0">
                <a:solidFill>
                  <a:srgbClr val="12191C"/>
                </a:solidFill>
                <a:latin typeface="Courier New" pitchFamily="34" charset="0"/>
                <a:ea typeface="Courier New" pitchFamily="34" charset="-122"/>
                <a:cs typeface="Courier New" pitchFamily="34" charset="-120"/>
              </a:rPr>
              <a:t> </a:t>
            </a:r>
            <a:endParaRPr lang="en-US" sz="1500" dirty="0"/>
          </a:p>
          <a:p>
            <a:pPr indent="0" marL="0">
              <a:lnSpc>
                <a:spcPct val="112000"/>
              </a:lnSpc>
              <a:buNone/>
            </a:pPr>
            <a:r>
              <a:rPr lang="en-US" sz="1500" dirty="0">
                <a:solidFill>
                  <a:srgbClr val="EDF1F2"/>
                </a:solidFill>
                <a:latin typeface="Courier New" pitchFamily="34" charset="0"/>
                <a:ea typeface="Courier New" pitchFamily="34" charset="-122"/>
                <a:cs typeface="Courier New" pitchFamily="34" charset="-120"/>
              </a:rPr>
              <a:t>&gt; add a hello world page and show me</a:t>
            </a:r>
            <a:endParaRPr lang="en-US" sz="1500" dirty="0"/>
          </a:p>
        </p:txBody>
      </p:sp>
      <p:sp>
        <p:nvSpPr>
          <p:cNvPr id="6" name="fm-c1"/>
          <p:cNvSpPr/>
          <p:nvPr/>
        </p:nvSpPr>
        <p:spPr>
          <a:xfrm>
            <a:off x="7818120" y="2103120"/>
            <a:ext cx="3730752" cy="841248"/>
          </a:xfrm>
          <a:prstGeom prst="roundRect">
            <a:avLst>
              <a:gd name="adj" fmla="val 3804"/>
            </a:avLst>
          </a:prstGeom>
          <a:solidFill>
            <a:srgbClr val="EDF1F2"/>
          </a:solidFill>
          <a:ln/>
          <a:effectLst>
            <a:outerShdw sx="100000" sy="100000" kx="0" ky="0" algn="bl" rotWithShape="0" blurRad="101600" dist="12700" dir="5400000">
              <a:srgbClr val="000000">
                <a:alpha val="10000"/>
              </a:srgbClr>
            </a:outerShdw>
          </a:effectLst>
        </p:spPr>
      </p:sp>
      <p:sp>
        <p:nvSpPr>
          <p:cNvPr id="7" name="fm-c1-head"/>
          <p:cNvSpPr txBox="1"/>
          <p:nvPr/>
        </p:nvSpPr>
        <p:spPr>
          <a:xfrm>
            <a:off x="8092440" y="2304288"/>
            <a:ext cx="3182112" cy="274320"/>
          </a:xfrm>
          <a:prstGeom prst="rect">
            <a:avLst/>
          </a:prstGeom>
          <a:noFill/>
          <a:ln/>
        </p:spPr>
        <p:txBody>
          <a:bodyPr wrap="square" lIns="0" tIns="0" rIns="0" bIns="0" rtlCol="0" anchor="ctr"/>
          <a:lstStyle/>
          <a:p>
            <a:pPr indent="0" marL="0">
              <a:buNone/>
            </a:pPr>
            <a:r>
              <a:rPr lang="en-US" sz="1400" b="1" dirty="0">
                <a:solidFill>
                  <a:srgbClr val="12191C"/>
                </a:solidFill>
              </a:rPr>
              <a:t>Return sends</a:t>
            </a:r>
            <a:endParaRPr lang="en-US" sz="1400" dirty="0"/>
          </a:p>
        </p:txBody>
      </p:sp>
      <p:sp>
        <p:nvSpPr>
          <p:cNvPr id="8" name="fm-c1-text"/>
          <p:cNvSpPr txBox="1"/>
          <p:nvPr/>
        </p:nvSpPr>
        <p:spPr>
          <a:xfrm>
            <a:off x="8092440" y="2596896"/>
            <a:ext cx="3182112" cy="201168"/>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Full sentences beat keywords.</a:t>
            </a:r>
            <a:endParaRPr lang="en-US" sz="1300" dirty="0"/>
          </a:p>
        </p:txBody>
      </p:sp>
      <p:sp>
        <p:nvSpPr>
          <p:cNvPr id="9" name="fm-c2"/>
          <p:cNvSpPr/>
          <p:nvPr/>
        </p:nvSpPr>
        <p:spPr>
          <a:xfrm>
            <a:off x="7818120" y="3017520"/>
            <a:ext cx="3730752" cy="841248"/>
          </a:xfrm>
          <a:prstGeom prst="roundRect">
            <a:avLst>
              <a:gd name="adj" fmla="val 3804"/>
            </a:avLst>
          </a:prstGeom>
          <a:solidFill>
            <a:srgbClr val="EDF1F2"/>
          </a:solidFill>
          <a:ln/>
          <a:effectLst>
            <a:outerShdw sx="100000" sy="100000" kx="0" ky="0" algn="bl" rotWithShape="0" blurRad="101600" dist="12700" dir="5400000">
              <a:srgbClr val="000000">
                <a:alpha val="10000"/>
              </a:srgbClr>
            </a:outerShdw>
          </a:effectLst>
        </p:spPr>
      </p:sp>
      <p:sp>
        <p:nvSpPr>
          <p:cNvPr id="10" name="fm-c2-head"/>
          <p:cNvSpPr txBox="1"/>
          <p:nvPr/>
        </p:nvSpPr>
        <p:spPr>
          <a:xfrm>
            <a:off x="8092440" y="3218688"/>
            <a:ext cx="3182112" cy="274320"/>
          </a:xfrm>
          <a:prstGeom prst="rect">
            <a:avLst/>
          </a:prstGeom>
          <a:noFill/>
          <a:ln/>
        </p:spPr>
        <p:txBody>
          <a:bodyPr wrap="square" lIns="0" tIns="0" rIns="0" bIns="0" rtlCol="0" anchor="ctr"/>
          <a:lstStyle/>
          <a:p>
            <a:pPr indent="0" marL="0">
              <a:buNone/>
            </a:pPr>
            <a:r>
              <a:rPr lang="en-US" sz="1400" b="1" dirty="0">
                <a:solidFill>
                  <a:srgbClr val="12191C"/>
                </a:solidFill>
              </a:rPr>
              <a:t>Esc interrupts</a:t>
            </a:r>
            <a:endParaRPr lang="en-US" sz="1400" dirty="0"/>
          </a:p>
        </p:txBody>
      </p:sp>
      <p:sp>
        <p:nvSpPr>
          <p:cNvPr id="11" name="fm-c2-text"/>
          <p:cNvSpPr txBox="1"/>
          <p:nvPr/>
        </p:nvSpPr>
        <p:spPr>
          <a:xfrm>
            <a:off x="8092440" y="3511296"/>
            <a:ext cx="3182112" cy="201168"/>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Stops it mid-answer.</a:t>
            </a:r>
            <a:endParaRPr lang="en-US" sz="1300" dirty="0"/>
          </a:p>
        </p:txBody>
      </p:sp>
      <p:sp>
        <p:nvSpPr>
          <p:cNvPr id="12" name="fm-c3"/>
          <p:cNvSpPr/>
          <p:nvPr/>
        </p:nvSpPr>
        <p:spPr>
          <a:xfrm>
            <a:off x="7818120" y="3931920"/>
            <a:ext cx="3730752" cy="841248"/>
          </a:xfrm>
          <a:prstGeom prst="roundRect">
            <a:avLst>
              <a:gd name="adj" fmla="val 3804"/>
            </a:avLst>
          </a:prstGeom>
          <a:solidFill>
            <a:srgbClr val="EDF1F2"/>
          </a:solidFill>
          <a:ln/>
          <a:effectLst>
            <a:outerShdw sx="100000" sy="100000" kx="0" ky="0" algn="bl" rotWithShape="0" blurRad="101600" dist="12700" dir="5400000">
              <a:srgbClr val="000000">
                <a:alpha val="10000"/>
              </a:srgbClr>
            </a:outerShdw>
          </a:effectLst>
        </p:spPr>
      </p:sp>
      <p:sp>
        <p:nvSpPr>
          <p:cNvPr id="13" name="fm-c3-head"/>
          <p:cNvSpPr txBox="1"/>
          <p:nvPr/>
        </p:nvSpPr>
        <p:spPr>
          <a:xfrm>
            <a:off x="8092440" y="4133088"/>
            <a:ext cx="3182112" cy="274320"/>
          </a:xfrm>
          <a:prstGeom prst="rect">
            <a:avLst/>
          </a:prstGeom>
          <a:noFill/>
          <a:ln/>
        </p:spPr>
        <p:txBody>
          <a:bodyPr wrap="square" lIns="0" tIns="0" rIns="0" bIns="0" rtlCol="0" anchor="ctr"/>
          <a:lstStyle/>
          <a:p>
            <a:pPr indent="0" marL="0">
              <a:buNone/>
            </a:pPr>
            <a:r>
              <a:rPr lang="en-US" sz="1400" b="1" dirty="0">
                <a:solidFill>
                  <a:srgbClr val="12191C"/>
                </a:solidFill>
              </a:rPr>
              <a:t>/help lists commands</a:t>
            </a:r>
            <a:endParaRPr lang="en-US" sz="1400" dirty="0"/>
          </a:p>
        </p:txBody>
      </p:sp>
      <p:sp>
        <p:nvSpPr>
          <p:cNvPr id="14" name="fm-c3-text"/>
          <p:cNvSpPr txBox="1"/>
          <p:nvPr/>
        </p:nvSpPr>
        <p:spPr>
          <a:xfrm>
            <a:off x="8092440" y="4425696"/>
            <a:ext cx="3182112" cy="201168"/>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Anything starting with / is a command.</a:t>
            </a:r>
            <a:endParaRPr lang="en-US" sz="1300" dirty="0"/>
          </a:p>
        </p:txBody>
      </p:sp>
      <p:sp>
        <p:nvSpPr>
          <p:cNvPr id="15" name="fm-c4"/>
          <p:cNvSpPr/>
          <p:nvPr/>
        </p:nvSpPr>
        <p:spPr>
          <a:xfrm>
            <a:off x="7818120" y="4846320"/>
            <a:ext cx="3730752" cy="841248"/>
          </a:xfrm>
          <a:prstGeom prst="roundRect">
            <a:avLst>
              <a:gd name="adj" fmla="val 3804"/>
            </a:avLst>
          </a:prstGeom>
          <a:solidFill>
            <a:srgbClr val="EDF1F2"/>
          </a:solidFill>
          <a:ln/>
          <a:effectLst>
            <a:outerShdw sx="100000" sy="100000" kx="0" ky="0" algn="bl" rotWithShape="0" blurRad="101600" dist="12700" dir="5400000">
              <a:srgbClr val="000000">
                <a:alpha val="10000"/>
              </a:srgbClr>
            </a:outerShdw>
          </a:effectLst>
        </p:spPr>
      </p:sp>
      <p:sp>
        <p:nvSpPr>
          <p:cNvPr id="16" name="fm-c4-head"/>
          <p:cNvSpPr txBox="1"/>
          <p:nvPr/>
        </p:nvSpPr>
        <p:spPr>
          <a:xfrm>
            <a:off x="8092440" y="5047488"/>
            <a:ext cx="3182112" cy="274320"/>
          </a:xfrm>
          <a:prstGeom prst="rect">
            <a:avLst/>
          </a:prstGeom>
          <a:noFill/>
          <a:ln/>
        </p:spPr>
        <p:txBody>
          <a:bodyPr wrap="square" lIns="0" tIns="0" rIns="0" bIns="0" rtlCol="0" anchor="ctr"/>
          <a:lstStyle/>
          <a:p>
            <a:pPr indent="0" marL="0">
              <a:buNone/>
            </a:pPr>
            <a:r>
              <a:rPr lang="en-US" sz="1400" b="1" dirty="0">
                <a:solidFill>
                  <a:srgbClr val="12191C"/>
                </a:solidFill>
              </a:rPr>
              <a:t>exit leaves</a:t>
            </a:r>
            <a:endParaRPr lang="en-US" sz="1400" dirty="0"/>
          </a:p>
        </p:txBody>
      </p:sp>
      <p:sp>
        <p:nvSpPr>
          <p:cNvPr id="17" name="fm-c4-text"/>
          <p:cNvSpPr txBox="1"/>
          <p:nvPr/>
        </p:nvSpPr>
        <p:spPr>
          <a:xfrm>
            <a:off x="8092440" y="5340096"/>
            <a:ext cx="3182112" cy="201168"/>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Or Ctrl + D twice.</a:t>
            </a:r>
            <a:endParaRPr lang="en-US" sz="1300" dirty="0"/>
          </a:p>
        </p:txBody>
      </p:sp>
      <p:sp>
        <p:nvSpPr>
          <p:cNvPr id="18" name="fm-ask"/>
          <p:cNvSpPr/>
          <p:nvPr/>
        </p:nvSpPr>
        <p:spPr>
          <a:xfrm>
            <a:off x="640080" y="4297680"/>
            <a:ext cx="6858000" cy="1188720"/>
          </a:xfrm>
          <a:prstGeom prst="roundRect">
            <a:avLst>
              <a:gd name="adj" fmla="val 2692"/>
            </a:avLst>
          </a:prstGeom>
          <a:solidFill>
            <a:srgbClr val="1E292F"/>
          </a:solidFill>
          <a:ln/>
          <a:effectLst>
            <a:outerShdw sx="100000" sy="100000" kx="0" ky="0" algn="bl" rotWithShape="0" blurRad="101600" dist="12700" dir="5400000">
              <a:srgbClr val="000000">
                <a:alpha val="10000"/>
              </a:srgbClr>
            </a:outerShdw>
          </a:effectLst>
        </p:spPr>
      </p:sp>
      <p:sp>
        <p:nvSpPr>
          <p:cNvPr id="19" name="fm-ask-head"/>
          <p:cNvSpPr txBox="1"/>
          <p:nvPr/>
        </p:nvSpPr>
        <p:spPr>
          <a:xfrm>
            <a:off x="914400" y="4498848"/>
            <a:ext cx="6309360" cy="402336"/>
          </a:xfrm>
          <a:prstGeom prst="rect">
            <a:avLst/>
          </a:prstGeom>
          <a:noFill/>
          <a:ln/>
        </p:spPr>
        <p:txBody>
          <a:bodyPr wrap="square" lIns="0" tIns="0" rIns="0" bIns="0" rtlCol="0" anchor="ctr"/>
          <a:lstStyle/>
          <a:p>
            <a:pPr indent="0" marL="0">
              <a:buNone/>
            </a:pPr>
            <a:r>
              <a:rPr lang="en-US" sz="1500" b="1" dirty="0">
                <a:solidFill>
                  <a:srgbClr val="FFFFFF"/>
                </a:solidFill>
              </a:rPr>
              <a:t>Ask it about itself</a:t>
            </a:r>
            <a:endParaRPr lang="en-US" sz="1500" dirty="0"/>
          </a:p>
        </p:txBody>
      </p:sp>
      <p:sp>
        <p:nvSpPr>
          <p:cNvPr id="20" name="fm-ask-text"/>
          <p:cNvSpPr txBox="1"/>
          <p:nvPr/>
        </p:nvSpPr>
        <p:spPr>
          <a:xfrm>
            <a:off x="914400" y="4919472"/>
            <a:ext cx="6309360" cy="420624"/>
          </a:xfrm>
          <a:prstGeom prst="rect">
            <a:avLst/>
          </a:prstGeom>
          <a:noFill/>
          <a:ln/>
        </p:spPr>
        <p:txBody>
          <a:bodyPr wrap="square" lIns="0" tIns="0" rIns="0" bIns="0" rtlCol="0" anchor="t"/>
          <a:lstStyle/>
          <a:p>
            <a:pPr indent="0" marL="0">
              <a:lnSpc>
                <a:spcPct val="118000"/>
              </a:lnSpc>
              <a:buNone/>
            </a:pPr>
            <a:r>
              <a:rPr lang="en-US" sz="1300" dirty="0">
                <a:solidFill>
                  <a:srgbClr val="EDF1F2"/>
                </a:solidFill>
              </a:rPr>
              <a:t>“What can you do?” and “how do I undo that?” are both reasonable first questions. It knows its own documentation.</a:t>
            </a:r>
            <a:endParaRPr lang="en-US" sz="1300" dirty="0"/>
          </a:p>
        </p:txBody>
      </p:sp>
      <p:sp>
        <p:nvSpPr>
          <p:cNvPr id="22"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It asks before it changes your files</a:t>
            </a:r>
            <a:endParaRPr lang="en-US" sz="3300" dirty="0"/>
          </a:p>
        </p:txBody>
      </p:sp>
      <p:sp>
        <p:nvSpPr>
          <p:cNvPr id="3" name="perm-term"/>
          <p:cNvSpPr/>
          <p:nvPr/>
        </p:nvSpPr>
        <p:spPr>
          <a:xfrm>
            <a:off x="640080" y="1874520"/>
            <a:ext cx="6858000" cy="1852574"/>
          </a:xfrm>
          <a:prstGeom prst="roundRect">
            <a:avLst>
              <a:gd name="adj" fmla="val 1728"/>
            </a:avLst>
          </a:prstGeom>
          <a:solidFill>
            <a:srgbClr val="12191C"/>
          </a:solidFill>
          <a:ln/>
          <a:effectLst>
            <a:outerShdw sx="100000" sy="100000" kx="0" ky="0" algn="bl" rotWithShape="0" blurRad="127000" dist="25400" dir="5400000">
              <a:srgbClr val="000000">
                <a:alpha val="18000"/>
              </a:srgbClr>
            </a:outerShdw>
          </a:effectLst>
        </p:spPr>
      </p:sp>
      <p:sp>
        <p:nvSpPr>
          <p:cNvPr id="4" name="perm-term-text"/>
          <p:cNvSpPr txBox="1"/>
          <p:nvPr/>
        </p:nvSpPr>
        <p:spPr>
          <a:xfrm>
            <a:off x="896112" y="2057400"/>
            <a:ext cx="6345936" cy="1486814"/>
          </a:xfrm>
          <a:prstGeom prst="rect">
            <a:avLst/>
          </a:prstGeom>
          <a:noFill/>
          <a:ln/>
        </p:spPr>
        <p:txBody>
          <a:bodyPr wrap="square" lIns="0" tIns="0" rIns="0" bIns="0" rtlCol="0" anchor="t"/>
          <a:lstStyle/>
          <a:p>
            <a:pPr indent="0" marL="0">
              <a:lnSpc>
                <a:spcPct val="112000"/>
              </a:lnSpc>
              <a:buNone/>
            </a:pPr>
            <a:r>
              <a:rPr lang="en-US" sz="1300" dirty="0">
                <a:solidFill>
                  <a:srgbClr val="9FAEB7"/>
                </a:solidFill>
                <a:latin typeface="Courier New" pitchFamily="34" charset="0"/>
                <a:ea typeface="Courier New" pitchFamily="34" charset="-122"/>
                <a:cs typeface="Courier New" pitchFamily="34" charset="-120"/>
              </a:rPr>
              <a:t>  Edit file</a:t>
            </a:r>
            <a:endParaRPr lang="en-US" sz="1300" dirty="0"/>
          </a:p>
          <a:p>
            <a:pPr indent="0" marL="0">
              <a:lnSpc>
                <a:spcPct val="112000"/>
              </a:lnSpc>
              <a:buNone/>
            </a:pPr>
            <a:r>
              <a:rPr lang="en-US" sz="1300" dirty="0">
                <a:solidFill>
                  <a:srgbClr val="9FAEB7"/>
                </a:solidFill>
                <a:latin typeface="Courier New" pitchFamily="34" charset="0"/>
                <a:ea typeface="Courier New" pitchFamily="34" charset="-122"/>
                <a:cs typeface="Courier New" pitchFamily="34" charset="-120"/>
              </a:rPr>
              <a:t>  index.html</a:t>
            </a:r>
            <a:endParaRPr lang="en-US" sz="1300" dirty="0"/>
          </a:p>
          <a:p>
            <a:pPr indent="0" marL="0">
              <a:lnSpc>
                <a:spcPct val="112000"/>
              </a:lnSpc>
              <a:buNone/>
            </a:pPr>
            <a:r>
              <a:rPr lang="en-US" sz="1300" dirty="0">
                <a:solidFill>
                  <a:srgbClr val="E8766C"/>
                </a:solidFill>
                <a:latin typeface="Courier New" pitchFamily="34" charset="0"/>
                <a:ea typeface="Courier New" pitchFamily="34" charset="-122"/>
                <a:cs typeface="Courier New" pitchFamily="34" charset="-120"/>
              </a:rPr>
              <a:t>  -  &lt;h1&gt;Hello&lt;/h1&gt;</a:t>
            </a:r>
            <a:endParaRPr lang="en-US" sz="1300" dirty="0"/>
          </a:p>
          <a:p>
            <a:pPr indent="0" marL="0">
              <a:lnSpc>
                <a:spcPct val="112000"/>
              </a:lnSpc>
              <a:buNone/>
            </a:pPr>
            <a:r>
              <a:rPr lang="en-US" sz="1300" dirty="0">
                <a:solidFill>
                  <a:srgbClr val="73BF95"/>
                </a:solidFill>
                <a:latin typeface="Courier New" pitchFamily="34" charset="0"/>
                <a:ea typeface="Courier New" pitchFamily="34" charset="-122"/>
                <a:cs typeface="Courier New" pitchFamily="34" charset="-120"/>
              </a:rPr>
              <a:t>  +  &lt;h1&gt;Hello, Rowan&lt;/h1&gt;</a:t>
            </a:r>
            <a:endParaRPr lang="en-US" sz="1300" dirty="0"/>
          </a:p>
          <a:p>
            <a:pPr indent="0" marL="0">
              <a:lnSpc>
                <a:spcPct val="112000"/>
              </a:lnSpc>
              <a:buNone/>
            </a:pPr>
            <a:r>
              <a:rPr lang="en-US" sz="700" dirty="0">
                <a:solidFill>
                  <a:srgbClr val="12191C"/>
                </a:solidFill>
                <a:latin typeface="Courier New" pitchFamily="34" charset="0"/>
                <a:ea typeface="Courier New" pitchFamily="34" charset="-122"/>
                <a:cs typeface="Courier New" pitchFamily="34" charset="-120"/>
              </a:rPr>
              <a:t> </a:t>
            </a:r>
            <a:endParaRPr lang="en-US" sz="1300" dirty="0"/>
          </a:p>
          <a:p>
            <a:pPr indent="0" marL="0">
              <a:lnSpc>
                <a:spcPct val="112000"/>
              </a:lnSpc>
              <a:buNone/>
            </a:pPr>
            <a:r>
              <a:rPr lang="en-US" sz="1300" dirty="0">
                <a:solidFill>
                  <a:srgbClr val="EDF1F2"/>
                </a:solidFill>
                <a:latin typeface="Courier New" pitchFamily="34" charset="0"/>
                <a:ea typeface="Courier New" pitchFamily="34" charset="-122"/>
                <a:cs typeface="Courier New" pitchFamily="34" charset="-120"/>
              </a:rPr>
              <a:t>  Do you want to make this edit?</a:t>
            </a:r>
            <a:endParaRPr lang="en-US" sz="1300" dirty="0"/>
          </a:p>
          <a:p>
            <a:pPr indent="0" marL="0">
              <a:lnSpc>
                <a:spcPct val="112000"/>
              </a:lnSpc>
              <a:buNone/>
            </a:pPr>
            <a:r>
              <a:rPr lang="en-US" sz="1300" b="1" dirty="0">
                <a:solidFill>
                  <a:srgbClr val="E5A24A"/>
                </a:solidFill>
                <a:latin typeface="Courier New" pitchFamily="34" charset="0"/>
                <a:ea typeface="Courier New" pitchFamily="34" charset="-122"/>
                <a:cs typeface="Courier New" pitchFamily="34" charset="-120"/>
              </a:rPr>
              <a:t>  ❯ 1. Yes</a:t>
            </a:r>
            <a:endParaRPr lang="en-US" sz="1300" dirty="0"/>
          </a:p>
          <a:p>
            <a:pPr indent="0" marL="0">
              <a:lnSpc>
                <a:spcPct val="112000"/>
              </a:lnSpc>
              <a:buNone/>
            </a:pPr>
            <a:r>
              <a:rPr lang="en-US" sz="1300" dirty="0">
                <a:solidFill>
                  <a:srgbClr val="9FAEB7"/>
                </a:solidFill>
                <a:latin typeface="Courier New" pitchFamily="34" charset="0"/>
                <a:ea typeface="Courier New" pitchFamily="34" charset="-122"/>
                <a:cs typeface="Courier New" pitchFamily="34" charset="-120"/>
              </a:rPr>
              <a:t>    2. No, tell Claude what to do differently</a:t>
            </a:r>
            <a:endParaRPr lang="en-US" sz="1300" dirty="0"/>
          </a:p>
        </p:txBody>
      </p:sp>
      <p:sp>
        <p:nvSpPr>
          <p:cNvPr id="5" name="pm-c1"/>
          <p:cNvSpPr/>
          <p:nvPr/>
        </p:nvSpPr>
        <p:spPr>
          <a:xfrm>
            <a:off x="7818120" y="1874520"/>
            <a:ext cx="3730752" cy="1417320"/>
          </a:xfrm>
          <a:prstGeom prst="roundRect">
            <a:avLst>
              <a:gd name="adj" fmla="val 2258"/>
            </a:avLst>
          </a:prstGeom>
          <a:solidFill>
            <a:srgbClr val="EDF1F2"/>
          </a:solidFill>
          <a:ln/>
          <a:effectLst>
            <a:outerShdw sx="100000" sy="100000" kx="0" ky="0" algn="bl" rotWithShape="0" blurRad="101600" dist="12700" dir="5400000">
              <a:srgbClr val="000000">
                <a:alpha val="10000"/>
              </a:srgbClr>
            </a:outerShdw>
          </a:effectLst>
        </p:spPr>
      </p:sp>
      <p:sp>
        <p:nvSpPr>
          <p:cNvPr id="6" name="pm-c1-head"/>
          <p:cNvSpPr txBox="1"/>
          <p:nvPr/>
        </p:nvSpPr>
        <p:spPr>
          <a:xfrm>
            <a:off x="8092440" y="2075688"/>
            <a:ext cx="3182112" cy="402336"/>
          </a:xfrm>
          <a:prstGeom prst="rect">
            <a:avLst/>
          </a:prstGeom>
          <a:noFill/>
          <a:ln/>
        </p:spPr>
        <p:txBody>
          <a:bodyPr wrap="square" lIns="0" tIns="0" rIns="0" bIns="0" rtlCol="0" anchor="ctr"/>
          <a:lstStyle/>
          <a:p>
            <a:pPr indent="0" marL="0">
              <a:buNone/>
            </a:pPr>
            <a:r>
              <a:rPr lang="en-US" sz="1500" b="1" dirty="0">
                <a:solidFill>
                  <a:srgbClr val="12191C"/>
                </a:solidFill>
              </a:rPr>
              <a:t>Read the red and green</a:t>
            </a:r>
            <a:endParaRPr lang="en-US" sz="1500" dirty="0"/>
          </a:p>
        </p:txBody>
      </p:sp>
      <p:sp>
        <p:nvSpPr>
          <p:cNvPr id="7" name="pm-c1-text"/>
          <p:cNvSpPr txBox="1"/>
          <p:nvPr/>
        </p:nvSpPr>
        <p:spPr>
          <a:xfrm>
            <a:off x="8092440" y="2496312"/>
            <a:ext cx="3182112" cy="649224"/>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Red is what leaves, green is what arrives. This is the habit that keeps you in charge.</a:t>
            </a:r>
            <a:endParaRPr lang="en-US" sz="1300" dirty="0"/>
          </a:p>
        </p:txBody>
      </p:sp>
      <p:sp>
        <p:nvSpPr>
          <p:cNvPr id="8" name="pm-c2"/>
          <p:cNvSpPr/>
          <p:nvPr/>
        </p:nvSpPr>
        <p:spPr>
          <a:xfrm>
            <a:off x="7818120" y="3429000"/>
            <a:ext cx="3730752" cy="1417320"/>
          </a:xfrm>
          <a:prstGeom prst="roundRect">
            <a:avLst>
              <a:gd name="adj" fmla="val 2258"/>
            </a:avLst>
          </a:prstGeom>
          <a:solidFill>
            <a:srgbClr val="EDF1F2"/>
          </a:solidFill>
          <a:ln/>
          <a:effectLst>
            <a:outerShdw sx="100000" sy="100000" kx="0" ky="0" algn="bl" rotWithShape="0" blurRad="101600" dist="12700" dir="5400000">
              <a:srgbClr val="000000">
                <a:alpha val="10000"/>
              </a:srgbClr>
            </a:outerShdw>
          </a:effectLst>
        </p:spPr>
      </p:sp>
      <p:sp>
        <p:nvSpPr>
          <p:cNvPr id="9" name="pm-c2-head"/>
          <p:cNvSpPr txBox="1"/>
          <p:nvPr/>
        </p:nvSpPr>
        <p:spPr>
          <a:xfrm>
            <a:off x="8092440" y="3630168"/>
            <a:ext cx="3182112" cy="402336"/>
          </a:xfrm>
          <a:prstGeom prst="rect">
            <a:avLst/>
          </a:prstGeom>
          <a:noFill/>
          <a:ln/>
        </p:spPr>
        <p:txBody>
          <a:bodyPr wrap="square" lIns="0" tIns="0" rIns="0" bIns="0" rtlCol="0" anchor="ctr"/>
          <a:lstStyle/>
          <a:p>
            <a:pPr indent="0" marL="0">
              <a:buNone/>
            </a:pPr>
            <a:r>
              <a:rPr lang="en-US" sz="1500" b="1" dirty="0">
                <a:solidFill>
                  <a:srgbClr val="12191C"/>
                </a:solidFill>
              </a:rPr>
              <a:t>Saying no is useful</a:t>
            </a:r>
            <a:endParaRPr lang="en-US" sz="1500" dirty="0"/>
          </a:p>
        </p:txBody>
      </p:sp>
      <p:sp>
        <p:nvSpPr>
          <p:cNvPr id="10" name="pm-c2-text"/>
          <p:cNvSpPr txBox="1"/>
          <p:nvPr/>
        </p:nvSpPr>
        <p:spPr>
          <a:xfrm>
            <a:off x="8092440" y="4050792"/>
            <a:ext cx="3182112" cy="649224"/>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Choosing no lets you explain what you wanted instead. It is a conversation, not a refusal.</a:t>
            </a:r>
            <a:endParaRPr lang="en-US" sz="1300" dirty="0"/>
          </a:p>
        </p:txBody>
      </p:sp>
      <p:sp>
        <p:nvSpPr>
          <p:cNvPr id="11" name="pm-c3"/>
          <p:cNvSpPr/>
          <p:nvPr/>
        </p:nvSpPr>
        <p:spPr>
          <a:xfrm>
            <a:off x="7818120" y="4956048"/>
            <a:ext cx="3730752" cy="1188720"/>
          </a:xfrm>
          <a:prstGeom prst="roundRect">
            <a:avLst>
              <a:gd name="adj" fmla="val 2692"/>
            </a:avLst>
          </a:prstGeom>
          <a:solidFill>
            <a:srgbClr val="EDF1F2"/>
          </a:solidFill>
          <a:ln/>
          <a:effectLst>
            <a:outerShdw sx="100000" sy="100000" kx="0" ky="0" algn="bl" rotWithShape="0" blurRad="101600" dist="12700" dir="5400000">
              <a:srgbClr val="000000">
                <a:alpha val="10000"/>
              </a:srgbClr>
            </a:outerShdw>
          </a:effectLst>
        </p:spPr>
      </p:sp>
      <p:sp>
        <p:nvSpPr>
          <p:cNvPr id="12" name="pm-c3-head"/>
          <p:cNvSpPr txBox="1"/>
          <p:nvPr/>
        </p:nvSpPr>
        <p:spPr>
          <a:xfrm>
            <a:off x="8092440" y="5157216"/>
            <a:ext cx="3182112" cy="402336"/>
          </a:xfrm>
          <a:prstGeom prst="rect">
            <a:avLst/>
          </a:prstGeom>
          <a:noFill/>
          <a:ln/>
        </p:spPr>
        <p:txBody>
          <a:bodyPr wrap="square" lIns="0" tIns="0" rIns="0" bIns="0" rtlCol="0" anchor="ctr"/>
          <a:lstStyle/>
          <a:p>
            <a:pPr indent="0" marL="0">
              <a:buNone/>
            </a:pPr>
            <a:r>
              <a:rPr lang="en-US" sz="1500" b="1" dirty="0">
                <a:solidFill>
                  <a:srgbClr val="12191C"/>
                </a:solidFill>
              </a:rPr>
              <a:t>Shift + Tab</a:t>
            </a:r>
            <a:endParaRPr lang="en-US" sz="1500" dirty="0"/>
          </a:p>
        </p:txBody>
      </p:sp>
      <p:sp>
        <p:nvSpPr>
          <p:cNvPr id="13" name="pm-c3-text"/>
          <p:cNvSpPr txBox="1"/>
          <p:nvPr/>
        </p:nvSpPr>
        <p:spPr>
          <a:xfrm>
            <a:off x="8092440" y="5577840"/>
            <a:ext cx="3182112" cy="420624"/>
          </a:xfrm>
          <a:prstGeom prst="rect">
            <a:avLst/>
          </a:prstGeom>
          <a:noFill/>
          <a:ln/>
        </p:spPr>
        <p:txBody>
          <a:bodyPr wrap="square" lIns="0" tIns="0" rIns="0" bIns="0" rtlCol="0" anchor="t"/>
          <a:lstStyle/>
          <a:p>
            <a:pPr indent="0" marL="0">
              <a:lnSpc>
                <a:spcPct val="118000"/>
              </a:lnSpc>
              <a:buNone/>
            </a:pPr>
            <a:r>
              <a:rPr lang="en-US" sz="1300" dirty="0">
                <a:solidFill>
                  <a:srgbClr val="33444D"/>
                </a:solidFill>
              </a:rPr>
              <a:t>Cycles how much it asks. Leave it alone until you trust it.</a:t>
            </a:r>
            <a:endParaRPr lang="en-US" sz="1300" dirty="0"/>
          </a:p>
        </p:txBody>
      </p:sp>
      <p:sp>
        <p:nvSpPr>
          <p:cNvPr id="14" name="pm-sec"/>
          <p:cNvSpPr/>
          <p:nvPr/>
        </p:nvSpPr>
        <p:spPr>
          <a:xfrm>
            <a:off x="640080" y="4069080"/>
            <a:ext cx="6858000" cy="1371600"/>
          </a:xfrm>
          <a:prstGeom prst="roundRect">
            <a:avLst>
              <a:gd name="adj" fmla="val 2333"/>
            </a:avLst>
          </a:prstGeom>
          <a:solidFill>
            <a:srgbClr val="1E292F"/>
          </a:solidFill>
          <a:ln/>
          <a:effectLst>
            <a:outerShdw sx="100000" sy="100000" kx="0" ky="0" algn="bl" rotWithShape="0" blurRad="101600" dist="12700" dir="5400000">
              <a:srgbClr val="000000">
                <a:alpha val="10000"/>
              </a:srgbClr>
            </a:outerShdw>
          </a:effectLst>
        </p:spPr>
      </p:sp>
      <p:sp>
        <p:nvSpPr>
          <p:cNvPr id="15" name="pm-sec-head"/>
          <p:cNvSpPr txBox="1"/>
          <p:nvPr/>
        </p:nvSpPr>
        <p:spPr>
          <a:xfrm>
            <a:off x="914400" y="4270248"/>
            <a:ext cx="6309360" cy="402336"/>
          </a:xfrm>
          <a:prstGeom prst="rect">
            <a:avLst/>
          </a:prstGeom>
          <a:noFill/>
          <a:ln/>
        </p:spPr>
        <p:txBody>
          <a:bodyPr wrap="square" lIns="0" tIns="0" rIns="0" bIns="0" rtlCol="0" anchor="ctr"/>
          <a:lstStyle/>
          <a:p>
            <a:pPr indent="0" marL="0">
              <a:buNone/>
            </a:pPr>
            <a:r>
              <a:rPr lang="en-US" sz="1500" b="1" dirty="0">
                <a:solidFill>
                  <a:srgbClr val="FFFFFF"/>
                </a:solidFill>
              </a:rPr>
              <a:t>Two things to keep out of the terminal</a:t>
            </a:r>
            <a:endParaRPr lang="en-US" sz="1500" dirty="0"/>
          </a:p>
        </p:txBody>
      </p:sp>
      <p:sp>
        <p:nvSpPr>
          <p:cNvPr id="16" name="pm-sec-text"/>
          <p:cNvSpPr txBox="1"/>
          <p:nvPr/>
        </p:nvSpPr>
        <p:spPr>
          <a:xfrm>
            <a:off x="914400" y="4690872"/>
            <a:ext cx="6309360" cy="603504"/>
          </a:xfrm>
          <a:prstGeom prst="rect">
            <a:avLst/>
          </a:prstGeom>
          <a:noFill/>
          <a:ln/>
        </p:spPr>
        <p:txBody>
          <a:bodyPr wrap="square" lIns="0" tIns="0" rIns="0" bIns="0" rtlCol="0" anchor="t"/>
          <a:lstStyle/>
          <a:p>
            <a:pPr indent="0" marL="0">
              <a:lnSpc>
                <a:spcPct val="118000"/>
              </a:lnSpc>
              <a:buNone/>
            </a:pPr>
            <a:r>
              <a:rPr lang="en-US" sz="1300" dirty="0">
                <a:solidFill>
                  <a:srgbClr val="EDF1F2"/>
                </a:solidFill>
              </a:rPr>
              <a:t>Passwords and API keys. Do not paste them into a session and do not save them into a project you might put on GitHub — a public repo publishes them to everyone.</a:t>
            </a:r>
            <a:endParaRPr lang="en-US" sz="1300" dirty="0"/>
          </a:p>
        </p:txBody>
      </p:sp>
      <p:sp>
        <p:nvSpPr>
          <p:cNvPr id="18"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tx1"/>
                </a:solidFill>
              </a:rPr>
              <a:t>The three errors you will actually hit</a:t>
            </a:r>
            <a:endParaRPr lang="en-US" sz="3300" dirty="0"/>
          </a:p>
        </p:txBody>
      </p:sp>
      <p:sp>
        <p:nvSpPr>
          <p:cNvPr id="3" name="e1"/>
          <p:cNvSpPr/>
          <p:nvPr/>
        </p:nvSpPr>
        <p:spPr>
          <a:xfrm>
            <a:off x="640080" y="1874520"/>
            <a:ext cx="4572000" cy="621792"/>
          </a:xfrm>
          <a:prstGeom prst="roundRect">
            <a:avLst>
              <a:gd name="adj" fmla="val 5147"/>
            </a:avLst>
          </a:prstGeom>
          <a:solidFill>
            <a:srgbClr val="12191C"/>
          </a:solidFill>
          <a:ln/>
          <a:effectLst>
            <a:outerShdw sx="100000" sy="100000" kx="0" ky="0" algn="bl" rotWithShape="0" blurRad="127000" dist="25400" dir="5400000">
              <a:srgbClr val="000000">
                <a:alpha val="18000"/>
              </a:srgbClr>
            </a:outerShdw>
          </a:effectLst>
        </p:spPr>
      </p:sp>
      <p:sp>
        <p:nvSpPr>
          <p:cNvPr id="4" name="e1-text"/>
          <p:cNvSpPr txBox="1"/>
          <p:nvPr/>
        </p:nvSpPr>
        <p:spPr>
          <a:xfrm>
            <a:off x="896112" y="2057400"/>
            <a:ext cx="4059936" cy="256032"/>
          </a:xfrm>
          <a:prstGeom prst="rect">
            <a:avLst/>
          </a:prstGeom>
          <a:noFill/>
          <a:ln/>
        </p:spPr>
        <p:txBody>
          <a:bodyPr wrap="square" lIns="0" tIns="0" rIns="0" bIns="0" rtlCol="0" anchor="t"/>
          <a:lstStyle/>
          <a:p>
            <a:pPr indent="0" marL="0">
              <a:lnSpc>
                <a:spcPct val="112000"/>
              </a:lnSpc>
              <a:buNone/>
            </a:pPr>
            <a:r>
              <a:rPr lang="en-US" sz="1400" dirty="0">
                <a:solidFill>
                  <a:srgbClr val="E8766C"/>
                </a:solidFill>
                <a:latin typeface="Courier New" pitchFamily="34" charset="0"/>
                <a:ea typeface="Courier New" pitchFamily="34" charset="-122"/>
                <a:cs typeface="Courier New" pitchFamily="34" charset="-120"/>
              </a:rPr>
              <a:t>command not found: claude</a:t>
            </a:r>
            <a:endParaRPr lang="en-US" sz="1400" dirty="0"/>
          </a:p>
        </p:txBody>
      </p:sp>
      <p:sp>
        <p:nvSpPr>
          <p:cNvPr id="5" name="caption"/>
          <p:cNvSpPr txBox="1"/>
          <p:nvPr/>
        </p:nvSpPr>
        <p:spPr>
          <a:xfrm>
            <a:off x="5715000" y="1856232"/>
            <a:ext cx="5836615" cy="548640"/>
          </a:xfrm>
          <a:prstGeom prst="rect">
            <a:avLst/>
          </a:prstGeom>
          <a:noFill/>
          <a:ln/>
        </p:spPr>
        <p:txBody>
          <a:bodyPr wrap="square" lIns="0" tIns="0" rIns="0" bIns="0" rtlCol="0" anchor="t"/>
          <a:lstStyle/>
          <a:p>
            <a:pPr algn="l" indent="0" marL="0">
              <a:lnSpc>
                <a:spcPct val="118000"/>
              </a:lnSpc>
              <a:buNone/>
            </a:pPr>
            <a:r>
              <a:rPr lang="en-US" sz="1350" dirty="0">
                <a:solidFill>
                  <a:srgbClr val="33444D"/>
                </a:solidFill>
              </a:rPr>
              <a:t>It installed, but your terminal does not know where to look. Run this once, then open a new window:</a:t>
            </a:r>
            <a:endParaRPr lang="en-US" sz="1350" dirty="0"/>
          </a:p>
        </p:txBody>
      </p:sp>
      <p:sp>
        <p:nvSpPr>
          <p:cNvPr id="6" name="e1fix"/>
          <p:cNvSpPr/>
          <p:nvPr/>
        </p:nvSpPr>
        <p:spPr>
          <a:xfrm>
            <a:off x="5715000" y="2441448"/>
            <a:ext cx="5836615" cy="530352"/>
          </a:xfrm>
          <a:prstGeom prst="roundRect">
            <a:avLst>
              <a:gd name="adj" fmla="val 6034"/>
            </a:avLst>
          </a:prstGeom>
          <a:solidFill>
            <a:srgbClr val="12191C"/>
          </a:solidFill>
          <a:ln/>
          <a:effectLst>
            <a:outerShdw sx="100000" sy="100000" kx="0" ky="0" algn="bl" rotWithShape="0" blurRad="127000" dist="25400" dir="5400000">
              <a:srgbClr val="000000">
                <a:alpha val="18000"/>
              </a:srgbClr>
            </a:outerShdw>
          </a:effectLst>
        </p:spPr>
      </p:sp>
      <p:sp>
        <p:nvSpPr>
          <p:cNvPr id="7" name="e1fix-text"/>
          <p:cNvSpPr txBox="1"/>
          <p:nvPr/>
        </p:nvSpPr>
        <p:spPr>
          <a:xfrm>
            <a:off x="5971032" y="2624328"/>
            <a:ext cx="5324551" cy="164592"/>
          </a:xfrm>
          <a:prstGeom prst="rect">
            <a:avLst/>
          </a:prstGeom>
          <a:noFill/>
          <a:ln/>
        </p:spPr>
        <p:txBody>
          <a:bodyPr wrap="square" lIns="0" tIns="0" rIns="0" bIns="0" rtlCol="0" anchor="t"/>
          <a:lstStyle/>
          <a:p>
            <a:pPr indent="0" marL="0">
              <a:lnSpc>
                <a:spcPct val="112000"/>
              </a:lnSpc>
              <a:buNone/>
            </a:pPr>
            <a:r>
              <a:rPr lang="en-US" sz="1150" b="1" dirty="0">
                <a:solidFill>
                  <a:srgbClr val="E5A24A"/>
                </a:solidFill>
                <a:latin typeface="Courier New" pitchFamily="34" charset="0"/>
                <a:ea typeface="Courier New" pitchFamily="34" charset="-122"/>
                <a:cs typeface="Courier New" pitchFamily="34" charset="-120"/>
              </a:rPr>
              <a:t>echo 'export PATH="$HOME/.local/bin:$PATH"' &gt;&gt; ~/.zshrc</a:t>
            </a:r>
            <a:endParaRPr lang="en-US" sz="1150" dirty="0"/>
          </a:p>
        </p:txBody>
      </p:sp>
      <p:sp>
        <p:nvSpPr>
          <p:cNvPr id="8" name="e2"/>
          <p:cNvSpPr/>
          <p:nvPr/>
        </p:nvSpPr>
        <p:spPr>
          <a:xfrm>
            <a:off x="640080" y="3200400"/>
            <a:ext cx="4572000" cy="621792"/>
          </a:xfrm>
          <a:prstGeom prst="roundRect">
            <a:avLst>
              <a:gd name="adj" fmla="val 5147"/>
            </a:avLst>
          </a:prstGeom>
          <a:solidFill>
            <a:srgbClr val="12191C"/>
          </a:solidFill>
          <a:ln/>
          <a:effectLst>
            <a:outerShdw sx="100000" sy="100000" kx="0" ky="0" algn="bl" rotWithShape="0" blurRad="127000" dist="25400" dir="5400000">
              <a:srgbClr val="000000">
                <a:alpha val="18000"/>
              </a:srgbClr>
            </a:outerShdw>
          </a:effectLst>
        </p:spPr>
      </p:sp>
      <p:sp>
        <p:nvSpPr>
          <p:cNvPr id="9" name="e2-text"/>
          <p:cNvSpPr txBox="1"/>
          <p:nvPr/>
        </p:nvSpPr>
        <p:spPr>
          <a:xfrm>
            <a:off x="896112" y="3383280"/>
            <a:ext cx="4059936" cy="256032"/>
          </a:xfrm>
          <a:prstGeom prst="rect">
            <a:avLst/>
          </a:prstGeom>
          <a:noFill/>
          <a:ln/>
        </p:spPr>
        <p:txBody>
          <a:bodyPr wrap="square" lIns="0" tIns="0" rIns="0" bIns="0" rtlCol="0" anchor="t"/>
          <a:lstStyle/>
          <a:p>
            <a:pPr indent="0" marL="0">
              <a:lnSpc>
                <a:spcPct val="112000"/>
              </a:lnSpc>
              <a:buNone/>
            </a:pPr>
            <a:r>
              <a:rPr lang="en-US" sz="1400" dirty="0">
                <a:solidFill>
                  <a:srgbClr val="E8766C"/>
                </a:solidFill>
                <a:latin typeface="Courier New" pitchFamily="34" charset="0"/>
                <a:ea typeface="Courier New" pitchFamily="34" charset="-122"/>
                <a:cs typeface="Courier New" pitchFamily="34" charset="-120"/>
              </a:rPr>
              <a:t>no such file or directory</a:t>
            </a:r>
            <a:endParaRPr lang="en-US" sz="1400" dirty="0"/>
          </a:p>
        </p:txBody>
      </p:sp>
      <p:sp>
        <p:nvSpPr>
          <p:cNvPr id="10" name="caption"/>
          <p:cNvSpPr txBox="1"/>
          <p:nvPr/>
        </p:nvSpPr>
        <p:spPr>
          <a:xfrm>
            <a:off x="5715000" y="3163824"/>
            <a:ext cx="5836615" cy="685800"/>
          </a:xfrm>
          <a:prstGeom prst="rect">
            <a:avLst/>
          </a:prstGeom>
          <a:noFill/>
          <a:ln/>
        </p:spPr>
        <p:txBody>
          <a:bodyPr wrap="square" lIns="0" tIns="0" rIns="0" bIns="0" rtlCol="0" anchor="t"/>
          <a:lstStyle/>
          <a:p>
            <a:pPr algn="l" indent="0" marL="0">
              <a:lnSpc>
                <a:spcPct val="118000"/>
              </a:lnSpc>
              <a:buNone/>
            </a:pPr>
            <a:r>
              <a:rPr lang="en-US" sz="1350" dirty="0">
                <a:solidFill>
                  <a:srgbClr val="33444D"/>
                </a:solidFill>
              </a:rPr>
              <a:t>You are not where you think you are, or the name is misspelled. Run pwd to see where you are and ls to see what is really there. Then use Tab.</a:t>
            </a:r>
            <a:endParaRPr lang="en-US" sz="1350" dirty="0"/>
          </a:p>
        </p:txBody>
      </p:sp>
      <p:sp>
        <p:nvSpPr>
          <p:cNvPr id="11" name="e3"/>
          <p:cNvSpPr/>
          <p:nvPr/>
        </p:nvSpPr>
        <p:spPr>
          <a:xfrm>
            <a:off x="640080" y="4315968"/>
            <a:ext cx="4572000" cy="621792"/>
          </a:xfrm>
          <a:prstGeom prst="roundRect">
            <a:avLst>
              <a:gd name="adj" fmla="val 5147"/>
            </a:avLst>
          </a:prstGeom>
          <a:solidFill>
            <a:srgbClr val="12191C"/>
          </a:solidFill>
          <a:ln/>
          <a:effectLst>
            <a:outerShdw sx="100000" sy="100000" kx="0" ky="0" algn="bl" rotWithShape="0" blurRad="127000" dist="25400" dir="5400000">
              <a:srgbClr val="000000">
                <a:alpha val="18000"/>
              </a:srgbClr>
            </a:outerShdw>
          </a:effectLst>
        </p:spPr>
      </p:sp>
      <p:sp>
        <p:nvSpPr>
          <p:cNvPr id="12" name="e3-text"/>
          <p:cNvSpPr txBox="1"/>
          <p:nvPr/>
        </p:nvSpPr>
        <p:spPr>
          <a:xfrm>
            <a:off x="896112" y="4498848"/>
            <a:ext cx="4059936" cy="256032"/>
          </a:xfrm>
          <a:prstGeom prst="rect">
            <a:avLst/>
          </a:prstGeom>
          <a:noFill/>
          <a:ln/>
        </p:spPr>
        <p:txBody>
          <a:bodyPr wrap="square" lIns="0" tIns="0" rIns="0" bIns="0" rtlCol="0" anchor="t"/>
          <a:lstStyle/>
          <a:p>
            <a:pPr indent="0" marL="0">
              <a:lnSpc>
                <a:spcPct val="112000"/>
              </a:lnSpc>
              <a:buNone/>
            </a:pPr>
            <a:r>
              <a:rPr lang="en-US" sz="1400" dirty="0">
                <a:solidFill>
                  <a:srgbClr val="E8766C"/>
                </a:solidFill>
                <a:latin typeface="Courier New" pitchFamily="34" charset="0"/>
                <a:ea typeface="Courier New" pitchFamily="34" charset="-122"/>
                <a:cs typeface="Courier New" pitchFamily="34" charset="-120"/>
              </a:rPr>
              <a:t>'irm' is not recognized</a:t>
            </a:r>
            <a:endParaRPr lang="en-US" sz="1400" dirty="0"/>
          </a:p>
        </p:txBody>
      </p:sp>
      <p:sp>
        <p:nvSpPr>
          <p:cNvPr id="13" name="caption"/>
          <p:cNvSpPr txBox="1"/>
          <p:nvPr/>
        </p:nvSpPr>
        <p:spPr>
          <a:xfrm>
            <a:off x="5715000" y="4279392"/>
            <a:ext cx="5836615" cy="685800"/>
          </a:xfrm>
          <a:prstGeom prst="rect">
            <a:avLst/>
          </a:prstGeom>
          <a:noFill/>
          <a:ln/>
        </p:spPr>
        <p:txBody>
          <a:bodyPr wrap="square" lIns="0" tIns="0" rIns="0" bIns="0" rtlCol="0" anchor="t"/>
          <a:lstStyle/>
          <a:p>
            <a:pPr algn="l" indent="0" marL="0">
              <a:lnSpc>
                <a:spcPct val="118000"/>
              </a:lnSpc>
              <a:buNone/>
            </a:pPr>
            <a:r>
              <a:rPr lang="en-US" sz="1350" dirty="0">
                <a:solidFill>
                  <a:srgbClr val="33444D"/>
                </a:solidFill>
              </a:rPr>
              <a:t>You are in CMD, not PowerShell. Close it, press Win + X, and choose Windows PowerShell. The line with PS at the front is the right window.</a:t>
            </a:r>
            <a:endParaRPr lang="en-US" sz="1350" dirty="0"/>
          </a:p>
        </p:txBody>
      </p:sp>
      <p:sp>
        <p:nvSpPr>
          <p:cNvPr id="14" name="e-ask"/>
          <p:cNvSpPr/>
          <p:nvPr/>
        </p:nvSpPr>
        <p:spPr>
          <a:xfrm>
            <a:off x="640080" y="5394960"/>
            <a:ext cx="10911535" cy="640080"/>
          </a:xfrm>
          <a:prstGeom prst="roundRect">
            <a:avLst>
              <a:gd name="adj" fmla="val 5000"/>
            </a:avLst>
          </a:prstGeom>
          <a:solidFill>
            <a:srgbClr val="1E292F"/>
          </a:solidFill>
          <a:ln/>
          <a:effectLst>
            <a:outerShdw sx="100000" sy="100000" kx="0" ky="0" algn="bl" rotWithShape="0" blurRad="101600" dist="12700" dir="5400000">
              <a:srgbClr val="000000">
                <a:alpha val="10000"/>
              </a:srgbClr>
            </a:outerShdw>
          </a:effectLst>
        </p:spPr>
      </p:sp>
      <p:sp>
        <p:nvSpPr>
          <p:cNvPr id="15" name="e-ask-head"/>
          <p:cNvSpPr txBox="1"/>
          <p:nvPr/>
        </p:nvSpPr>
        <p:spPr>
          <a:xfrm>
            <a:off x="914400" y="5596128"/>
            <a:ext cx="10362895" cy="274320"/>
          </a:xfrm>
          <a:prstGeom prst="rect">
            <a:avLst/>
          </a:prstGeom>
          <a:noFill/>
          <a:ln/>
        </p:spPr>
        <p:txBody>
          <a:bodyPr wrap="square" lIns="0" tIns="0" rIns="0" bIns="0" rtlCol="0" anchor="ctr"/>
          <a:lstStyle/>
          <a:p>
            <a:pPr indent="0" marL="0">
              <a:buNone/>
            </a:pPr>
            <a:r>
              <a:rPr lang="en-US" sz="1500" b="1" dirty="0">
                <a:solidFill>
                  <a:srgbClr val="FFFFFF"/>
                </a:solidFill>
              </a:rPr>
              <a:t>Or paste the error straight into Claude Code and ask what it means.</a:t>
            </a:r>
            <a:endParaRPr lang="en-US" sz="1500" dirty="0"/>
          </a:p>
        </p:txBody>
      </p:sp>
      <p:sp>
        <p:nvSpPr>
          <p:cNvPr id="17" name="Text 1"/>
          <p:cNvSpPr/>
          <p:nvPr>
            <p:ph idx="102"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804672"/>
            <a:ext cx="10911535" cy="868680"/>
          </a:xfrm>
          <a:prstGeom prst="rect">
            <a:avLst/>
          </a:prstGeom>
          <a:noFill/>
          <a:ln/>
        </p:spPr>
        <p:txBody>
          <a:bodyPr wrap="square" lIns="0" tIns="0" rIns="0" bIns="0" rtlCol="0" anchor="ctr"/>
          <a:lstStyle/>
          <a:p>
            <a:pPr algn="l" indent="0" marL="0">
              <a:buNone/>
            </a:pPr>
            <a:r>
              <a:rPr lang="en-US" sz="3300" b="1" dirty="0">
                <a:solidFill>
                  <a:schemeClr val="bg1"/>
                </a:solidFill>
              </a:rPr>
              <a:t>Everything, in order</a:t>
            </a:r>
            <a:endParaRPr lang="en-US" sz="3300" dirty="0"/>
          </a:p>
        </p:txBody>
      </p:sp>
      <p:sp>
        <p:nvSpPr>
          <p:cNvPr id="3" name="seq-bg-0"/>
          <p:cNvSpPr/>
          <p:nvPr/>
        </p:nvSpPr>
        <p:spPr>
          <a:xfrm>
            <a:off x="640080" y="1856232"/>
            <a:ext cx="402336" cy="402336"/>
          </a:xfrm>
          <a:prstGeom prst="ellipse">
            <a:avLst/>
          </a:prstGeom>
          <a:solidFill>
            <a:srgbClr val="9E5E0D"/>
          </a:solidFill>
          <a:ln/>
        </p:spPr>
      </p:sp>
      <p:sp>
        <p:nvSpPr>
          <p:cNvPr id="4" name="seq-n-0"/>
          <p:cNvSpPr txBox="1"/>
          <p:nvPr/>
        </p:nvSpPr>
        <p:spPr>
          <a:xfrm>
            <a:off x="640080" y="1856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seq-h-0"/>
          <p:cNvSpPr txBox="1"/>
          <p:nvPr/>
        </p:nvSpPr>
        <p:spPr>
          <a:xfrm>
            <a:off x="1225296" y="1783080"/>
            <a:ext cx="4114800" cy="548640"/>
          </a:xfrm>
          <a:prstGeom prst="rect">
            <a:avLst/>
          </a:prstGeom>
          <a:noFill/>
          <a:ln/>
        </p:spPr>
        <p:txBody>
          <a:bodyPr wrap="square" lIns="0" tIns="0" rIns="0" bIns="0" rtlCol="0" anchor="ctr"/>
          <a:lstStyle/>
          <a:p>
            <a:pPr indent="0" marL="0">
              <a:buNone/>
            </a:pPr>
            <a:r>
              <a:rPr lang="en-US" sz="1700" b="1" dirty="0">
                <a:solidFill>
                  <a:srgbClr val="FFFFFF"/>
                </a:solidFill>
              </a:rPr>
              <a:t>Open a terminal</a:t>
            </a:r>
            <a:endParaRPr lang="en-US" sz="1700" dirty="0"/>
          </a:p>
        </p:txBody>
      </p:sp>
      <p:sp>
        <p:nvSpPr>
          <p:cNvPr id="6" name="seq-c-0"/>
          <p:cNvSpPr txBox="1"/>
          <p:nvPr/>
        </p:nvSpPr>
        <p:spPr>
          <a:xfrm>
            <a:off x="5440680" y="1783080"/>
            <a:ext cx="6108192" cy="548640"/>
          </a:xfrm>
          <a:prstGeom prst="rect">
            <a:avLst/>
          </a:prstGeom>
          <a:noFill/>
          <a:ln/>
        </p:spPr>
        <p:txBody>
          <a:bodyPr wrap="square" lIns="0" tIns="0" rIns="0" bIns="0" rtlCol="0" anchor="ctr"/>
          <a:lstStyle/>
          <a:p>
            <a:pPr indent="0" marL="0">
              <a:buNone/>
            </a:pPr>
            <a:r>
              <a:rPr lang="en-US" sz="1400" dirty="0">
                <a:solidFill>
                  <a:srgbClr val="9FAEB7"/>
                </a:solidFill>
                <a:latin typeface="Courier New" pitchFamily="34" charset="0"/>
                <a:ea typeface="Courier New" pitchFamily="34" charset="-122"/>
                <a:cs typeface="Courier New" pitchFamily="34" charset="-120"/>
              </a:rPr>
              <a:t>Cmd + Space, type Terminal</a:t>
            </a:r>
            <a:endParaRPr lang="en-US" sz="1400" dirty="0"/>
          </a:p>
        </p:txBody>
      </p:sp>
      <p:sp>
        <p:nvSpPr>
          <p:cNvPr id="7" name="seq-bg-1"/>
          <p:cNvSpPr/>
          <p:nvPr/>
        </p:nvSpPr>
        <p:spPr>
          <a:xfrm>
            <a:off x="640080" y="2624328"/>
            <a:ext cx="402336" cy="402336"/>
          </a:xfrm>
          <a:prstGeom prst="ellipse">
            <a:avLst/>
          </a:prstGeom>
          <a:solidFill>
            <a:srgbClr val="9E5E0D"/>
          </a:solidFill>
          <a:ln/>
        </p:spPr>
      </p:sp>
      <p:sp>
        <p:nvSpPr>
          <p:cNvPr id="8" name="seq-n-1"/>
          <p:cNvSpPr txBox="1"/>
          <p:nvPr/>
        </p:nvSpPr>
        <p:spPr>
          <a:xfrm>
            <a:off x="640080" y="26243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seq-h-1"/>
          <p:cNvSpPr txBox="1"/>
          <p:nvPr/>
        </p:nvSpPr>
        <p:spPr>
          <a:xfrm>
            <a:off x="1225296" y="2551176"/>
            <a:ext cx="4114800" cy="548640"/>
          </a:xfrm>
          <a:prstGeom prst="rect">
            <a:avLst/>
          </a:prstGeom>
          <a:noFill/>
          <a:ln/>
        </p:spPr>
        <p:txBody>
          <a:bodyPr wrap="square" lIns="0" tIns="0" rIns="0" bIns="0" rtlCol="0" anchor="ctr"/>
          <a:lstStyle/>
          <a:p>
            <a:pPr indent="0" marL="0">
              <a:buNone/>
            </a:pPr>
            <a:r>
              <a:rPr lang="en-US" sz="1700" b="1" dirty="0">
                <a:solidFill>
                  <a:srgbClr val="FFFFFF"/>
                </a:solidFill>
              </a:rPr>
              <a:t>Install Claude Code, once</a:t>
            </a:r>
            <a:endParaRPr lang="en-US" sz="1700" dirty="0"/>
          </a:p>
        </p:txBody>
      </p:sp>
      <p:sp>
        <p:nvSpPr>
          <p:cNvPr id="10" name="seq-c-1"/>
          <p:cNvSpPr txBox="1"/>
          <p:nvPr/>
        </p:nvSpPr>
        <p:spPr>
          <a:xfrm>
            <a:off x="5440680" y="2551176"/>
            <a:ext cx="6108192" cy="548640"/>
          </a:xfrm>
          <a:prstGeom prst="rect">
            <a:avLst/>
          </a:prstGeom>
          <a:noFill/>
          <a:ln/>
        </p:spPr>
        <p:txBody>
          <a:bodyPr wrap="square" lIns="0" tIns="0" rIns="0" bIns="0" rtlCol="0" anchor="ctr"/>
          <a:lstStyle/>
          <a:p>
            <a:pPr indent="0" marL="0">
              <a:buNone/>
            </a:pPr>
            <a:r>
              <a:rPr lang="en-US" sz="1400" dirty="0">
                <a:solidFill>
                  <a:srgbClr val="9FAEB7"/>
                </a:solidFill>
                <a:latin typeface="Courier New" pitchFamily="34" charset="0"/>
                <a:ea typeface="Courier New" pitchFamily="34" charset="-122"/>
                <a:cs typeface="Courier New" pitchFamily="34" charset="-120"/>
              </a:rPr>
              <a:t>curl -fsSL https://claude.ai/install.sh | bash</a:t>
            </a:r>
            <a:endParaRPr lang="en-US" sz="1400" dirty="0"/>
          </a:p>
        </p:txBody>
      </p:sp>
      <p:sp>
        <p:nvSpPr>
          <p:cNvPr id="11" name="seq-bg-2"/>
          <p:cNvSpPr/>
          <p:nvPr/>
        </p:nvSpPr>
        <p:spPr>
          <a:xfrm>
            <a:off x="640080" y="3392424"/>
            <a:ext cx="402336" cy="402336"/>
          </a:xfrm>
          <a:prstGeom prst="ellipse">
            <a:avLst/>
          </a:prstGeom>
          <a:solidFill>
            <a:srgbClr val="1F5B7A"/>
          </a:solidFill>
          <a:ln/>
        </p:spPr>
      </p:sp>
      <p:sp>
        <p:nvSpPr>
          <p:cNvPr id="12" name="seq-n-2"/>
          <p:cNvSpPr txBox="1"/>
          <p:nvPr/>
        </p:nvSpPr>
        <p:spPr>
          <a:xfrm>
            <a:off x="640080" y="33924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eq-h-2"/>
          <p:cNvSpPr txBox="1"/>
          <p:nvPr/>
        </p:nvSpPr>
        <p:spPr>
          <a:xfrm>
            <a:off x="1225296" y="3319272"/>
            <a:ext cx="4114800" cy="548640"/>
          </a:xfrm>
          <a:prstGeom prst="rect">
            <a:avLst/>
          </a:prstGeom>
          <a:noFill/>
          <a:ln/>
        </p:spPr>
        <p:txBody>
          <a:bodyPr wrap="square" lIns="0" tIns="0" rIns="0" bIns="0" rtlCol="0" anchor="ctr"/>
          <a:lstStyle/>
          <a:p>
            <a:pPr indent="0" marL="0">
              <a:buNone/>
            </a:pPr>
            <a:r>
              <a:rPr lang="en-US" sz="1700" b="1" dirty="0">
                <a:solidFill>
                  <a:srgbClr val="FFFFFF"/>
                </a:solidFill>
              </a:rPr>
              <a:t>Make your projects folder, once</a:t>
            </a:r>
            <a:endParaRPr lang="en-US" sz="1700" dirty="0"/>
          </a:p>
        </p:txBody>
      </p:sp>
      <p:sp>
        <p:nvSpPr>
          <p:cNvPr id="14" name="seq-c-2"/>
          <p:cNvSpPr txBox="1"/>
          <p:nvPr/>
        </p:nvSpPr>
        <p:spPr>
          <a:xfrm>
            <a:off x="5440680" y="3319272"/>
            <a:ext cx="6108192" cy="548640"/>
          </a:xfrm>
          <a:prstGeom prst="rect">
            <a:avLst/>
          </a:prstGeom>
          <a:noFill/>
          <a:ln/>
        </p:spPr>
        <p:txBody>
          <a:bodyPr wrap="square" lIns="0" tIns="0" rIns="0" bIns="0" rtlCol="0" anchor="ctr"/>
          <a:lstStyle/>
          <a:p>
            <a:pPr indent="0" marL="0">
              <a:buNone/>
            </a:pPr>
            <a:r>
              <a:rPr lang="en-US" sz="1400" dirty="0">
                <a:solidFill>
                  <a:srgbClr val="9FAEB7"/>
                </a:solidFill>
                <a:latin typeface="Courier New" pitchFamily="34" charset="0"/>
                <a:ea typeface="Courier New" pitchFamily="34" charset="-122"/>
                <a:cs typeface="Courier New" pitchFamily="34" charset="-120"/>
              </a:rPr>
              <a:t>cd Documents  then  mkdir GitHub</a:t>
            </a:r>
            <a:endParaRPr lang="en-US" sz="1400" dirty="0"/>
          </a:p>
        </p:txBody>
      </p:sp>
      <p:sp>
        <p:nvSpPr>
          <p:cNvPr id="15" name="seq-bg-3"/>
          <p:cNvSpPr/>
          <p:nvPr/>
        </p:nvSpPr>
        <p:spPr>
          <a:xfrm>
            <a:off x="640080" y="4160520"/>
            <a:ext cx="402336" cy="402336"/>
          </a:xfrm>
          <a:prstGeom prst="ellipse">
            <a:avLst/>
          </a:prstGeom>
          <a:solidFill>
            <a:srgbClr val="1F5B7A"/>
          </a:solidFill>
          <a:ln/>
        </p:spPr>
      </p:sp>
      <p:sp>
        <p:nvSpPr>
          <p:cNvPr id="16" name="seq-n-3"/>
          <p:cNvSpPr txBox="1"/>
          <p:nvPr/>
        </p:nvSpPr>
        <p:spPr>
          <a:xfrm>
            <a:off x="640080" y="41605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seq-h-3"/>
          <p:cNvSpPr txBox="1"/>
          <p:nvPr/>
        </p:nvSpPr>
        <p:spPr>
          <a:xfrm>
            <a:off x="1225296" y="4087368"/>
            <a:ext cx="4114800" cy="548640"/>
          </a:xfrm>
          <a:prstGeom prst="rect">
            <a:avLst/>
          </a:prstGeom>
          <a:noFill/>
          <a:ln/>
        </p:spPr>
        <p:txBody>
          <a:bodyPr wrap="square" lIns="0" tIns="0" rIns="0" bIns="0" rtlCol="0" anchor="ctr"/>
          <a:lstStyle/>
          <a:p>
            <a:pPr indent="0" marL="0">
              <a:buNone/>
            </a:pPr>
            <a:r>
              <a:rPr lang="en-US" sz="1700" b="1" dirty="0">
                <a:solidFill>
                  <a:srgbClr val="FFFFFF"/>
                </a:solidFill>
              </a:rPr>
              <a:t>Get a project into it</a:t>
            </a:r>
            <a:endParaRPr lang="en-US" sz="1700" dirty="0"/>
          </a:p>
        </p:txBody>
      </p:sp>
      <p:sp>
        <p:nvSpPr>
          <p:cNvPr id="18" name="seq-c-3"/>
          <p:cNvSpPr txBox="1"/>
          <p:nvPr/>
        </p:nvSpPr>
        <p:spPr>
          <a:xfrm>
            <a:off x="5440680" y="4087368"/>
            <a:ext cx="6108192" cy="548640"/>
          </a:xfrm>
          <a:prstGeom prst="rect">
            <a:avLst/>
          </a:prstGeom>
          <a:noFill/>
          <a:ln/>
        </p:spPr>
        <p:txBody>
          <a:bodyPr wrap="square" lIns="0" tIns="0" rIns="0" bIns="0" rtlCol="0" anchor="ctr"/>
          <a:lstStyle/>
          <a:p>
            <a:pPr indent="0" marL="0">
              <a:buNone/>
            </a:pPr>
            <a:r>
              <a:rPr lang="en-US" sz="1400" dirty="0">
                <a:solidFill>
                  <a:srgbClr val="9FAEB7"/>
                </a:solidFill>
                <a:latin typeface="Courier New" pitchFamily="34" charset="0"/>
                <a:ea typeface="Courier New" pitchFamily="34" charset="-122"/>
                <a:cs typeface="Courier New" pitchFamily="34" charset="-120"/>
              </a:rPr>
              <a:t>cd ~/Documents/GitHub  then  git clone &lt;url&gt;</a:t>
            </a:r>
            <a:endParaRPr lang="en-US" sz="1400" dirty="0"/>
          </a:p>
        </p:txBody>
      </p:sp>
      <p:sp>
        <p:nvSpPr>
          <p:cNvPr id="19" name="seq-bg-4"/>
          <p:cNvSpPr/>
          <p:nvPr/>
        </p:nvSpPr>
        <p:spPr>
          <a:xfrm>
            <a:off x="640080" y="4928616"/>
            <a:ext cx="402336" cy="402336"/>
          </a:xfrm>
          <a:prstGeom prst="ellipse">
            <a:avLst/>
          </a:prstGeom>
          <a:solidFill>
            <a:srgbClr val="2C6E49"/>
          </a:solidFill>
          <a:ln/>
        </p:spPr>
      </p:sp>
      <p:sp>
        <p:nvSpPr>
          <p:cNvPr id="20" name="seq-n-4"/>
          <p:cNvSpPr txBox="1"/>
          <p:nvPr/>
        </p:nvSpPr>
        <p:spPr>
          <a:xfrm>
            <a:off x="640080" y="4928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1" name="seq-h-4"/>
          <p:cNvSpPr txBox="1"/>
          <p:nvPr/>
        </p:nvSpPr>
        <p:spPr>
          <a:xfrm>
            <a:off x="1225296" y="4855464"/>
            <a:ext cx="4114800" cy="548640"/>
          </a:xfrm>
          <a:prstGeom prst="rect">
            <a:avLst/>
          </a:prstGeom>
          <a:noFill/>
          <a:ln/>
        </p:spPr>
        <p:txBody>
          <a:bodyPr wrap="square" lIns="0" tIns="0" rIns="0" bIns="0" rtlCol="0" anchor="ctr"/>
          <a:lstStyle/>
          <a:p>
            <a:pPr indent="0" marL="0">
              <a:buNone/>
            </a:pPr>
            <a:r>
              <a:rPr lang="en-US" sz="1700" b="1" dirty="0">
                <a:solidFill>
                  <a:srgbClr val="FFFFFF"/>
                </a:solidFill>
              </a:rPr>
              <a:t>Start Claude Code inside it</a:t>
            </a:r>
            <a:endParaRPr lang="en-US" sz="1700" dirty="0"/>
          </a:p>
        </p:txBody>
      </p:sp>
      <p:sp>
        <p:nvSpPr>
          <p:cNvPr id="22" name="seq-c-4"/>
          <p:cNvSpPr txBox="1"/>
          <p:nvPr/>
        </p:nvSpPr>
        <p:spPr>
          <a:xfrm>
            <a:off x="5440680" y="4855464"/>
            <a:ext cx="6108192" cy="548640"/>
          </a:xfrm>
          <a:prstGeom prst="rect">
            <a:avLst/>
          </a:prstGeom>
          <a:noFill/>
          <a:ln/>
        </p:spPr>
        <p:txBody>
          <a:bodyPr wrap="square" lIns="0" tIns="0" rIns="0" bIns="0" rtlCol="0" anchor="ctr"/>
          <a:lstStyle/>
          <a:p>
            <a:pPr indent="0" marL="0">
              <a:buNone/>
            </a:pPr>
            <a:r>
              <a:rPr lang="en-US" sz="1400" dirty="0">
                <a:solidFill>
                  <a:srgbClr val="9FAEB7"/>
                </a:solidFill>
                <a:latin typeface="Courier New" pitchFamily="34" charset="0"/>
                <a:ea typeface="Courier New" pitchFamily="34" charset="-122"/>
                <a:cs typeface="Courier New" pitchFamily="34" charset="-120"/>
              </a:rPr>
              <a:t>cd &lt;project&gt;  then  claude</a:t>
            </a:r>
            <a:endParaRPr lang="en-US" sz="1400" dirty="0"/>
          </a:p>
        </p:txBody>
      </p:sp>
      <p:sp>
        <p:nvSpPr>
          <p:cNvPr id="23" name="caption"/>
          <p:cNvSpPr txBox="1"/>
          <p:nvPr/>
        </p:nvSpPr>
        <p:spPr>
          <a:xfrm>
            <a:off x="640080" y="5577840"/>
            <a:ext cx="10911535" cy="457200"/>
          </a:xfrm>
          <a:prstGeom prst="rect">
            <a:avLst/>
          </a:prstGeom>
          <a:noFill/>
          <a:ln/>
        </p:spPr>
        <p:txBody>
          <a:bodyPr wrap="square" lIns="0" tIns="0" rIns="0" bIns="0" rtlCol="0" anchor="t"/>
          <a:lstStyle/>
          <a:p>
            <a:pPr algn="l" indent="0" marL="0">
              <a:lnSpc>
                <a:spcPct val="118000"/>
              </a:lnSpc>
              <a:buNone/>
            </a:pPr>
            <a:r>
              <a:rPr lang="en-US" sz="1600" dirty="0">
                <a:solidFill>
                  <a:srgbClr val="EDF1F2"/>
                </a:solidFill>
              </a:rPr>
              <a:t>Steps 2 and 3 you do once, ever. After that it is two lines to start work.</a:t>
            </a:r>
            <a:endParaRPr lang="en-US" sz="1600" dirty="0"/>
          </a:p>
        </p:txBody>
      </p:sp>
      <p:sp>
        <p:nvSpPr>
          <p:cNvPr id="25" name="Text 0"/>
          <p:cNvSpPr/>
          <p:nvPr>
            <p:ph idx="101" hasCustomPrompt="1"/>
          </p:nvPr>
        </p:nvSpPr>
        <p:spPr>
          <a:xfrm>
            <a:off x="11292840" y="6382512"/>
            <a:ext cx="54864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theme/theme1.xml><?xml version="1.0" encoding="utf-8"?>
<a:theme xmlns:a="http://schemas.openxmlformats.org/drawingml/2006/main" name="Terminal Basics">
  <a:themeElements>
    <a:clrScheme name="Terminal Basics">
      <a:dk1>
        <a:srgbClr val="12191C"/>
      </a:dk1>
      <a:lt1>
        <a:srgbClr val="FFFFFF"/>
      </a:lt1>
      <a:dk2>
        <a:srgbClr val="33444D"/>
      </a:dk2>
      <a:lt2>
        <a:srgbClr val="EDF1F2"/>
      </a:lt2>
      <a:accent1>
        <a:srgbClr val="9E5E0D"/>
      </a:accent1>
      <a:accent2>
        <a:srgbClr val="1F5B7A"/>
      </a:accent2>
      <a:accent3>
        <a:srgbClr val="2C6E49"/>
      </a:accent3>
      <a:accent4>
        <a:srgbClr val="5E6E78"/>
      </a:accent4>
      <a:accent5>
        <a:srgbClr val="1E292F"/>
      </a:accent5>
      <a:accent6>
        <a:srgbClr val="EDF1F2"/>
      </a:accent6>
      <a:hlink>
        <a:srgbClr val="1F5B7A"/>
      </a:hlink>
      <a:folHlink>
        <a:srgbClr val="5E6E78"/>
      </a:folHlink>
    </a:clrScheme>
    <a:fontScheme name="Terminal Basic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commands and a folder</dc:title>
  <dc:subject>Getting set up with the terminal, GitHub and Claude Code</dc:subject>
  <dc:creator>Stephen Stirling</dc:creator>
  <cp:lastModifiedBy>Stephen Stirling</cp:lastModifiedBy>
  <cp:revision>1</cp:revision>
  <dcterms:created xsi:type="dcterms:W3CDTF">2026-10-19T12:03:05Z</dcterms:created>
  <dcterms:modified xsi:type="dcterms:W3CDTF">2026-10-19T12:03:05Z</dcterms:modified>
</cp:coreProperties>
</file>